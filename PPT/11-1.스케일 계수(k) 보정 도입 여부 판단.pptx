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514600"/>
            <a:ext cx="109728" cy="822960"/>
          </a:xfrm>
          <a:prstGeom prst="rect">
            <a:avLst/>
          </a:prstGeom>
          <a:solidFill>
            <a:srgbClr val="EF64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331720"/>
            <a:ext cx="100584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72033"/>
                </a:solidFill>
                <a:latin typeface="맑은 고딕"/>
                <a:ea typeface="맑은 고딕"/>
              </a:rPr>
              <a:t>스케일 계수(k) 보정 도입 여부 판단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15468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72033"/>
                </a:solidFill>
                <a:latin typeface="맑은 고딕"/>
                <a:ea typeface="맑은 고딕"/>
              </a:rPr>
              <a:t>k 계산 방법 · 구간 점수 · 도입 기준 3가지 · 판정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1864" y="5769864"/>
            <a:ext cx="99669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F9692"/>
                </a:solidFill>
                <a:latin typeface="맑은 고딕"/>
                <a:ea typeface="맑은 고딕"/>
              </a:rPr>
              <a:t>박민수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0.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무엇을 어떻게 판단하나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스케일 계수(k) 보정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71600"/>
            <a:ext cx="10515600" cy="3334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600" b="1" dirty="0" err="1">
                <a:solidFill>
                  <a:srgbClr val="6F9692"/>
                </a:solidFill>
                <a:latin typeface="맑은 고딕"/>
                <a:ea typeface="맑은 고딕"/>
              </a:rPr>
              <a:t>목적</a:t>
            </a:r>
            <a:endParaRPr sz="16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5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구간을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점예측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중심으로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k배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조정해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커버리지를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90%에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맞추는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보정을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도입할지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5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판단</a:t>
            </a:r>
            <a:endParaRPr lang="en-US" sz="15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5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6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600" b="1" dirty="0" err="1">
                <a:solidFill>
                  <a:srgbClr val="6F9692"/>
                </a:solidFill>
                <a:latin typeface="맑은 고딕"/>
                <a:ea typeface="맑은 고딕"/>
              </a:rPr>
              <a:t>k를</a:t>
            </a:r>
            <a:r>
              <a:rPr sz="16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600" b="1" dirty="0" err="1">
                <a:solidFill>
                  <a:srgbClr val="6F9692"/>
                </a:solidFill>
                <a:latin typeface="맑은 고딕"/>
                <a:ea typeface="맑은 고딕"/>
              </a:rPr>
              <a:t>정하는</a:t>
            </a:r>
            <a:r>
              <a:rPr sz="16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600" b="1" dirty="0" err="1">
                <a:solidFill>
                  <a:srgbClr val="6F9692"/>
                </a:solidFill>
                <a:latin typeface="맑은 고딕"/>
                <a:ea typeface="맑은 고딕"/>
              </a:rPr>
              <a:t>방법</a:t>
            </a:r>
            <a:r>
              <a:rPr sz="1600" b="1" dirty="0">
                <a:solidFill>
                  <a:srgbClr val="6F9692"/>
                </a:solidFill>
                <a:latin typeface="맑은 고딕"/>
                <a:ea typeface="맑은 고딕"/>
              </a:rPr>
              <a:t> (walk-forward)</a:t>
            </a:r>
          </a:p>
          <a:p>
            <a:pPr>
              <a:spcAft>
                <a:spcPts val="500"/>
              </a:spcAft>
            </a:pPr>
            <a:r>
              <a:rPr sz="15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예측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시점에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정답이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확정된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과거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예측만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사용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-&gt;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실제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운영에서도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그대로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사용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5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가능</a:t>
            </a:r>
            <a:endParaRPr lang="en-US" sz="15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5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6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600" b="1" dirty="0" err="1">
                <a:solidFill>
                  <a:srgbClr val="6F9692"/>
                </a:solidFill>
                <a:latin typeface="맑은 고딕"/>
                <a:ea typeface="맑은 고딕"/>
              </a:rPr>
              <a:t>평가</a:t>
            </a:r>
            <a:endParaRPr sz="16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5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22개 origin(88개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예측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), 16개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조합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(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모델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4 x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스케일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2 x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구간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2),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변동성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적음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/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큼으로도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5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구분</a:t>
            </a:r>
            <a:endParaRPr lang="en-US" sz="15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5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6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600" b="1" dirty="0" err="1">
                <a:solidFill>
                  <a:srgbClr val="6F9692"/>
                </a:solidFill>
                <a:latin typeface="맑은 고딕"/>
                <a:ea typeface="맑은 고딕"/>
              </a:rPr>
              <a:t>판단</a:t>
            </a:r>
            <a:endParaRPr sz="16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5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도입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기준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3가지를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결과를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보기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전에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정하고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,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모두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충족할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때만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도입</a:t>
            </a:r>
            <a:endParaRPr sz="1500" b="0" dirty="0">
              <a:solidFill>
                <a:srgbClr val="172033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k 계산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어떤 과거 예측을 쓰고, 필요 배율은 무엇인가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스케일 계수(k) 보정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325880"/>
          <a:ext cx="10497312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26080"/>
                <a:gridCol w="2560320"/>
                <a:gridCol w="5010912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과거 예측을 낸 시점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쓸 수 있는 예측 단계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이유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origin 35 (~2019Q3)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h=1 (2019Q4)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h=2부터는 대상이 2020Q1 이후라 아직 모름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origin 34 (~2019Q2)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h=1,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h=3부터는 아직 모름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origin 33 (~2019Q1)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h=1~3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h=4는 대상이 2020Q1이라 아직 모름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origin 32 (~2018Q4) 이전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h=1~4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대상 4분기가 모두 2019Q4 이전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" y="3657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7386"/>
                </a:solidFill>
                <a:latin typeface="맑은 고딕"/>
                <a:ea typeface="맑은 고딕"/>
              </a:rPr>
              <a:t>예측 시점 2020Q1 (origin 36 (~2019Q4)) 기준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11480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0">
                <a:solidFill>
                  <a:srgbClr val="172033"/>
                </a:solidFill>
                <a:latin typeface="맑은 고딕"/>
                <a:ea typeface="맑은 고딕"/>
              </a:rPr>
              <a:t>필요 배율 = 그 과거 예측의 구간이 실제값을 포함하려면 구간을 몇 배 해야 했는가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0">
                <a:solidFill>
                  <a:srgbClr val="172033"/>
                </a:solidFill>
                <a:latin typeface="맑은 고딕"/>
                <a:ea typeface="맑은 고딕"/>
              </a:rPr>
              <a:t>예: 점예측 100, 구간 [90, 110], 실제값 112 -&gt; (112 - 100) / (110 - 100) = 1.2배 (실제값 104면 0.4)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852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정답이 확정된 과거 예측마다 필요 배율을 구한다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k 계산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k는 필요 배율의 90% 분위수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스케일 계수(k) 보정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325880"/>
          <a:ext cx="10497312" cy="1005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217920"/>
                <a:gridCol w="2377440"/>
                <a:gridCol w="190195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필요 배율 10개 (정렬)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개수 기준 90%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k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0.2, 0.4, 0.5, 0.7, 0.9, 1.0, 1.1, 1.5, 2.0, 3.0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9번째 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2.0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" y="2651760"/>
            <a:ext cx="10515600" cy="2590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적용</a:t>
            </a:r>
            <a:endParaRPr sz="15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지금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예측의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구간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[90, 110]에 k=2.0을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곱하면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[100 - 2.0 x 10, 100 + 2.0 x 10] = [80, 120]</a:t>
            </a: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이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k면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과거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예측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10개 중 9개(90%)가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구간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안에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들어온다</a:t>
            </a:r>
            <a:endParaRPr lang="en-US" sz="14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●  왜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값의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범위가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아니라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개수로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90%를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잡나</a:t>
            </a:r>
            <a:endParaRPr sz="15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커버리지가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'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들어온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개수의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비율'이기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때문이고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극단값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(3.0이 30.0)이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있어도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k는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변하지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않는다</a:t>
            </a:r>
            <a:endParaRPr lang="en-US" sz="14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계산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조건</a:t>
            </a:r>
            <a:endParaRPr sz="15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캘리브레이션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origin(20~34)의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구간도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사용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서로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다른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origin 6개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이상일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때만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보정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로그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스케일은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로그에서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계산</a:t>
            </a: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248" y="5852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k = 과거 예측의 90%가 들어왔을 배율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구간 점수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구간 점수 = 폭 + 20 x 벗어난 거리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스케일 계수(k) 보정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325880"/>
          <a:ext cx="10497311" cy="1508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2011680"/>
                <a:gridCol w="1280160"/>
                <a:gridCol w="3108960"/>
                <a:gridCol w="2084831"/>
              </a:tblGrid>
              <a:tr h="502920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구간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폭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실제값 1.5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실제값 0.3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좁은 구간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[-1, 1]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 + 20 x 0.5 = 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 (구간 안)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넓힌 구간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[-2, 2]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4 (구간 안)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" y="30175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0">
                <a:solidFill>
                  <a:srgbClr val="172033"/>
                </a:solidFill>
                <a:latin typeface="맑은 고딕"/>
                <a:ea typeface="맑은 고딕"/>
              </a:rPr>
              <a:t>20 = 2/α (α=0.10), var_std로 나눈다. 낮을수록 좋음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0">
                <a:solidFill>
                  <a:srgbClr val="172033"/>
                </a:solidFill>
                <a:latin typeface="맑은 고딕"/>
                <a:ea typeface="맑은 고딕"/>
              </a:rPr>
              <a:t>구간을 넓히면 폭은 늘지만 벗어난 거리의 벌점은 줄어든다 -&gt; 자주 크게 벗어나는 모델은 넓히면 점수가 좋아질 수 있음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0">
                <a:solidFill>
                  <a:srgbClr val="172033"/>
                </a:solidFill>
                <a:latin typeface="맑은 고딕"/>
                <a:ea typeface="맑은 고딕"/>
              </a:rPr>
              <a:t>구간이 정확히 90%일 때 가장 낮다: 커버리지가 90%에 못 미치면 넓힐수록 좋아지고, 90%를 넘으면 넓힐수록 나빠진다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852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구간 점수는 커버리지 보정이 실제로 도움이 되는지를 폭과 함께 평가한다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6199632"/>
            <a:ext cx="10515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97386"/>
                </a:solidFill>
                <a:latin typeface="맑은 고딕"/>
                <a:ea typeface="맑은 고딕"/>
              </a:rPr>
              <a:t>출처: Gneiting &amp; Raftery (2007), Winkler (1972)의 interval score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도입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결과를 보기 전에 정한 3가지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스케일 계수(k) 보정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325880"/>
          <a:ext cx="10497312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4400"/>
                <a:gridCol w="3657600"/>
                <a:gridCol w="5925312"/>
              </a:tblGrid>
              <a:tr h="6858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기준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질문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도입 조건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보정 후 커버리지가 90%에 맞는가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85~95% 조합이 과반(8/16 이상)이고, 90%와의 평균 거리가 줄어든다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구간 점수가 개선되는가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낮아진 조합이 과반이고, 변화 중앙값이 음수다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상황별로 견고한가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8개 상황(변동성 적음/큼, 원/로그, 자체/리샘플링, h=1/h=4) 모두 구간 점수 변화 중앙값이 +10% 이하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" y="42062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0">
                <a:solidFill>
                  <a:srgbClr val="172033"/>
                </a:solidFill>
                <a:latin typeface="맑은 고딕"/>
                <a:ea typeface="맑은 고딕"/>
              </a:rPr>
              <a:t>세 기준을 모두 충족할 때만 도입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0">
                <a:solidFill>
                  <a:srgbClr val="172033"/>
                </a:solidFill>
                <a:latin typeface="맑은 고딕"/>
                <a:ea typeface="맑은 고딕"/>
              </a:rPr>
              <a:t>85~95%는 88개 예측의 이항 노이즈(약 ±3.2%p)를 감안한 범위이고, 95% 초과는 과다 보정으로 본다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852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커버리지만 맞추는 것이 아니라 구간 점수와 상황별 견고함까지 본다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기준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보정 후 커버리지가 90%에 맞는가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스케일 계수(k) 보정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7</a:t>
            </a:r>
          </a:p>
        </p:txBody>
      </p:sp>
      <p:pic>
        <p:nvPicPr>
          <p:cNvPr id="8" name="Picture 7" descr="s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234440"/>
            <a:ext cx="6050357" cy="4526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23760" y="1371600"/>
            <a:ext cx="4572000" cy="2716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1" dirty="0" err="1">
                <a:solidFill>
                  <a:srgbClr val="6F9692"/>
                </a:solidFill>
                <a:latin typeface="맑은 고딕"/>
                <a:ea typeface="맑은 고딕"/>
              </a:rPr>
              <a:t>평균</a:t>
            </a:r>
            <a:r>
              <a:rPr sz="14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  <a:ea typeface="맑은 고딕"/>
              </a:rPr>
              <a:t>커버리지</a:t>
            </a:r>
            <a:endParaRPr sz="14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전체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74.0% -&gt; 89.1%</a:t>
            </a: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변동성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적음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56.7% -&gt; 79.4%</a:t>
            </a: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변동성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큼 91.3% -&gt; 98.9</a:t>
            </a:r>
            <a:r>
              <a:rPr sz="13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%</a:t>
            </a:r>
            <a:endParaRPr lang="en-US" sz="13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3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6F9692"/>
                </a:solidFill>
                <a:latin typeface="맑은 고딕"/>
                <a:ea typeface="맑은 고딕"/>
              </a:rPr>
              <a:t>●  85~95% </a:t>
            </a:r>
            <a:r>
              <a:rPr sz="1400" b="1" dirty="0" err="1">
                <a:solidFill>
                  <a:srgbClr val="6F9692"/>
                </a:solidFill>
                <a:latin typeface="맑은 고딕"/>
                <a:ea typeface="맑은 고딕"/>
              </a:rPr>
              <a:t>조합</a:t>
            </a:r>
            <a:endParaRPr sz="14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2개 -&gt; 9개, 90%와의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거리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16.0 -&gt; </a:t>
            </a:r>
            <a:r>
              <a:rPr sz="13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5.5%p</a:t>
            </a:r>
            <a:endParaRPr lang="en-US" sz="13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3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1" dirty="0" err="1">
                <a:solidFill>
                  <a:srgbClr val="6F9692"/>
                </a:solidFill>
                <a:latin typeface="맑은 고딕"/>
                <a:ea typeface="맑은 고딕"/>
              </a:rPr>
              <a:t>과다</a:t>
            </a:r>
            <a:r>
              <a:rPr sz="14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  <a:ea typeface="맑은 고딕"/>
              </a:rPr>
              <a:t>보정</a:t>
            </a:r>
            <a:endParaRPr sz="14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95%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초과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4개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조합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,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변동성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큼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구간은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14/16이 95%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초과</a:t>
            </a:r>
            <a:endParaRPr sz="1300" b="0" dirty="0">
              <a:solidFill>
                <a:srgbClr val="172033"/>
              </a:solidFill>
              <a:latin typeface="맑은 고딕"/>
              <a:ea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248" y="5897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평균은 90%에 가까워지지만 과다 보정이 있다 (기준 1 충족)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기준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구간 점수가 개선되는가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스케일 계수(k) 보정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8</a:t>
            </a:r>
          </a:p>
        </p:txBody>
      </p:sp>
      <p:pic>
        <p:nvPicPr>
          <p:cNvPr id="8" name="Picture 7" descr="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234440"/>
            <a:ext cx="6060612" cy="4526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23760" y="1371600"/>
            <a:ext cx="4572000" cy="3459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1" dirty="0" err="1">
                <a:solidFill>
                  <a:srgbClr val="6F9692"/>
                </a:solidFill>
                <a:latin typeface="맑은 고딕"/>
                <a:ea typeface="맑은 고딕"/>
              </a:rPr>
              <a:t>조합별</a:t>
            </a:r>
            <a:r>
              <a:rPr sz="14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  <a:ea typeface="맑은 고딕"/>
              </a:rPr>
              <a:t>변화</a:t>
            </a:r>
            <a:endParaRPr sz="14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낮아진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조합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5/16,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높아진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조합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11/16</a:t>
            </a: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변화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중앙값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+14.5</a:t>
            </a:r>
            <a:r>
              <a:rPr sz="13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%</a:t>
            </a:r>
            <a:endParaRPr lang="en-US" sz="13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3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1" dirty="0" err="1">
                <a:solidFill>
                  <a:srgbClr val="6F9692"/>
                </a:solidFill>
                <a:latin typeface="맑은 고딕"/>
                <a:ea typeface="맑은 고딕"/>
              </a:rPr>
              <a:t>좋아진</a:t>
            </a:r>
            <a:r>
              <a:rPr sz="1400" b="1" dirty="0">
                <a:solidFill>
                  <a:srgbClr val="6F9692"/>
                </a:solidFill>
                <a:latin typeface="맑은 고딕"/>
                <a:ea typeface="맑은 고딕"/>
              </a:rPr>
              <a:t> 5개</a:t>
            </a: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원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스케일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자체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구간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위주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(-3~-20</a:t>
            </a:r>
            <a:r>
              <a:rPr sz="13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%)</a:t>
            </a:r>
            <a:endParaRPr lang="en-US" sz="13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3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1" dirty="0" err="1">
                <a:solidFill>
                  <a:srgbClr val="6F9692"/>
                </a:solidFill>
                <a:latin typeface="맑은 고딕"/>
                <a:ea typeface="맑은 고딕"/>
              </a:rPr>
              <a:t>크게</a:t>
            </a:r>
            <a:r>
              <a:rPr sz="14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  <a:ea typeface="맑은 고딕"/>
              </a:rPr>
              <a:t>나빠진</a:t>
            </a:r>
            <a:r>
              <a:rPr sz="14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  <a:ea typeface="맑은 고딕"/>
              </a:rPr>
              <a:t>조합</a:t>
            </a:r>
            <a:endParaRPr sz="14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로그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리샘플링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+85~690</a:t>
            </a:r>
            <a:r>
              <a:rPr sz="13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%</a:t>
            </a:r>
            <a:r>
              <a:rPr lang="en-US" sz="13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br>
              <a:rPr lang="en-US" sz="1300" b="0" dirty="0" smtClean="0">
                <a:solidFill>
                  <a:srgbClr val="172033"/>
                </a:solidFill>
                <a:latin typeface="맑은 고딕"/>
                <a:ea typeface="맑은 고딕"/>
              </a:rPr>
            </a:br>
            <a:r>
              <a:rPr sz="13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(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GARCH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로그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리샘플링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구간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점수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20 -&gt; 158</a:t>
            </a:r>
            <a:r>
              <a:rPr sz="13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)</a:t>
            </a:r>
            <a:endParaRPr lang="en-US" sz="13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3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1" dirty="0" err="1">
                <a:solidFill>
                  <a:srgbClr val="6F9692"/>
                </a:solidFill>
                <a:latin typeface="맑은 고딕"/>
                <a:ea typeface="맑은 고딕"/>
              </a:rPr>
              <a:t>이유</a:t>
            </a:r>
            <a:endParaRPr sz="14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이미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90%에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가깝거나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넘은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구간을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넓히면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폭만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늘어난다</a:t>
            </a:r>
            <a:endParaRPr sz="1300" b="0" dirty="0">
              <a:solidFill>
                <a:srgbClr val="172033"/>
              </a:solidFill>
              <a:latin typeface="맑은 고딕"/>
              <a:ea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248" y="5897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구간 점수는 오히려 나빠지는 조합이 더 많다 (기준 2 미충족)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기준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상황별로 견고한가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스케일 계수(k) 보정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9</a:t>
            </a:r>
          </a:p>
        </p:txBody>
      </p:sp>
      <p:pic>
        <p:nvPicPr>
          <p:cNvPr id="8" name="Picture 7" descr="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280160"/>
            <a:ext cx="6126480" cy="2869364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223760" y="1325880"/>
          <a:ext cx="4572000" cy="34564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28800"/>
                <a:gridCol w="1280160"/>
                <a:gridCol w="1463040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상황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악화 조합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변화 중앙값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변동성 적음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4/16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-16.0%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변동성 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16/16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+85.6%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원 스케일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3/8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-4.2%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로그 스케일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8/8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+86.1%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자체 구간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5/8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+6.2%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리샘플링 구간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6/8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+74.9%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h=1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13/16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+20.9%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h=4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10/16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+14.0%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41248" y="4297680"/>
            <a:ext cx="6217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+10%를 넘은 상황 5개: 변동성 큼, 로그, 리샘플링, h=1, h=4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기준 안: 변동성 적음, 원 스케일, 자체 구간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897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8개 상황 중 5개에서 기준(+10%)을 넘는다 (기준 3 미충족)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판정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세 기준 중 기준 1만 충족: 도입하지 않는다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스케일 계수(k) 보정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325880"/>
          <a:ext cx="10497312" cy="2194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08960"/>
                <a:gridCol w="5742432"/>
                <a:gridCol w="1645920"/>
              </a:tblGrid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기준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결과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판정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 90%에 맞는가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85~95% 조합 2 -&gt; 9개, 90% 거리 16.0 -&gt; 5.5%p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2. 구간 점수 개선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낮아진 조합 5/16, 중앙값 +14.5%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미충족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3. 상황별 견고함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+10% 초과 상황 5/8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미충족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" y="3611880"/>
            <a:ext cx="1051560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1" dirty="0" err="1">
                <a:solidFill>
                  <a:srgbClr val="6F9692"/>
                </a:solidFill>
                <a:latin typeface="맑은 고딕"/>
                <a:ea typeface="맑은 고딕"/>
              </a:rPr>
              <a:t>보조</a:t>
            </a:r>
            <a:r>
              <a:rPr sz="14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  <a:ea typeface="맑은 고딕"/>
              </a:rPr>
              <a:t>결과</a:t>
            </a:r>
            <a:endParaRPr sz="14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폭이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중앙값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2.2배(1.3~8.1배)로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늘고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,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로그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리샘플링은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5.9~8.1배</a:t>
            </a: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필터의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3단계를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보정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후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구간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점수로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바꾸면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선택이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AR단독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원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자체로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바뀌고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27가지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허용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범위에서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4개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모델로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갈림</a:t>
            </a:r>
            <a:endParaRPr sz="13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정답을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본 k(in-sample)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보다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과거만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쓴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k의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구간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점수가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14/16에서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나쁨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(+9.3</a:t>
            </a:r>
            <a:r>
              <a:rPr sz="13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%)</a:t>
            </a:r>
            <a:endParaRPr lang="en-US" sz="13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3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1" dirty="0" err="1">
                <a:solidFill>
                  <a:srgbClr val="6F9692"/>
                </a:solidFill>
                <a:latin typeface="맑은 고딕"/>
                <a:ea typeface="맑은 고딕"/>
              </a:rPr>
              <a:t>한계</a:t>
            </a:r>
            <a:endParaRPr sz="14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22개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origin이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겹치고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한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변수의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결과이며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,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변동성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큼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구간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(origin 48 (~2022Q4) ~ 56 (~2024Q4))은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급등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한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번의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사례</a:t>
            </a:r>
            <a:endParaRPr sz="1300" b="0" dirty="0">
              <a:solidFill>
                <a:srgbClr val="172033"/>
              </a:solidFill>
              <a:latin typeface="맑은 고딕"/>
              <a:ea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248" y="5897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보정은 커버리지를 맞추지만 구간 점수와 견고함이 부족해 도입하지 않는다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부록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k의 변화: 리샘플링은 초반에 크게 부풀어 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스케일 계수(k) 보정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11</a:t>
            </a:r>
          </a:p>
        </p:txBody>
      </p:sp>
      <p:pic>
        <p:nvPicPr>
          <p:cNvPr id="8" name="Picture 7" descr="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280160"/>
            <a:ext cx="10424160" cy="30747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" y="44805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리샘플링의 k는 origin 35 (~2019Q3)에서 4~5.5로 시작해 origin 46 (~2022Q2) 이후 1.5~2로 내려옴, 자체는 1.4~2.3으로 거의 일정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초반 리샘플링 구간은 오차 표본이 작아 부족했고, k가 그만큼 키운 것으로 보이나 원인은 확인하지 않음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897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초반 origin의 k는 표본이 작아 불안정하다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1216</Words>
  <Application>Microsoft Office PowerPoint</Application>
  <PresentationFormat>와이드스크린</PresentationFormat>
  <Paragraphs>199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Administrator</cp:lastModifiedBy>
  <cp:revision>6</cp:revision>
  <dcterms:created xsi:type="dcterms:W3CDTF">2013-01-27T09:14:16Z</dcterms:created>
  <dcterms:modified xsi:type="dcterms:W3CDTF">2026-10-13T06:20:46Z</dcterms:modified>
  <cp:category/>
</cp:coreProperties>
</file>