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73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514600"/>
            <a:ext cx="109728" cy="822960"/>
          </a:xfrm>
          <a:prstGeom prst="rect">
            <a:avLst/>
          </a:prstGeom>
          <a:solidFill>
            <a:srgbClr val="EF6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331720"/>
            <a:ext cx="9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맑은 고딕"/>
              </a:rPr>
              <a:t>계절차분 검증과 예측구간 개선 시도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54680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 err="1" smtClean="0">
                <a:solidFill>
                  <a:srgbClr val="172033"/>
                </a:solidFill>
                <a:latin typeface="맑은 고딕"/>
              </a:rPr>
              <a:t>계절차분</a:t>
            </a:r>
            <a:r>
              <a:rPr sz="1500" b="0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검증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→ </a:t>
            </a:r>
            <a:r>
              <a:rPr sz="1500" b="0" dirty="0" err="1" smtClean="0">
                <a:solidFill>
                  <a:srgbClr val="172033"/>
                </a:solidFill>
                <a:latin typeface="맑은 고딕"/>
              </a:rPr>
              <a:t>추가</a:t>
            </a:r>
            <a:r>
              <a:rPr sz="1500" b="0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실험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→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최종</a:t>
            </a:r>
            <a:r>
              <a:rPr sz="1500" b="0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</a:rPr>
              <a:t>결론</a:t>
            </a:r>
            <a:endParaRPr sz="1500" b="0" dirty="0">
              <a:solidFill>
                <a:srgbClr val="172033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40127" y="5767185"/>
            <a:ext cx="7928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 err="1">
                <a:solidFill>
                  <a:srgbClr val="6F9692"/>
                </a:solidFill>
                <a:latin typeface="맑은 고딕"/>
              </a:rPr>
              <a:t>박민수</a:t>
            </a:r>
            <a:endParaRPr sz="1600" b="1" dirty="0">
              <a:solidFill>
                <a:srgbClr val="6F9692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 smtClean="0">
                <a:solidFill>
                  <a:srgbClr val="697386"/>
                </a:solidFill>
                <a:latin typeface="맑은 고딕"/>
              </a:rPr>
              <a:t>계절 차분</a:t>
            </a:r>
            <a:endParaRPr sz="1200" b="1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계절 Auto-ARIMA, 6개 모델 중 몇 등?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계절차분 검증 &amp; 추가 실험 (3-3·4-3·4-3(참고))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50000"/>
            <a:ext cx="10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seasonal=False로 고정해온 게 맞는지 6개 변수 전부로 검증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계절 Auto-ARIMA CRPS 0.6546 -- naive(0.6590)보다 살짝 나은 정도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</a:rPr>
              <a:t>-  결합순위: 비계절 Auto-ARIMA 1.0(단독 1위) vs 계절 Auto-ARIMA 5.0(꼴찌권)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0297" y="2755000"/>
            <a:ext cx="6031099" cy="34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pt5_33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297" y="2800000"/>
            <a:ext cx="5941099" cy="34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200" b="1" dirty="0" smtClean="0">
                <a:solidFill>
                  <a:srgbClr val="697386"/>
                </a:solidFill>
                <a:latin typeface="맑은 고딕"/>
              </a:rPr>
              <a:t>계절 차분 비교</a:t>
            </a:r>
            <a:endParaRPr sz="1200" b="1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14개 모델 중에서도 계절 Auto-ARIMA는 하위권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계절차분 검증 &amp; 추가 실험 (3-3·4-3·4-3(참고))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50000"/>
            <a:ext cx="10500000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계절 차분 추가</a:t>
            </a:r>
            <a:endParaRPr lang="en-US" altLang="ko-KR"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결합순위 11.5위(14개 중) -- GARCH/SV보다도 나쁨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</a:rPr>
              <a:t>-  1위는 Auto-ARIMA(AIC, 비계절) -- 계절성을 넣지 않은 기본 모델이 가장 안정적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0241" y="2855000"/>
            <a:ext cx="7371211" cy="339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241" y="2900000"/>
            <a:ext cx="7281211" cy="33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 smtClean="0">
                <a:solidFill>
                  <a:srgbClr val="697386"/>
                </a:solidFill>
                <a:latin typeface="맑은 고딕"/>
              </a:rPr>
              <a:t>원인분석</a:t>
            </a:r>
            <a:endParaRPr sz="1200" b="1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특정 변수만의 문제인가? -- 6개 중 5개가 다 나쁨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계절차분 검증 &amp; 추가 실험 (3-3·4-3·4-3(참고))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141131"/>
            <a:ext cx="10424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rgbClr val="6F9692"/>
                </a:solidFill>
                <a:latin typeface="맑은 고딕"/>
              </a:rPr>
              <a:t>● </a:t>
            </a:r>
            <a:r>
              <a:rPr sz="1400" b="1" dirty="0" smtClean="0">
                <a:solidFill>
                  <a:srgbClr val="6F9692"/>
                </a:solidFill>
                <a:latin typeface="맑은 고딕"/>
              </a:rPr>
              <a:t>X3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하나의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문제가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아니라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6개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변수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전반의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문제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--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계절주기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(m=4)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선택이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아니라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표본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부족이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원인</a:t>
            </a:r>
            <a:endParaRPr sz="1400" b="1" dirty="0">
              <a:solidFill>
                <a:srgbClr val="6F9692"/>
              </a:solidFill>
              <a:latin typeface="맑은 고딕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99180" y="1705000"/>
            <a:ext cx="5993333" cy="331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pervar_chart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834" y="1750000"/>
            <a:ext cx="5900024" cy="322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 smtClean="0">
                <a:solidFill>
                  <a:srgbClr val="697386"/>
                </a:solidFill>
              </a:rPr>
              <a:t>①</a:t>
            </a:r>
            <a:r>
              <a:rPr lang="ko-KR" altLang="en-US" sz="1200" dirty="0" smtClean="0"/>
              <a:t> </a:t>
            </a:r>
            <a:r>
              <a:rPr lang="ko-KR" altLang="en-US" sz="1200" b="1" dirty="0" smtClean="0">
                <a:solidFill>
                  <a:srgbClr val="697386"/>
                </a:solidFill>
                <a:latin typeface="맑은 고딕"/>
              </a:rPr>
              <a:t>추가</a:t>
            </a:r>
            <a:r>
              <a:rPr lang="en-US" altLang="ko-KR" sz="1200" b="1" dirty="0" smtClean="0">
                <a:solidFill>
                  <a:srgbClr val="697386"/>
                </a:solidFill>
                <a:latin typeface="맑은 고딕"/>
              </a:rPr>
              <a:t> </a:t>
            </a:r>
            <a:r>
              <a:rPr lang="ko-KR" altLang="en-US" sz="1200" b="1" dirty="0" smtClean="0">
                <a:solidFill>
                  <a:srgbClr val="697386"/>
                </a:solidFill>
                <a:latin typeface="맑은 고딕"/>
              </a:rPr>
              <a:t>실험 </a:t>
            </a:r>
            <a:r>
              <a:rPr lang="en-US" altLang="ko-KR" sz="1200" b="1" dirty="0" smtClean="0">
                <a:solidFill>
                  <a:srgbClr val="697386"/>
                </a:solidFill>
                <a:latin typeface="맑은 고딕"/>
              </a:rPr>
              <a:t>– GARCH / SV</a:t>
            </a:r>
            <a:endParaRPr sz="1200" b="1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GARCH/SV 없이 '1차차분'만으로 Auto-ARIMA급 성능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계절차분 검증 &amp; 추가 실험 (3-3·4-3·4-3(참고))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95847" y="1850000"/>
          <a:ext cx="9000000" cy="18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0"/>
                <a:gridCol w="2400000"/>
                <a:gridCol w="2400000"/>
              </a:tblGrid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설정</a:t>
                      </a:r>
                      <a:endParaRPr sz="12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60000" marR="60000" marT="20000" marB="20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CRPS</a:t>
                      </a:r>
                    </a:p>
                  </a:txBody>
                  <a:tcPr marL="60000" marR="60000" marT="20000" marB="20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LL</a:t>
                      </a:r>
                    </a:p>
                  </a:txBody>
                  <a:tcPr marL="60000" marR="60000" marT="20000" marB="20000">
                    <a:solidFill>
                      <a:srgbClr val="172033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D62728"/>
                          </a:solidFill>
                          <a:latin typeface="맑은 고딕"/>
                        </a:rPr>
                        <a:t>1차차분만 + </a:t>
                      </a:r>
                      <a:r>
                        <a:rPr sz="1200" b="1" dirty="0" err="1">
                          <a:solidFill>
                            <a:srgbClr val="D62728"/>
                          </a:solidFill>
                          <a:latin typeface="맑은 고딕"/>
                        </a:rPr>
                        <a:t>정적</a:t>
                      </a:r>
                      <a:r>
                        <a:rPr sz="1200" b="1" dirty="0">
                          <a:solidFill>
                            <a:srgbClr val="D62728"/>
                          </a:solidFill>
                          <a:latin typeface="맑은 고딕"/>
                        </a:rPr>
                        <a:t>(</a:t>
                      </a:r>
                      <a:r>
                        <a:rPr sz="1200" b="1" dirty="0" err="1">
                          <a:solidFill>
                            <a:srgbClr val="D62728"/>
                          </a:solidFill>
                          <a:latin typeface="맑은 고딕"/>
                        </a:rPr>
                        <a:t>std</a:t>
                      </a:r>
                      <a:r>
                        <a:rPr sz="1200" b="1" dirty="0">
                          <a:solidFill>
                            <a:srgbClr val="D62728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60000" marR="60000" marT="20000" marB="20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0.5840</a:t>
                      </a:r>
                    </a:p>
                  </a:txBody>
                  <a:tcPr marL="60000" marR="60000" marT="20000" marB="20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-7.330</a:t>
                      </a:r>
                    </a:p>
                  </a:txBody>
                  <a:tcPr marL="60000" marR="60000" marT="20000" marB="20000">
                    <a:solidFill>
                      <a:srgbClr val="FFECEB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1차차분만 + GARCH(1,1)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0.5993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-7.286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1차차분만 + SV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0.6295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-9.721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3845565"/>
            <a:ext cx="104241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rgbClr val="6F9692"/>
                </a:solidFill>
                <a:latin typeface="맑은 고딕"/>
              </a:rPr>
              <a:t>● </a:t>
            </a:r>
            <a:r>
              <a:rPr sz="1400" b="1" dirty="0" err="1" smtClean="0">
                <a:solidFill>
                  <a:srgbClr val="6F9692"/>
                </a:solidFill>
                <a:latin typeface="맑은 고딕"/>
              </a:rPr>
              <a:t>참고</a:t>
            </a:r>
            <a:r>
              <a:rPr lang="en-US" sz="1400" b="1" dirty="0" smtClean="0">
                <a:solidFill>
                  <a:srgbClr val="6F9692"/>
                </a:solidFill>
                <a:latin typeface="맑은 고딕"/>
              </a:rPr>
              <a:t/>
            </a:r>
            <a:br>
              <a:rPr lang="en-US" sz="1400" b="1" dirty="0" smtClean="0">
                <a:solidFill>
                  <a:srgbClr val="6F9692"/>
                </a:solidFill>
                <a:latin typeface="맑은 고딕"/>
              </a:rPr>
            </a:br>
            <a:r>
              <a:rPr lang="en-US" sz="1400" b="1" dirty="0" smtClean="0">
                <a:solidFill>
                  <a:srgbClr val="6F9692"/>
                </a:solidFill>
                <a:latin typeface="맑은 고딕"/>
              </a:rPr>
              <a:t>	</a:t>
            </a:r>
            <a:r>
              <a:rPr sz="1400" b="1" dirty="0" smtClean="0">
                <a:solidFill>
                  <a:srgbClr val="6F9692"/>
                </a:solidFill>
                <a:latin typeface="맑은 고딕"/>
              </a:rPr>
              <a:t>: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무변환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Auto-ARIMA(AIC)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단독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smtClean="0">
                <a:solidFill>
                  <a:srgbClr val="6F9692"/>
                </a:solidFill>
                <a:latin typeface="맑은 고딕"/>
              </a:rPr>
              <a:t>CRPS=0.5801</a:t>
            </a:r>
            <a:r>
              <a:rPr lang="en-US"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smtClean="0">
                <a:solidFill>
                  <a:srgbClr val="6F9692"/>
                </a:solidFill>
                <a:latin typeface="맑은 고딕"/>
              </a:rPr>
              <a:t>--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거의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동급</a:t>
            </a:r>
            <a:r>
              <a:rPr sz="1400" b="1" dirty="0" smtClean="0">
                <a:solidFill>
                  <a:srgbClr val="6F9692"/>
                </a:solidFill>
                <a:latin typeface="맑은 고딕"/>
              </a:rPr>
              <a:t>.</a:t>
            </a:r>
            <a:r>
              <a:rPr lang="en-US" sz="1400" b="1" dirty="0" smtClean="0">
                <a:solidFill>
                  <a:srgbClr val="6F9692"/>
                </a:solidFill>
                <a:latin typeface="맑은 고딕"/>
              </a:rPr>
              <a:t/>
            </a:r>
            <a:br>
              <a:rPr lang="en-US" sz="1400" b="1" dirty="0" smtClean="0">
                <a:solidFill>
                  <a:srgbClr val="6F9692"/>
                </a:solidFill>
                <a:latin typeface="맑은 고딕"/>
              </a:rPr>
            </a:br>
            <a:r>
              <a:rPr lang="en-US" sz="1400" b="1" dirty="0" smtClean="0">
                <a:solidFill>
                  <a:srgbClr val="6F9692"/>
                </a:solidFill>
                <a:latin typeface="맑은 고딕"/>
              </a:rPr>
              <a:t>	</a:t>
            </a:r>
            <a:r>
              <a:rPr sz="1400" b="1" dirty="0" smtClean="0">
                <a:solidFill>
                  <a:srgbClr val="6F9692"/>
                </a:solidFill>
                <a:latin typeface="맑은 고딕"/>
              </a:rPr>
              <a:t>Auto-</a:t>
            </a:r>
            <a:r>
              <a:rPr sz="1400" b="1" dirty="0" err="1" smtClean="0">
                <a:solidFill>
                  <a:srgbClr val="6F9692"/>
                </a:solidFill>
                <a:latin typeface="맑은 고딕"/>
              </a:rPr>
              <a:t>ARIMA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가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잘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맞히는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 smtClean="0">
                <a:solidFill>
                  <a:srgbClr val="6F9692"/>
                </a:solidFill>
                <a:latin typeface="맑은 고딕"/>
              </a:rPr>
              <a:t>이유</a:t>
            </a:r>
            <a:r>
              <a:rPr lang="en-US" sz="1400" b="1" dirty="0" smtClean="0">
                <a:solidFill>
                  <a:srgbClr val="6F9692"/>
                </a:solidFill>
                <a:latin typeface="맑은 고딕"/>
              </a:rPr>
              <a:t> : </a:t>
            </a:r>
            <a:r>
              <a:rPr sz="1400" b="1" dirty="0" smtClean="0">
                <a:solidFill>
                  <a:srgbClr val="6F9692"/>
                </a:solidFill>
                <a:latin typeface="맑은 고딕"/>
              </a:rPr>
              <a:t>'1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차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차분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(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추세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제거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)'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자체</a:t>
            </a:r>
            <a:endParaRPr sz="1400" b="1" dirty="0">
              <a:solidFill>
                <a:srgbClr val="6F9692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 smtClean="0">
                <a:solidFill>
                  <a:srgbClr val="697386"/>
                </a:solidFill>
              </a:rPr>
              <a:t>②</a:t>
            </a:r>
            <a:r>
              <a:rPr lang="ko-KR" altLang="en-US" sz="1200" dirty="0" smtClean="0"/>
              <a:t> </a:t>
            </a:r>
            <a:r>
              <a:rPr sz="1200" b="1" dirty="0" err="1" smtClean="0">
                <a:solidFill>
                  <a:srgbClr val="697386"/>
                </a:solidFill>
                <a:latin typeface="맑은 고딕"/>
              </a:rPr>
              <a:t>추가실험</a:t>
            </a:r>
            <a:r>
              <a:rPr sz="1200" b="1" dirty="0" smtClean="0">
                <a:solidFill>
                  <a:srgbClr val="697386"/>
                </a:solidFill>
                <a:latin typeface="맑은 고딕"/>
              </a:rPr>
              <a:t> </a:t>
            </a:r>
            <a:r>
              <a:rPr lang="en-US" sz="1200" b="1" dirty="0" smtClean="0">
                <a:solidFill>
                  <a:srgbClr val="697386"/>
                </a:solidFill>
                <a:latin typeface="맑은 고딕"/>
              </a:rPr>
              <a:t>- EGARCH</a:t>
            </a:r>
            <a:endParaRPr sz="1200" b="1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EGARCH -- 레이어드도 단독도 수치적으로 발산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계절차분 검증 &amp; 추가 실험 (3-3·4-3·4-3(참고))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95847" y="1750000"/>
          <a:ext cx="9600000" cy="2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0000"/>
                <a:gridCol w="2600000"/>
                <a:gridCol w="2600000"/>
              </a:tblGrid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레이어드(위: Auto-ARIMA)</a:t>
                      </a:r>
                    </a:p>
                  </a:txBody>
                  <a:tcPr marL="60000" marR="60000" marT="20000" marB="20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CRPS</a:t>
                      </a:r>
                    </a:p>
                  </a:txBody>
                  <a:tcPr marL="60000" marR="60000" marT="20000" marB="20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LL</a:t>
                      </a:r>
                    </a:p>
                  </a:txBody>
                  <a:tcPr marL="60000" marR="60000" marT="20000" marB="20000">
                    <a:solidFill>
                      <a:srgbClr val="172033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ARIMA+GARCH(1,1)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0.5721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-7.300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정적(변동성모델 없음)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0.5756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-7.416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ARIMA+GJR-GARCH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0.5810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-7.343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ARIMA+EGARCH</a:t>
                      </a:r>
                    </a:p>
                  </a:txBody>
                  <a:tcPr marL="60000" marR="60000" marT="20000" marB="20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0.6928</a:t>
                      </a:r>
                    </a:p>
                  </a:txBody>
                  <a:tcPr marL="60000" marR="60000" marT="20000" marB="20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-55.578</a:t>
                      </a:r>
                    </a:p>
                  </a:txBody>
                  <a:tcPr marL="60000" marR="60000" marT="20000" marB="20000">
                    <a:solidFill>
                      <a:srgbClr val="FFEC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95847" y="3500000"/>
          <a:ext cx="9600000" cy="18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0000"/>
                <a:gridCol w="2600000"/>
                <a:gridCol w="2600000"/>
              </a:tblGrid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단독(자체 평균방정식)</a:t>
                      </a:r>
                    </a:p>
                  </a:txBody>
                  <a:tcPr marL="60000" marR="60000" marT="20000" marB="20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CRPS</a:t>
                      </a:r>
                    </a:p>
                  </a:txBody>
                  <a:tcPr marL="60000" marR="60000" marT="20000" marB="20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LL</a:t>
                      </a:r>
                    </a:p>
                  </a:txBody>
                  <a:tcPr marL="60000" marR="60000" marT="20000" marB="20000">
                    <a:solidFill>
                      <a:srgbClr val="172033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1차차분만 + GARCH(1,1)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0.5993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-7.286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1차차분만 + GJR-GARCH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0.6061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--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1차차분만 + EGARCH</a:t>
                      </a:r>
                    </a:p>
                  </a:txBody>
                  <a:tcPr marL="60000" marR="60000" marT="20000" marB="20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9.0×10⁶⁴</a:t>
                      </a:r>
                    </a:p>
                  </a:txBody>
                  <a:tcPr marL="60000" marR="60000" marT="20000" marB="20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-61.746</a:t>
                      </a:r>
                    </a:p>
                  </a:txBody>
                  <a:tcPr marL="60000" marR="60000" marT="20000" marB="20000">
                    <a:solidFill>
                      <a:srgbClr val="FFECE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5425485"/>
            <a:ext cx="10424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rgbClr val="6F9692"/>
                </a:solidFill>
                <a:latin typeface="맑은 고딕"/>
              </a:rPr>
              <a:t>● </a:t>
            </a:r>
            <a:r>
              <a:rPr sz="1400" b="1" dirty="0" err="1" smtClean="0">
                <a:solidFill>
                  <a:srgbClr val="6F9692"/>
                </a:solidFill>
                <a:latin typeface="맑은 고딕"/>
              </a:rPr>
              <a:t>EGARCH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는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60분기짜리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짧은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시계열에서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비선형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로그분산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추정이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발산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--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레이어드·단독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둘 다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실사용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불가</a:t>
            </a:r>
            <a:endParaRPr sz="1400" b="1" dirty="0">
              <a:solidFill>
                <a:srgbClr val="6F9692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697386"/>
                </a:solidFill>
              </a:rPr>
              <a:t>③</a:t>
            </a:r>
            <a:r>
              <a:rPr sz="1200" b="1" dirty="0" smtClean="0">
                <a:solidFill>
                  <a:srgbClr val="697386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697386"/>
                </a:solidFill>
                <a:latin typeface="맑은 고딕"/>
              </a:rPr>
              <a:t>추가실험</a:t>
            </a:r>
            <a:r>
              <a:rPr sz="1200" b="1" dirty="0">
                <a:solidFill>
                  <a:srgbClr val="697386"/>
                </a:solidFill>
                <a:latin typeface="맑은 고딕"/>
              </a:rPr>
              <a:t> </a:t>
            </a:r>
            <a:r>
              <a:rPr lang="en-US" sz="1200" b="1" dirty="0" smtClean="0">
                <a:solidFill>
                  <a:srgbClr val="697386"/>
                </a:solidFill>
                <a:latin typeface="맑은 고딕"/>
              </a:rPr>
              <a:t>– 1</a:t>
            </a:r>
            <a:r>
              <a:rPr lang="ko-KR" altLang="en-US" sz="1200" b="1" dirty="0" err="1" smtClean="0">
                <a:solidFill>
                  <a:srgbClr val="697386"/>
                </a:solidFill>
                <a:latin typeface="맑은 고딕"/>
              </a:rPr>
              <a:t>차차분</a:t>
            </a:r>
            <a:r>
              <a:rPr lang="en-US" altLang="ko-KR" sz="1200" b="1" dirty="0" smtClean="0">
                <a:solidFill>
                  <a:srgbClr val="697386"/>
                </a:solidFill>
                <a:latin typeface="맑은 고딕"/>
              </a:rPr>
              <a:t>, </a:t>
            </a:r>
            <a:r>
              <a:rPr lang="ko-KR" altLang="en-US" sz="1200" b="1" dirty="0" smtClean="0">
                <a:solidFill>
                  <a:srgbClr val="697386"/>
                </a:solidFill>
                <a:latin typeface="맑은 고딕"/>
              </a:rPr>
              <a:t>계절차분 비교</a:t>
            </a:r>
            <a:endParaRPr sz="1200" b="1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차분×변동성모델 12조합 전수비교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계절차분 검증 &amp; 추가 실험 (3-3·4-3·4-3(참고))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565288"/>
              </p:ext>
            </p:extLst>
          </p:nvPr>
        </p:nvGraphicFramePr>
        <p:xfrm>
          <a:off x="1095847" y="1169709"/>
          <a:ext cx="7400000" cy="49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900000"/>
                <a:gridCol w="1900000"/>
              </a:tblGrid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1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설정</a:t>
                      </a:r>
                      <a:endParaRPr sz="11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60000" marR="60000" marT="20000" marB="20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CRPS</a:t>
                      </a:r>
                    </a:p>
                  </a:txBody>
                  <a:tcPr marL="60000" marR="60000" marT="20000" marB="20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LL</a:t>
                      </a:r>
                    </a:p>
                  </a:txBody>
                  <a:tcPr marL="60000" marR="60000" marT="20000" marB="20000">
                    <a:solidFill>
                      <a:srgbClr val="172033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D62728"/>
                          </a:solidFill>
                          <a:latin typeface="맑은 고딕"/>
                        </a:rPr>
                        <a:t>1차차분만 + </a:t>
                      </a:r>
                      <a:r>
                        <a:rPr sz="1100" b="1" dirty="0" err="1">
                          <a:solidFill>
                            <a:srgbClr val="D62728"/>
                          </a:solidFill>
                          <a:latin typeface="맑은 고딕"/>
                        </a:rPr>
                        <a:t>정적</a:t>
                      </a:r>
                      <a:r>
                        <a:rPr sz="1100" b="1" dirty="0">
                          <a:solidFill>
                            <a:srgbClr val="D62728"/>
                          </a:solidFill>
                          <a:latin typeface="맑은 고딕"/>
                        </a:rPr>
                        <a:t>(</a:t>
                      </a:r>
                      <a:r>
                        <a:rPr sz="1100" b="1" dirty="0" err="1">
                          <a:solidFill>
                            <a:srgbClr val="D62728"/>
                          </a:solidFill>
                          <a:latin typeface="맑은 고딕"/>
                        </a:rPr>
                        <a:t>std</a:t>
                      </a:r>
                      <a:r>
                        <a:rPr sz="1100" b="1" dirty="0">
                          <a:solidFill>
                            <a:srgbClr val="D62728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60000" marR="60000" marT="20000" marB="20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62728"/>
                          </a:solidFill>
                          <a:latin typeface="맑은 고딕"/>
                        </a:rPr>
                        <a:t>0.5840</a:t>
                      </a:r>
                    </a:p>
                  </a:txBody>
                  <a:tcPr marL="60000" marR="60000" marT="20000" marB="20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62728"/>
                          </a:solidFill>
                          <a:latin typeface="맑은 고딕"/>
                        </a:rPr>
                        <a:t>-7.330</a:t>
                      </a:r>
                    </a:p>
                  </a:txBody>
                  <a:tcPr marL="60000" marR="60000" marT="20000" marB="20000">
                    <a:solidFill>
                      <a:srgbClr val="FFECEB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1차차분만 + GARCH(1,1)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0.5993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-7.286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1차차분만 + SV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0.6295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-9.721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계절차분만 + 정적(std)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0.7430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-8.400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계절차분만 + GARCH(1,1)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0.7451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-8.442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무차분 + GARCH(1,1)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0.8250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-7.878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계절차분만 + SV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0.8378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-11.785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무차분 + SV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0.8413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-9.019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무차분 + 정적(std)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0.8486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-8.036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1차+계절차분 + 정적(std)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0.9790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-8.770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1차+계절차분 + GARCH(1,1)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1.0874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-9.009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1차+계절차분 + SV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B4A"/>
                          </a:solidFill>
                          <a:latin typeface="맑은 고딕"/>
                        </a:rPr>
                        <a:t>1.1687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-15.482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6120696"/>
            <a:ext cx="10424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6F9692"/>
                </a:solidFill>
                <a:latin typeface="맑은 고딕"/>
              </a:rPr>
              <a:t>● </a:t>
            </a:r>
            <a:r>
              <a:rPr sz="1300" b="1" dirty="0" smtClean="0">
                <a:solidFill>
                  <a:srgbClr val="6F9692"/>
                </a:solidFill>
                <a:latin typeface="맑은 고딕"/>
              </a:rPr>
              <a:t>1</a:t>
            </a:r>
            <a:r>
              <a:rPr sz="1300" b="1" dirty="0">
                <a:solidFill>
                  <a:srgbClr val="6F9692"/>
                </a:solidFill>
                <a:latin typeface="맑은 고딕"/>
              </a:rPr>
              <a:t>차차분만(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변동성모델</a:t>
            </a:r>
            <a:r>
              <a:rPr sz="13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없이</a:t>
            </a:r>
            <a:r>
              <a:rPr sz="1300" b="1" dirty="0">
                <a:solidFill>
                  <a:srgbClr val="6F9692"/>
                </a:solidFill>
                <a:latin typeface="맑은 고딕"/>
              </a:rPr>
              <a:t>)이 12개 중 1위 -- 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계절차분·과차분</a:t>
            </a:r>
            <a:r>
              <a:rPr sz="1300" b="1" dirty="0">
                <a:solidFill>
                  <a:srgbClr val="6F9692"/>
                </a:solidFill>
                <a:latin typeface="맑은 고딕"/>
              </a:rPr>
              <a:t>(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양쪽</a:t>
            </a:r>
            <a:r>
              <a:rPr sz="1300" b="1" dirty="0">
                <a:solidFill>
                  <a:srgbClr val="6F9692"/>
                </a:solidFill>
                <a:latin typeface="맑은 고딕"/>
              </a:rPr>
              <a:t> 다 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적용</a:t>
            </a:r>
            <a:r>
              <a:rPr sz="1300" b="1" dirty="0">
                <a:solidFill>
                  <a:srgbClr val="6F9692"/>
                </a:solidFill>
                <a:latin typeface="맑은 고딕"/>
              </a:rPr>
              <a:t>)은 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전부</a:t>
            </a:r>
            <a:r>
              <a:rPr sz="13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하위권</a:t>
            </a:r>
            <a:endParaRPr sz="1300" b="1" dirty="0">
              <a:solidFill>
                <a:srgbClr val="6F9692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697386"/>
                </a:solidFill>
              </a:rPr>
              <a:t>④</a:t>
            </a:r>
            <a:r>
              <a:rPr sz="1200" b="1" dirty="0" smtClean="0">
                <a:solidFill>
                  <a:srgbClr val="697386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697386"/>
                </a:solidFill>
                <a:latin typeface="맑은 고딕"/>
              </a:rPr>
              <a:t>추가실험</a:t>
            </a:r>
            <a:r>
              <a:rPr sz="1200" b="1" dirty="0">
                <a:solidFill>
                  <a:srgbClr val="697386"/>
                </a:solidFill>
                <a:latin typeface="맑은 고딕"/>
              </a:rPr>
              <a:t> </a:t>
            </a:r>
            <a:r>
              <a:rPr lang="en-US" sz="1200" b="1" dirty="0" smtClean="0">
                <a:solidFill>
                  <a:srgbClr val="697386"/>
                </a:solidFill>
                <a:latin typeface="맑은 고딕"/>
              </a:rPr>
              <a:t>– </a:t>
            </a:r>
            <a:r>
              <a:rPr lang="ko-KR" altLang="en-US" sz="1200" b="1" dirty="0" smtClean="0">
                <a:solidFill>
                  <a:srgbClr val="697386"/>
                </a:solidFill>
                <a:latin typeface="맑은 고딕"/>
              </a:rPr>
              <a:t>표본 늘리기</a:t>
            </a:r>
            <a:endParaRPr sz="1200" b="1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표본을 5배 늘려도(월별 실데이터) 구간은 그대로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계절차분 검증 &amp; 추가 실험 (3-3·4-3·4-3(참고))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50000"/>
            <a:ext cx="10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</a:rPr>
              <a:t>●  X2를 FRED 실제 월별 원본(DFII10)으로 받아 origin 36개→193개로 확장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95847" y="2100000"/>
          <a:ext cx="10000000" cy="13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000"/>
                <a:gridCol w="2600000"/>
                <a:gridCol w="2600000"/>
              </a:tblGrid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방식</a:t>
                      </a:r>
                    </a:p>
                  </a:txBody>
                  <a:tcPr marL="60000" marR="60000" marT="20000" marB="20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CRPS</a:t>
                      </a:r>
                    </a:p>
                  </a:txBody>
                  <a:tcPr marL="60000" marR="60000" marT="20000" marB="20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h=4 90%구간 폭</a:t>
                      </a:r>
                    </a:p>
                  </a:txBody>
                  <a:tcPr marL="60000" marR="60000" marT="20000" marB="20000">
                    <a:solidFill>
                      <a:srgbClr val="172033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기존(분기 전용, origin 36개)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0.5467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0.0293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월별기반(origin 193개, 분기 환산)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0.5498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0.0321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3550000"/>
            <a:ext cx="10424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rgbClr val="6F9692"/>
                </a:solidFill>
                <a:latin typeface="맑은 고딕"/>
              </a:rPr>
              <a:t>● </a:t>
            </a:r>
            <a:r>
              <a:rPr sz="1400" b="1" dirty="0" err="1" smtClean="0">
                <a:solidFill>
                  <a:srgbClr val="6F9692"/>
                </a:solidFill>
                <a:latin typeface="맑은 고딕"/>
              </a:rPr>
              <a:t>CRPS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·구간폭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모두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거의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동일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(9%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이내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,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노이즈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수준</a:t>
            </a:r>
            <a:r>
              <a:rPr sz="1400" b="1" dirty="0" smtClean="0">
                <a:solidFill>
                  <a:srgbClr val="6F9692"/>
                </a:solidFill>
                <a:latin typeface="맑은 고딕"/>
              </a:rPr>
              <a:t>)</a:t>
            </a:r>
            <a:r>
              <a:rPr lang="en-US" sz="1400" b="1" dirty="0" smtClean="0">
                <a:solidFill>
                  <a:srgbClr val="6F9692"/>
                </a:solidFill>
                <a:latin typeface="맑은 고딕"/>
              </a:rPr>
              <a:t/>
            </a:r>
            <a:br>
              <a:rPr lang="en-US" sz="1400" b="1" dirty="0" smtClean="0">
                <a:solidFill>
                  <a:srgbClr val="6F9692"/>
                </a:solidFill>
                <a:latin typeface="맑은 고딕"/>
              </a:rPr>
            </a:br>
            <a:r>
              <a:rPr lang="en-US" sz="1400" b="1" dirty="0" smtClean="0">
                <a:solidFill>
                  <a:srgbClr val="6F9692"/>
                </a:solidFill>
                <a:latin typeface="맑은 고딕"/>
              </a:rPr>
              <a:t>	</a:t>
            </a:r>
            <a:r>
              <a:rPr sz="1400" b="1" dirty="0" smtClean="0">
                <a:solidFill>
                  <a:srgbClr val="6F9692"/>
                </a:solidFill>
                <a:latin typeface="맑은 고딕"/>
              </a:rPr>
              <a:t>--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표본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부족이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원인이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아니라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변수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자체가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예측하기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어려움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(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거의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400" b="1" dirty="0" err="1">
                <a:solidFill>
                  <a:srgbClr val="6F9692"/>
                </a:solidFill>
                <a:latin typeface="맑은 고딕"/>
              </a:rPr>
              <a:t>랜덤워크</a:t>
            </a:r>
            <a:r>
              <a:rPr sz="1400" b="1" dirty="0">
                <a:solidFill>
                  <a:srgbClr val="6F9692"/>
                </a:solidFill>
                <a:latin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697386"/>
                </a:solidFill>
              </a:rPr>
              <a:t>⑤</a:t>
            </a:r>
            <a:r>
              <a:rPr sz="1200" b="1" dirty="0" smtClean="0">
                <a:solidFill>
                  <a:srgbClr val="697386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697386"/>
                </a:solidFill>
                <a:latin typeface="맑은 고딕"/>
              </a:rPr>
              <a:t>추가실험</a:t>
            </a:r>
            <a:r>
              <a:rPr sz="1200" b="1" dirty="0">
                <a:solidFill>
                  <a:srgbClr val="697386"/>
                </a:solidFill>
                <a:latin typeface="맑은 고딕"/>
              </a:rPr>
              <a:t> </a:t>
            </a:r>
            <a:r>
              <a:rPr lang="en-US" sz="1200" b="1" dirty="0" smtClean="0">
                <a:solidFill>
                  <a:srgbClr val="697386"/>
                </a:solidFill>
                <a:latin typeface="맑은 고딕"/>
              </a:rPr>
              <a:t>– </a:t>
            </a:r>
            <a:r>
              <a:rPr lang="ko-KR" altLang="en-US" sz="1200" b="1" dirty="0" smtClean="0">
                <a:solidFill>
                  <a:srgbClr val="697386"/>
                </a:solidFill>
                <a:latin typeface="맑은 고딕"/>
              </a:rPr>
              <a:t>커버리지도 직접 모델학습</a:t>
            </a:r>
            <a:endParaRPr sz="1200" b="1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Quantile Regression -- 폭은 좁지만 커버리지가 무너짐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계절차분 검증 &amp; 추가 실험 (3-3·4-3·4-3(참고))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623273"/>
            <a:ext cx="1042416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커버리지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90%에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맞춰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튜닝하면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(scale=4.5)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폭이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1582.8로 E3(1207.7)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보다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오히려</a:t>
            </a:r>
            <a:r>
              <a:rPr sz="1500" b="1" dirty="0">
                <a:solidFill>
                  <a:srgbClr val="6F9692"/>
                </a:solidFill>
                <a:latin typeface="맑은 고딕"/>
              </a:rPr>
              <a:t> 더 </a:t>
            </a:r>
            <a:r>
              <a:rPr sz="1500" b="1" dirty="0" err="1">
                <a:solidFill>
                  <a:srgbClr val="6F9692"/>
                </a:solidFill>
                <a:latin typeface="맑은 고딕"/>
              </a:rPr>
              <a:t>넓음</a:t>
            </a:r>
            <a:endParaRPr sz="15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endParaRPr sz="1500" b="1" dirty="0">
              <a:solidFill>
                <a:srgbClr val="172033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튜닝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후에도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하한이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음수인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origin이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64.9% --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중심값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자체가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급등기를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못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잡아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구조적으로</a:t>
            </a:r>
            <a:r>
              <a:rPr sz="15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500" b="1" dirty="0" err="1">
                <a:solidFill>
                  <a:srgbClr val="172033"/>
                </a:solidFill>
                <a:latin typeface="맑은 고딕"/>
              </a:rPr>
              <a:t>잘못됨</a:t>
            </a:r>
            <a:endParaRPr sz="1500" b="1" dirty="0">
              <a:solidFill>
                <a:srgbClr val="172033"/>
              </a:solidFill>
              <a:latin typeface="맑은 고딕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9448" y="1685347"/>
          <a:ext cx="9800000" cy="18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0000"/>
                <a:gridCol w="1800000"/>
                <a:gridCol w="1800000"/>
                <a:gridCol w="1800000"/>
              </a:tblGrid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방법</a:t>
                      </a:r>
                    </a:p>
                  </a:txBody>
                  <a:tcPr marL="60000" marR="60000" marT="20000" marB="20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origin 수</a:t>
                      </a:r>
                    </a:p>
                  </a:txBody>
                  <a:tcPr marL="60000" marR="60000" marT="20000" marB="20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커버리지</a:t>
                      </a:r>
                    </a:p>
                  </a:txBody>
                  <a:tcPr marL="60000" marR="60000" marT="20000" marB="20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평균 폭</a:t>
                      </a:r>
                    </a:p>
                  </a:txBody>
                  <a:tcPr marL="60000" marR="60000" marT="20000" marB="20000">
                    <a:solidFill>
                      <a:srgbClr val="172033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QR 원본(튜닝 없음, scale=1.0)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37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40.5%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351.7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QR 튜닝 후(scale=4.5, 90%에 맞춤)</a:t>
                      </a:r>
                    </a:p>
                  </a:txBody>
                  <a:tcPr marL="60000" marR="60000" marT="20000" marB="20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37</a:t>
                      </a:r>
                    </a:p>
                  </a:txBody>
                  <a:tcPr marL="60000" marR="60000" marT="20000" marB="20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89.2%</a:t>
                      </a:r>
                    </a:p>
                  </a:txBody>
                  <a:tcPr marL="60000" marR="60000" marT="20000" marB="20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1582.8</a:t>
                      </a:r>
                    </a:p>
                  </a:txBody>
                  <a:tcPr marL="60000" marR="60000" marT="20000" marB="20000">
                    <a:solidFill>
                      <a:srgbClr val="FFECEB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E3 앙상블(scale=1.42)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22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90.9%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333B4A"/>
                          </a:solidFill>
                          <a:latin typeface="맑은 고딕"/>
                        </a:rPr>
                        <a:t>1207.7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697386"/>
                </a:solidFill>
              </a:rPr>
              <a:t>⑥</a:t>
            </a:r>
            <a:r>
              <a:rPr sz="1200" b="1" dirty="0" smtClean="0">
                <a:solidFill>
                  <a:srgbClr val="697386"/>
                </a:solidFill>
                <a:latin typeface="맑은 고딕"/>
              </a:rPr>
              <a:t> </a:t>
            </a:r>
            <a:r>
              <a:rPr sz="1200" b="1" dirty="0" err="1">
                <a:solidFill>
                  <a:srgbClr val="697386"/>
                </a:solidFill>
                <a:latin typeface="맑은 고딕"/>
              </a:rPr>
              <a:t>추가실험</a:t>
            </a:r>
            <a:r>
              <a:rPr sz="1200" b="1" dirty="0">
                <a:solidFill>
                  <a:srgbClr val="697386"/>
                </a:solidFill>
                <a:latin typeface="맑은 고딕"/>
              </a:rPr>
              <a:t> </a:t>
            </a:r>
            <a:r>
              <a:rPr sz="1200" b="1" dirty="0" smtClean="0">
                <a:solidFill>
                  <a:srgbClr val="697386"/>
                </a:solidFill>
                <a:latin typeface="맑은 고딕"/>
              </a:rPr>
              <a:t>5</a:t>
            </a:r>
            <a:r>
              <a:rPr lang="en-US" sz="1200" b="1" dirty="0">
                <a:solidFill>
                  <a:srgbClr val="697386"/>
                </a:solidFill>
                <a:latin typeface="맑은 고딕"/>
              </a:rPr>
              <a:t> </a:t>
            </a:r>
            <a:r>
              <a:rPr lang="en-US" sz="1200" b="1" dirty="0" smtClean="0">
                <a:solidFill>
                  <a:srgbClr val="697386"/>
                </a:solidFill>
                <a:latin typeface="맑은 고딕"/>
              </a:rPr>
              <a:t>– </a:t>
            </a:r>
            <a:r>
              <a:rPr lang="ko-KR" altLang="en-US" sz="1200" b="1" dirty="0" err="1" smtClean="0">
                <a:solidFill>
                  <a:srgbClr val="697386"/>
                </a:solidFill>
                <a:latin typeface="맑은 고딕"/>
              </a:rPr>
              <a:t>튀는값</a:t>
            </a:r>
            <a:r>
              <a:rPr lang="ko-KR" altLang="en-US" sz="1200" b="1" dirty="0" smtClean="0">
                <a:solidFill>
                  <a:srgbClr val="697386"/>
                </a:solidFill>
                <a:latin typeface="맑은 고딕"/>
              </a:rPr>
              <a:t> 없이 학습 </a:t>
            </a:r>
            <a:r>
              <a:rPr lang="en-US" altLang="ko-KR" sz="1200" b="1" dirty="0" smtClean="0">
                <a:solidFill>
                  <a:srgbClr val="697386"/>
                </a:solidFill>
                <a:latin typeface="맑은 고딕"/>
              </a:rPr>
              <a:t>/ </a:t>
            </a:r>
            <a:r>
              <a:rPr lang="ko-KR" altLang="en-US" sz="1200" b="1" dirty="0" smtClean="0">
                <a:solidFill>
                  <a:srgbClr val="697386"/>
                </a:solidFill>
                <a:latin typeface="맑은 고딕"/>
              </a:rPr>
              <a:t>변동성 학습</a:t>
            </a:r>
            <a:endParaRPr sz="1200" b="1" dirty="0">
              <a:solidFill>
                <a:srgbClr val="697386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극단치 제외·적응형 폭 -- 둘 다 역효과이거나 무의미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계절차분 검증 &amp; 추가 실험 (3-3·4-3·4-3(참고))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95847" y="1700000"/>
          <a:ext cx="10000000" cy="1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0"/>
                <a:gridCol w="1800000"/>
                <a:gridCol w="1800000"/>
                <a:gridCol w="2200000"/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강건 캘리브레이션</a:t>
                      </a:r>
                    </a:p>
                  </a:txBody>
                  <a:tcPr marL="60000" marR="60000" marT="20000" marB="20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scale</a:t>
                      </a:r>
                    </a:p>
                  </a:txBody>
                  <a:tcPr marL="60000" marR="60000" marT="20000" marB="20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커버리지</a:t>
                      </a:r>
                    </a:p>
                  </a:txBody>
                  <a:tcPr marL="60000" marR="60000" marT="20000" marB="20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평균 폭</a:t>
                      </a:r>
                    </a:p>
                  </a:txBody>
                  <a:tcPr marL="60000" marR="60000" marT="20000" marB="20000">
                    <a:solidFill>
                      <a:srgbClr val="172033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baseline(trim 없음)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1.48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90.9%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1264.8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상위 1개 trim</a:t>
                      </a:r>
                    </a:p>
                  </a:txBody>
                  <a:tcPr marL="60000" marR="60000" marT="20000" marB="20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1.92</a:t>
                      </a:r>
                    </a:p>
                  </a:txBody>
                  <a:tcPr marL="60000" marR="60000" marT="20000" marB="20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90.9%</a:t>
                      </a:r>
                    </a:p>
                  </a:txBody>
                  <a:tcPr marL="60000" marR="60000" marT="20000" marB="20000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</a:rPr>
                        <a:t>1475.1(악화)</a:t>
                      </a:r>
                    </a:p>
                  </a:txBody>
                  <a:tcPr marL="60000" marR="60000" marT="20000" marB="20000">
                    <a:solidFill>
                      <a:srgbClr val="FFECEB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상위 2개 trim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1.76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90.9%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1228.2(노이즈 수준)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95847" y="3400000"/>
          <a:ext cx="80000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0"/>
                <a:gridCol w="3800000"/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적응형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폭(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최근성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가중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60000" marR="60000" marT="20000" marB="20000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커버리지</a:t>
                      </a:r>
                    </a:p>
                  </a:txBody>
                  <a:tcPr marL="60000" marR="60000" marT="20000" marB="20000">
                    <a:solidFill>
                      <a:srgbClr val="172033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scale=1.00(폭 최소)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86.4%(미달)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scale=1.50(커버리지 확보)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B4A"/>
                          </a:solidFill>
                          <a:latin typeface="맑은 고딕"/>
                        </a:rPr>
                        <a:t>95.5%(과도)</a:t>
                      </a:r>
                    </a:p>
                  </a:txBody>
                  <a:tcPr marL="60000" marR="60000" marT="20000" marB="2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4550000"/>
            <a:ext cx="104241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solidFill>
                  <a:srgbClr val="6F9692"/>
                </a:solidFill>
                <a:latin typeface="맑은 고딕"/>
              </a:rPr>
              <a:t>● </a:t>
            </a:r>
            <a:r>
              <a:rPr sz="1300" b="1" dirty="0" err="1" smtClean="0">
                <a:solidFill>
                  <a:srgbClr val="6F9692"/>
                </a:solidFill>
                <a:latin typeface="맑은 고딕"/>
              </a:rPr>
              <a:t>적응형</a:t>
            </a:r>
            <a:r>
              <a:rPr sz="1300" b="1" dirty="0" smtClean="0">
                <a:solidFill>
                  <a:srgbClr val="6F9692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신호가</a:t>
            </a:r>
            <a:r>
              <a:rPr sz="1300" b="1" dirty="0">
                <a:solidFill>
                  <a:srgbClr val="6F9692"/>
                </a:solidFill>
                <a:latin typeface="맑은 고딕"/>
              </a:rPr>
              <a:t> 86.4% 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확률로</a:t>
            </a:r>
            <a:r>
              <a:rPr sz="13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거의</a:t>
            </a:r>
            <a:r>
              <a:rPr sz="13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항상</a:t>
            </a:r>
            <a:r>
              <a:rPr sz="13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300" b="1" dirty="0" err="1" smtClean="0">
                <a:solidFill>
                  <a:srgbClr val="6F9692"/>
                </a:solidFill>
                <a:latin typeface="맑은 고딕"/>
              </a:rPr>
              <a:t>켜짐</a:t>
            </a:r>
            <a:r>
              <a:rPr lang="en-US" sz="1300" b="1" dirty="0" smtClean="0">
                <a:solidFill>
                  <a:srgbClr val="6F9692"/>
                </a:solidFill>
                <a:latin typeface="맑은 고딕"/>
              </a:rPr>
              <a:t> (</a:t>
            </a:r>
            <a:r>
              <a:rPr lang="ko-KR" altLang="en-US" sz="1300" b="1" dirty="0" smtClean="0">
                <a:solidFill>
                  <a:srgbClr val="6F9692"/>
                </a:solidFill>
                <a:latin typeface="맑은 고딕"/>
              </a:rPr>
              <a:t>늘 변동성이 </a:t>
            </a:r>
            <a:r>
              <a:rPr lang="ko-KR" altLang="en-US" sz="1300" b="1" dirty="0" err="1" smtClean="0">
                <a:solidFill>
                  <a:srgbClr val="6F9692"/>
                </a:solidFill>
                <a:latin typeface="맑은 고딕"/>
              </a:rPr>
              <a:t>있는것으로</a:t>
            </a:r>
            <a:r>
              <a:rPr lang="ko-KR" altLang="en-US" sz="1300" b="1" dirty="0" smtClean="0">
                <a:solidFill>
                  <a:srgbClr val="6F9692"/>
                </a:solidFill>
                <a:latin typeface="맑은 고딕"/>
              </a:rPr>
              <a:t> 해석</a:t>
            </a:r>
            <a:r>
              <a:rPr lang="en-US" altLang="ko-KR" sz="1300" b="1" dirty="0" smtClean="0">
                <a:solidFill>
                  <a:srgbClr val="6F9692"/>
                </a:solidFill>
                <a:latin typeface="맑은 고딕"/>
              </a:rPr>
              <a:t>)</a:t>
            </a:r>
            <a:r>
              <a:rPr lang="en-US" sz="1300" b="1" dirty="0">
                <a:solidFill>
                  <a:srgbClr val="6F9692"/>
                </a:solidFill>
                <a:latin typeface="맑은 고딕"/>
              </a:rPr>
              <a:t/>
            </a:r>
            <a:br>
              <a:rPr lang="en-US" sz="1300" b="1" dirty="0">
                <a:solidFill>
                  <a:srgbClr val="6F9692"/>
                </a:solidFill>
                <a:latin typeface="맑은 고딕"/>
              </a:rPr>
            </a:br>
            <a:r>
              <a:rPr lang="en-US" sz="1300" b="1" dirty="0" smtClean="0">
                <a:solidFill>
                  <a:srgbClr val="6F9692"/>
                </a:solidFill>
                <a:latin typeface="맑은 고딕"/>
              </a:rPr>
              <a:t>	</a:t>
            </a:r>
            <a:r>
              <a:rPr sz="1300" b="1" dirty="0" smtClean="0">
                <a:solidFill>
                  <a:srgbClr val="6F9692"/>
                </a:solidFill>
                <a:latin typeface="맑은 고딕"/>
              </a:rPr>
              <a:t>-- 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예고</a:t>
            </a:r>
            <a:r>
              <a:rPr sz="13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없는</a:t>
            </a:r>
            <a:r>
              <a:rPr sz="13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점프</a:t>
            </a:r>
            <a:r>
              <a:rPr sz="1300" b="1" dirty="0">
                <a:solidFill>
                  <a:srgbClr val="6F9692"/>
                </a:solidFill>
                <a:latin typeface="맑은 고딕"/>
              </a:rPr>
              <a:t>(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X3</a:t>
            </a:r>
            <a:r>
              <a:rPr sz="13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매입</a:t>
            </a:r>
            <a:r>
              <a:rPr sz="1300" b="1" dirty="0">
                <a:solidFill>
                  <a:srgbClr val="6F9692"/>
                </a:solidFill>
                <a:latin typeface="맑은 고딕"/>
              </a:rPr>
              <a:t>)엔 '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최근</a:t>
            </a:r>
            <a:r>
              <a:rPr sz="13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패턴</a:t>
            </a:r>
            <a:r>
              <a:rPr sz="13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감지</a:t>
            </a:r>
            <a:r>
              <a:rPr sz="1300" b="1" dirty="0">
                <a:solidFill>
                  <a:srgbClr val="6F9692"/>
                </a:solidFill>
                <a:latin typeface="맑은 고딕"/>
              </a:rPr>
              <a:t>' 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방식</a:t>
            </a:r>
            <a:r>
              <a:rPr sz="13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자체가</a:t>
            </a:r>
            <a:r>
              <a:rPr sz="13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원리적으로</a:t>
            </a:r>
            <a:r>
              <a:rPr sz="13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6F9692"/>
                </a:solidFill>
                <a:latin typeface="맑은 고딕"/>
              </a:rPr>
              <a:t>무력</a:t>
            </a:r>
            <a:endParaRPr sz="1300" b="1" dirty="0">
              <a:solidFill>
                <a:srgbClr val="6F9692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</a:rPr>
              <a:t>⑩ 종합 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</a:rPr>
              <a:t>12개 넘는 독립 실험, 결론은 하나로 수렴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</a:rPr>
              <a:t>계절차분 검증 &amp; 추가 실험 (3-3·4-3·4-3(참고))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500000"/>
            <a:ext cx="10500000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600" b="1" dirty="0" err="1" smtClean="0">
                <a:solidFill>
                  <a:srgbClr val="6F9692"/>
                </a:solidFill>
                <a:latin typeface="맑은 고딕"/>
              </a:rPr>
              <a:t>계절차분</a:t>
            </a:r>
            <a:r>
              <a:rPr lang="en-US"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smtClean="0">
                <a:solidFill>
                  <a:srgbClr val="6F9692"/>
                </a:solidFill>
                <a:latin typeface="맑은 고딕"/>
              </a:rPr>
              <a:t>: 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6개 변수·2개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레벨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모두에서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비계절보다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일관되게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나쁨</a:t>
            </a:r>
            <a:endParaRPr sz="16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6F9692"/>
                </a:solidFill>
                <a:latin typeface="맑은 고딕"/>
              </a:rPr>
              <a:t>●  GARCH·EGARCH·GJR-GARCH·SV(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레이어드+단독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):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전부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실패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,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EGARCH는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수치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발산</a:t>
            </a:r>
            <a:endParaRPr sz="16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월별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데이터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확장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, Quantile Regression,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강건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캘리브레이션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,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적응형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폭: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전부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실패</a:t>
            </a:r>
            <a:endParaRPr sz="16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6F9692"/>
                </a:solidFill>
                <a:latin typeface="맑은 고딕"/>
              </a:rPr>
              <a:t>● 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공통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원인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: 이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변수들의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진짜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불확실성은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'더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정교한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모델'로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줄지</a:t>
            </a:r>
            <a:r>
              <a:rPr sz="1600" b="1" dirty="0">
                <a:solidFill>
                  <a:srgbClr val="6F9692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</a:rPr>
              <a:t>않는다</a:t>
            </a:r>
            <a:endParaRPr sz="1600" b="1" dirty="0">
              <a:solidFill>
                <a:srgbClr val="6F9692"/>
              </a:solidFill>
              <a:latin typeface="맑은 고딕"/>
            </a:endParaRP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72033"/>
                </a:solidFill>
                <a:latin typeface="맑은 고딕"/>
              </a:rPr>
              <a:t>-  </a:t>
            </a:r>
            <a:r>
              <a:rPr sz="1600" b="1" dirty="0" err="1" smtClean="0">
                <a:solidFill>
                  <a:srgbClr val="172033"/>
                </a:solidFill>
                <a:latin typeface="맑은 고딕"/>
              </a:rPr>
              <a:t>외생변수</a:t>
            </a:r>
            <a:r>
              <a:rPr sz="1600" b="1" dirty="0">
                <a:solidFill>
                  <a:srgbClr val="172033"/>
                </a:solidFill>
                <a:latin typeface="맑은 고딕"/>
              </a:rPr>
              <a:t>(SARIMAX+X</a:t>
            </a:r>
            <a:r>
              <a:rPr sz="1600" b="1" dirty="0" smtClean="0">
                <a:solidFill>
                  <a:srgbClr val="172033"/>
                </a:solidFill>
                <a:latin typeface="맑은 고딕"/>
              </a:rPr>
              <a:t>)</a:t>
            </a:r>
            <a:r>
              <a:rPr lang="en-US" sz="1600" b="1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lang="ko-KR" altLang="en-US" sz="1600" b="1" dirty="0" smtClean="0">
                <a:solidFill>
                  <a:srgbClr val="172033"/>
                </a:solidFill>
                <a:latin typeface="맑은 고딕"/>
              </a:rPr>
              <a:t>방법 존재</a:t>
            </a:r>
            <a:r>
              <a:rPr sz="1600" b="1" dirty="0" smtClean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1" dirty="0">
                <a:solidFill>
                  <a:srgbClr val="172033"/>
                </a:solidFill>
                <a:latin typeface="맑은 고딕"/>
              </a:rPr>
              <a:t>-- </a:t>
            </a:r>
            <a:r>
              <a:rPr sz="1600" b="1" dirty="0" err="1">
                <a:solidFill>
                  <a:srgbClr val="172033"/>
                </a:solidFill>
                <a:latin typeface="맑은 고딕"/>
              </a:rPr>
              <a:t>다만</a:t>
            </a:r>
            <a:r>
              <a:rPr sz="16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172033"/>
                </a:solidFill>
                <a:latin typeface="맑은 고딕"/>
              </a:rPr>
              <a:t>공용모델</a:t>
            </a:r>
            <a:r>
              <a:rPr sz="16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172033"/>
                </a:solidFill>
                <a:latin typeface="맑은 고딕"/>
              </a:rPr>
              <a:t>목적상</a:t>
            </a:r>
            <a:r>
              <a:rPr sz="16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1" dirty="0" err="1">
                <a:solidFill>
                  <a:srgbClr val="172033"/>
                </a:solidFill>
                <a:latin typeface="맑은 고딕"/>
              </a:rPr>
              <a:t>보류</a:t>
            </a:r>
            <a:r>
              <a:rPr sz="1600" b="1" dirty="0">
                <a:solidFill>
                  <a:srgbClr val="172033"/>
                </a:solidFill>
                <a:latin typeface="맑은 고딕"/>
              </a:rPr>
              <a:t> </a:t>
            </a:r>
            <a:r>
              <a:rPr sz="1600" b="1" dirty="0" smtClean="0">
                <a:solidFill>
                  <a:srgbClr val="172033"/>
                </a:solidFill>
                <a:latin typeface="맑은 고딕"/>
              </a:rPr>
              <a:t>중</a:t>
            </a:r>
            <a:endParaRPr sz="1600" b="1" dirty="0">
              <a:solidFill>
                <a:srgbClr val="172033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880</Words>
  <Application>Microsoft Office PowerPoint</Application>
  <PresentationFormat>와이드스크린</PresentationFormat>
  <Paragraphs>189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Administrator</cp:lastModifiedBy>
  <cp:revision>17</cp:revision>
  <dcterms:created xsi:type="dcterms:W3CDTF">2013-01-27T09:14:16Z</dcterms:created>
  <dcterms:modified xsi:type="dcterms:W3CDTF">2026-09-15T05:19:29Z</dcterms:modified>
  <cp:category/>
</cp:coreProperties>
</file>