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61" r:id="rId8"/>
    <p:sldId id="262" r:id="rId9"/>
    <p:sldId id="263" r:id="rId10"/>
    <p:sldId id="280" r:id="rId29"/>
    <p:sldId id="265" r:id="rId11"/>
    <p:sldId id="272" r:id="rId12"/>
    <p:sldId id="273" r:id="rId13"/>
    <p:sldId id="274" r:id="rId14"/>
    <p:sldId id="275" r:id="rId15"/>
    <p:sldId id="276" r:id="rId16"/>
    <p:sldId id="277" r:id="rId17"/>
    <p:sldId id="266" r:id="rId18"/>
    <p:sldId id="267" r:id="rId19"/>
    <p:sldId id="268" r:id="rId20"/>
    <p:sldId id="269" r:id="rId21"/>
    <p:sldId id="278" r:id="rId22"/>
    <p:sldId id="27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2960" y="2514600"/>
            <a:ext cx="109728" cy="822960"/>
          </a:xfrm>
          <a:prstGeom prst="rect">
            <a:avLst/>
          </a:prstGeom>
          <a:solidFill>
            <a:srgbClr val="EF64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331720"/>
            <a:ext cx="1005840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72033"/>
                </a:solidFill>
                <a:latin typeface="맑은 고딕"/>
                <a:ea typeface="맑은 고딕"/>
              </a:rPr>
              <a:t>주요변수별 모델 선정과 계절성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5468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72033"/>
                </a:solidFill>
                <a:latin typeface="맑은 고딕"/>
                <a:ea typeface="맑은 고딕"/>
              </a:rPr>
              <a:t>차분(d)·계절 차분(D) 결정 · 모델 비교 · 변수별 최종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1864" y="5769864"/>
            <a:ext cx="9966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F9692"/>
                </a:solidFill>
                <a:latin typeface="맑은 고딕"/>
                <a:ea typeface="맑은 고딕"/>
              </a:rPr>
              <a:t>박민수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0.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무엇을 어떻게 했나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목적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X3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에서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방식을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주요변수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6개에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적용하고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차분까지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확장해도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구조가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달라지는지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확인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비교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대상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3종(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AR단독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AR+GARCH, AR+SV) x (d, D) 4가지 x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2가지(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자체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 x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(원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,</a:t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lang="ko-KR" alt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데이터에 음수 값이 있다면 로그 제외 </a:t>
            </a:r>
            <a:r>
              <a:rPr lang="en-US" altLang="ko-KR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lang="en-US" altLang="ko-KR" sz="1400" dirty="0"/>
              <a:t>X2</a:t>
            </a:r>
            <a:r>
              <a:rPr lang="ko-KR" altLang="en-US" sz="1400" dirty="0"/>
              <a:t/>
            </a:r>
            <a:r>
              <a:rPr lang="en-US" altLang="ko-KR" sz="1400" dirty="0"/>
              <a:t>, </a:t>
            </a:r>
            <a:r>
              <a:rPr lang="ko-KR" altLang="en-US" sz="1400" dirty="0"/>
              <a:t>X1</a:t>
            </a:r>
            <a:r>
              <a:rPr lang="en-US" altLang="ko-KR" sz="1400" dirty="0"/>
              <a:t>, X4</a:t>
            </a:r>
            <a:r>
              <a:rPr lang="ko-KR" altLang="en-US" sz="1400" dirty="0" smtClean="0"/>
              <a:t/>
            </a:r>
            <a:r>
              <a:rPr lang="en-US" altLang="ko-KR" sz="1400" dirty="0" smtClean="0"/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 smtClean="0">
                <a:solidFill>
                  <a:srgbClr val="6F9692"/>
                </a:solidFill>
                <a:latin typeface="맑은 고딕"/>
                <a:ea typeface="맑은 고딕"/>
              </a:rPr>
              <a:t>평가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walk-forward, origin 20분기부터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시작해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앞 15개를 뺀 21~25개 origin, h=1~4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CRPS(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crps_ensemble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), MSE,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MSE는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표준편차로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정규화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순서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d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검증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보정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한계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1. 대상 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주요변수 6개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2651760"/>
                <a:gridCol w="2331720"/>
                <a:gridCol w="2404872"/>
                <a:gridCol w="109728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전체 분기 (기간)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채점 분기 (예측 대상 기간)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로그 스케일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X3_l1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60분기 (11Q1~25Q4)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 (19Q4~25Q4)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X6_l1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63분기 (10Q2~25Q4)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25개 (19Q1~25Q4)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60분기 (11Q1~25Q4)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 (19Q4~25Q4)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X1_l1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59분기 (11Q2~25Q4)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21개 (20Q1~25Q4)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X5_l1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59분기 (11Q2~25Q4)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21개 (20Q1~25Q4)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가능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60분기 (11Q1~25Q4)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 (19Q4~25Q4)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754880"/>
            <a:ext cx="10515600" cy="55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lang="ko-KR" altLang="en-US" sz="1300" dirty="0" smtClean="0">
                <a:solidFill>
                  <a:srgbClr val="172033"/>
                </a:solidFill>
                <a:latin typeface="맑은 고딕"/>
                <a:ea typeface="맑은 고딕"/>
              </a:rPr>
              <a:t>전체 분기 수가 59~63개로 작고, 같은 분기를 여러 origin이 반복해서 예측해 독립적인 채점 표본이 더 적다</a:t>
            </a:r>
            <a:endParaRPr sz="13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3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0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값이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없는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변수만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비교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음수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값이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있으면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300" b="0" dirty="0" err="1">
                <a:solidFill>
                  <a:srgbClr val="172033"/>
                </a:solidFill>
                <a:latin typeface="맑은 고딕"/>
                <a:ea typeface="맑은 고딕"/>
              </a:rPr>
              <a:t>불가</a:t>
            </a:r>
            <a:r>
              <a:rPr sz="13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변수마다 전체 분기와 채점 분기가 달라 변수 간 비교는 하지 않는다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2. 차분(d)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데이터 특징으로 정한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63040"/>
                <a:gridCol w="9034272"/>
              </a:tblGrid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조건 (유의수준 0.05)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ADF, DF-GLS, PP(귀무 '단위근') 3개 모두 기각 못함, 그리고 KPSS(귀무 '정상')가 기각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단위근 검정 3개 중 2개 이상 기각, 그리고 KPSS가 기각 못함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그 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d는 모든 origin에 고정(리샘플링 오차 표본이 같은 모델의 과거 오차여야 함) -&gt; 전체 데이터로 정한다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 변수는 그 시점 데이터만으로는 d=1이 거의 나오지 않아 백테스트에 낙관 편향이 있을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6개 중 4개는 판정이 분명하고 2개는 애매하다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41248" y="2743200"/>
          <a:ext cx="10497312" cy="21762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26080"/>
                <a:gridCol w="1280160"/>
                <a:gridCol w="3291840"/>
                <a:gridCol w="2999232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단위근 검정 기각 수 (3개 중)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KPSS p (귀무 '정상')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0.025 (기각)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0.006 (기각)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0.249 (기각 못함)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0.421 (기각 못함)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0.574 (기각 못함)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0.186 (기각 못함)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2. 차분(d)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실시간으로 본 d 판정: 전체 데이터로 정한 d의 편향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roll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34440"/>
            <a:ext cx="6126480" cy="30632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325880"/>
          <a:ext cx="4206240" cy="2950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914400"/>
                <a:gridCol w="1554480"/>
              </a:tblGrid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최종 판정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평가 구간에서 최종과 같은 비율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24%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규칙이 이전 분석(X3)의 d=1 판정을 그대로 재현한다 (단위근 검정 0/3 기각, KPSS 기각)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d=0 변수와 애매한 변수는 평가 구간 대부분이 최종 판정과 같다 (86~100%)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d=1 변수는 그 시점 데이터만으로는 d=1이 거의 나오지 않고, 끝쪽 급등 구간(2022~25)이 포함된 전체 데이터에서야 나온다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d=0 변수는 판정이 안정적이고, d=1 변수는 백테스트에 낙관 편향이 있을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2. 차분(d) 결정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성능으로 확인해도 같은 방향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1097280"/>
                <a:gridCol w="1737360"/>
                <a:gridCol w="1737360"/>
                <a:gridCol w="3182112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 d=0/d=1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d=0/d=1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성능 방향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 (9~10% 차이, 근소)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 (18~34% 차이)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 (d=1은 MSE 2배)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 (21/21 origin)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애매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0.888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 쪽이나 약함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d=2는 거의 항상 가장 나쁘다. 차이는 h=4에서 크고 h=1은 거의 같다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비교는 auto_arima로 했고 결정이 아니라 확인용이다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판정과 성능이 충돌하지 않고, 애매했던 두 변수는 d=0이 낫다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3. 차분과 계절 차분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일반 차분(d)과 계절 차분(D)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4151376"/>
                <a:gridCol w="4151376"/>
              </a:tblGrid>
              <a:tr h="566928">
                <a:tc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일반 차분 (d)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계절 차분 (D)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w_t = y_t - y_(t-1)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w_t = y_t - y_(t-4) (분기 자료)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제거하는 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추세, 단위근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매년 같은 분기에 반복되는 패턴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쓰는 경우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단위근 검정이 못 버리고 KPSS가 정상을 기각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분기 평균 차이, 계절 단위근 등 계절성이 확인될 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과하게 쓰면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구간이 불필요하게 넓어지고 MSE 증가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노이즈 증폭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이번 분석의 규칙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데이터 특징(단위근 검정)으로 결정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D=0, 1을 비교, 계절성 점검으로 확인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983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절편은 d + D = 0일 때만 평균을 추정한다 (차분하면 평균이 상쇄되어 드리프트를 넣지 않음)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예측은 차분을 되돌려 수준으로 내므로 d, D가 달라도 지표를 비교할 수 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d는 추세, D는 계절 반복을 제거하며 둘 다 과하면 오히려 성능이 나빠진다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4. 모델 구현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계절 차분을 포함해 일반화한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4572000"/>
                <a:gridCol w="391363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추가된 부분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기존과 같은 이유 (d=1, D=0)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계절 차분 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(1-B)^d (1-B^m)^D, m=4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D=0이면 일반 차분만 남음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절편 규칙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 + D = 0일 때만 절편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d=1이면 절편 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계절 AR 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시차 4, 8 추가, (p, P)는 auto_arima가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P=0이면 일반 AR(p)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σ 전파 일반화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 다항식 x 차분 다항식으로 충격반응 계산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d번 누적합과 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역차분, 평균식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시차 목록과 절편 옵션을 받음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시차 1..p, 절편 없음이면 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526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F9692"/>
                </a:solidFill>
                <a:latin typeface="맑은 고딕"/>
                <a:ea typeface="맑은 고딕"/>
              </a:rPr>
              <a:t>●  검증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d=1, D=0에서 기존 코드, 이전 저장 결과와 CRPS, MSE, 커버리지가 모두 일치 (AR단독, GARCH는 차이 0, SV는 0.0000000000000003)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바뀌지 않은 것: GARCH(1,1), SV(1), phi 상한 0.97, 90% 구간, H=4, 적합 실패는 inf로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결론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: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스위치를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모두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 smtClean="0">
                <a:solidFill>
                  <a:srgbClr val="D62728"/>
                </a:solidFill>
                <a:latin typeface="맑은 고딕"/>
                <a:ea typeface="맑은 고딕"/>
              </a:rPr>
              <a:t>끄면</a:t>
            </a:r>
            <a:r>
              <a:rPr 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(d=1,D=0 </a:t>
            </a:r>
            <a:r>
              <a:rPr lang="ko-KR" alt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일 경우</a:t>
            </a:r>
            <a:r>
              <a:rPr lang="en-US"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)</a:t>
            </a:r>
            <a:r>
              <a:rPr sz="1300" b="1" dirty="0" smtClean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기존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식과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같아서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같은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구현으로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모든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(d, D)를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비교할</a:t>
            </a:r>
            <a:r>
              <a:rPr sz="1300" b="1" dirty="0">
                <a:solidFill>
                  <a:srgbClr val="D62728"/>
                </a:solidFill>
                <a:latin typeface="맑은 고딕"/>
                <a:ea typeface="맑은 고딕"/>
              </a:rPr>
              <a:t> 수 </a:t>
            </a:r>
            <a:r>
              <a:rPr sz="1300" b="1" dirty="0" err="1">
                <a:solidFill>
                  <a:srgbClr val="D62728"/>
                </a:solidFill>
                <a:latin typeface="맑은 고딕"/>
                <a:ea typeface="맑은 고딕"/>
              </a:rPr>
              <a:t>있다</a:t>
            </a:r>
            <a:endParaRPr sz="1300" b="1" dirty="0">
              <a:solidFill>
                <a:srgbClr val="D62728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5. 선정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CRPS 1등의 ±10% 이내 중 커버리지가 90%에 가장 가까운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1단계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가장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낮은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±10%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남긴다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2단계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남은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중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90%에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가장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가까운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것을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고른다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동률이면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낮은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쪽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처음에는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'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커버리지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최대'였다가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바꾼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이유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목표가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90%인데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가장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높은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쪽을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고르면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넓은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유리하다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바뀐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X6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하나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(92%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90.0%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이전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분석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(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X3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16개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조합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)에 새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기준을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적용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후보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9개의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커버리지가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90%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아래라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(GARCH 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리샘플링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en-US" altLang="ko-KR" sz="1400" dirty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lang="en-US" altLang="ko-KR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lang="ko-KR" altLang="en-US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커버리지 조건을 바꿔도 결과가 같다</a:t>
            </a:r>
            <a:r>
              <a:rPr lang="en-US" altLang="ko-KR" sz="1400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정확도(CRPS)를 지키면서 구간이 90%에 맞는 조합을 고른다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5. 선정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단위 상수를 훈련 구간 기준으로 바꾼 뒤의 선정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069169"/>
              </p:ext>
            </p:extLst>
          </p:nvPr>
        </p:nvGraphicFramePr>
        <p:xfrm>
          <a:off x="841248" y="1325880"/>
          <a:ext cx="1049731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2331720"/>
                <a:gridCol w="2331720"/>
                <a:gridCol w="914400"/>
                <a:gridCol w="822960"/>
                <a:gridCol w="1188720"/>
                <a:gridCol w="117043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 모델 (이전 = 수정 후)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 같음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1등 값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후보 집합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변화 평균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변화 최대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r>
                        <a:rPr lang="ko-KR" altLang="en-US" sz="1100" b="1" baseline="0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GARCH·(1,0)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0.5783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 (13개)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0.2538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1개 교체 (14개)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 (2개)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0.7285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 (6개)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 (3개)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0.5527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 (5개)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단위 상수를 전체 표준편차에서 origin별 훈련 구간 표준편차로 바꿔 다시 계산 (미래 정보 제거)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모델은 6개 변수 모두 같고, 후보 집합은 X6만 1개 바뀜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조합의 점수는 일부 변함 (금 수요 CRPS 0.6213 -&gt; 0.6228, X4 커버리지 90.9% -&gt; 87.5%)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리샘플링 시드를 42로 통일 -&gt; X1의 선정만 SV에서 GARCH로 바뀜 (동점에 가까움)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단위 상수를 바꿔도 선정은 같고, 시드 통일로 X1만 바뀐다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X3: 모델별 선정과 전체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2" cy="2514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2926080"/>
                <a:gridCol w="3108960"/>
                <a:gridCol w="1280160"/>
                <a:gridCol w="1536192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범위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1등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(0,0) 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0.6081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(1,0)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세 모델 전체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GARCH·(1,0) 원·리샘플링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160520"/>
            <a:ext cx="10515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구현 검증: (d, D) = (1, 0) 조합이 이전 저장 결과와 거의 일치 (CRPS 차이 0.008 이내)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전체 48개 중 CRPS 1등의 ±10% 이내 13개 (AR단독 6, GARCH 4, SV 3)이고 D=1은 없다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전체 선정은 이전 분석의 선정 모델(GARCH, 원 스케일, 리샘플링)과 같다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SV는 (d, D) = (0, 0)에서 불안정하다 (후반 슬라이드 참고)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(d, D)와 계절 차분을 확장해도 이전에 선정한 모델이 그대로 1등이다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X3: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3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GARCH  (d, D) = (1, 0)  원 스케일  리샘플링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0.6228, MSE 1.067, 커버리지 84.1%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SV (1, 0) 원 자체 (CRPS 0.5783), 그 +10% 이내가 13개 / 전체 48개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1~2위 모두 리샘플링 구간이고 커버리지 차이는 2.3%p다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X3의 선정 모델은 GARCH·(1,0)·원·리샘플링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X6: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6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SV  (d, D) = (1, 0)  원 스케일  자체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0.2724, MSE 0.240, 커버리지 90.0%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AR단독 (0, 1) 로그 자체 (CRPS 0.2538), 그 +10% 이내가 14개 / 전체 48개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상위 3개는 커버리지가 89~91%, CRPS가 모두 0.27로 거의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X6의 선정 모델은 SV·(1,0)·원·자체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X2: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AR단독  (d, D) = (0, 0)  원 스케일  자체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0.5248, MSE 0.907, 커버리지 78.4%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AR단독 (0, 0) 원 자체 (CRPS 0.5248), 그 +10% 이내가 2개 / 전체 24개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후보가 2개뿐이고 CRPS 1등이 그대로 선정된다 (변동성 모형의 이득이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X2의 선정 모델은 AR단독·(0,0)·원·자체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X1: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1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GARCH  (d, D) = (0, 0)  원 스케일  리샘플링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0.7453, MSE 1.545, 커버리지 82.1%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AR단독 (0, 0) 원 자체 (CRPS 0.7285), 그 +10% 이내가 6개 / 전체 24개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GARCH와 SV 리샘플링은 CRPS 0.7453, 0.7455로 같고 커버리지 82.1%, 81.0%로 사실상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X1의 선정 모델은 GARCH·(0,0)·원·리샘플링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X5: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5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GARCH  (d, D) = (0, 0)  로그 스케일  자체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0.7116, MSE 1.895, 커버리지 86.9%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GARCH (0, 0) 로그 자체 (CRPS 0.7116), 그 +10% 이내가 3개 / 전체 48개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1등과 선정이 같고 후보는 3개뿐이다 (로그 스케일이 선정됨)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X5의 선정 모델은 GARCH·(0,0)·로그·자체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X4: 1단계 통과 조합과 선정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sel_X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188720"/>
            <a:ext cx="9326880" cy="30850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429768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선정 모델: GARCH  (d, D) = (0, 0)  원 스케일  리샘플링 구간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선정 조합: CRPS 0.5918, MSE 0.916, 커버리지 87.5%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CRPS 1등: GARCH (0, 0) 원 자체 (CRPS 0.5527), 그 +10% 이내가 5개 / 전체 24개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커버리지 87.5%로 후보 중 목표 90%에 가장 가깝다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X4의 선정 모델은 GARCH·(0,0)·원·리샘플링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6. 모델 비교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변수별 최종 선정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069169"/>
              </p:ext>
            </p:extLst>
          </p:nvPr>
        </p:nvGraphicFramePr>
        <p:xfrm>
          <a:off x="841248" y="1325880"/>
          <a:ext cx="10497312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2331720"/>
                <a:gridCol w="2331720"/>
                <a:gridCol w="914400"/>
                <a:gridCol w="822960"/>
                <a:gridCol w="1188720"/>
                <a:gridCol w="117043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 1등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선정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커버리지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Crps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10% </a:t>
                      </a:r>
                      <a:r>
                        <a:rPr lang="ko-KR" altLang="en-US" sz="1100" b="1" baseline="0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개수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GARCH·(1,0)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0.6228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13/48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AR단독·(0,1) 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0.2724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0.240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90.0%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14/48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0.5248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78.4%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2/24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0.7453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1.545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6/24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0.7116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1.895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3/48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 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0.5918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87.5%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5/24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846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모델은 변수마다 갈리고 (AR단독 1, GARCH 4, SV 1) 상위 후보 간 CRPS 차이는 대부분 5% 이내다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CRPS 1등과 선정이 같은 변수는 X2, X5 2개뿐 (나머지는 커버리지 기준으로 갈림)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선정은 6개 변수 모두 D=0이고, 모델과 구간 종류는 변수마다 다르다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7. 계절성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수치 테스트: 6개 변수 모두 계절성 신호가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466025"/>
              </p:ext>
            </p:extLst>
          </p:nvPr>
        </p:nvGraphicFramePr>
        <p:xfrm>
          <a:off x="841248" y="1325880"/>
          <a:ext cx="10497312" cy="3124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/>
                <a:gridCol w="1645920"/>
                <a:gridCol w="1466919"/>
                <a:gridCol w="1228437"/>
                <a:gridCol w="1328004"/>
                <a:gridCol w="1371600"/>
                <a:gridCol w="1536192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  <a:endParaRPr sz="11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ACF 시차4 (한계)</a:t>
                      </a:r>
                    </a:p>
                  </a:txBody>
                  <a:tcPr anchor="ctr">
                    <a:solidFill>
                      <a:srgbClr val="6F96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분기 평균 F 검정 p</a:t>
                      </a:r>
                    </a:p>
                  </a:txBody>
                  <a:tcPr anchor="ctr">
                    <a:solidFill>
                      <a:srgbClr val="6F96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OCSB</a:t>
                      </a:r>
                      <a:endParaRPr lang="en-US" sz="1100" b="1" dirty="0" smtClean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  <a:p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계절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차분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6F96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CH</a:t>
                      </a:r>
                      <a:endParaRPr lang="en-US" sz="1100" b="1" dirty="0" smtClean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  <a:p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계절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차분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필요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6F96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신호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lang="en-US" sz="1100" b="1" dirty="0" smtClean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  <a:p>
                      <a:r>
                        <a:rPr sz="1100" b="1" dirty="0" smtClean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위 4가지 중)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D=1 CRPS 변화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신호 기준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|값| &gt; 괄호 안 한계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p &lt; 0.05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1이면 신호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1이면 신호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4가지 중 해당 개수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신호 아님 (참고)</a:t>
                      </a:r>
                    </a:p>
                  </a:txBody>
                  <a:tcPr anchor="ctr">
                    <a:solidFill>
                      <a:srgbClr val="EEF0F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-0.23 (0.26)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0.97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 (0.25)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0.18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0.19 (0.25)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-0.25 (0.26)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0.97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-0.02 (0.26)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0.30 (0.25)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0.99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0</a:t>
                      </a:r>
                    </a:p>
                  </a:txBody>
                  <a:tcPr anchor="ctr">
                    <a:solidFill>
                      <a:srgbClr val="E3ED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+34%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1248" y="4709160"/>
            <a:ext cx="1051560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청록색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열 4개가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신호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포함되는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검정이다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붉은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칸이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신호로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잡힌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값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).</a:t>
            </a:r>
            <a:endParaRPr lang="en-US" sz="12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ko-KR" altLang="en-US"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</a:t>
            </a:r>
            <a:r>
              <a:rPr lang="ko-KR" altLang="en-US" sz="12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선정된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d로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시계열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(d=1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1차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, d=0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수준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그대로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에서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본다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.</a:t>
            </a:r>
            <a:endParaRPr lang="en-US" sz="12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lang="ko-KR" altLang="en-US"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</a:t>
            </a:r>
            <a:r>
              <a:rPr lang="ko-KR" altLang="en-US" sz="1200" b="1" dirty="0" smtClean="0">
                <a:solidFill>
                  <a:srgbClr val="6F9692"/>
                </a:solidFill>
                <a:latin typeface="맑은 고딕"/>
                <a:ea typeface="맑은 고딕"/>
              </a:rPr>
              <a:t> 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4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분기 합,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증가율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비중이라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패턴이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상쇄된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것으로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본다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X4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ACF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시차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4가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한계를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조금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넘지만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나머지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세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테스트는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없다고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본다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.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성능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(D=0)도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결과로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6개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일치</a:t>
            </a: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수치 테스트와 모델 선정이 모두 D=0으로 일치한다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8. SV 안정성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SV는 d를 잘못 고르면 σ가 폭주한다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325880"/>
          <a:ext cx="10497311" cy="15361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1840"/>
                <a:gridCol w="5120640"/>
                <a:gridCol w="2084831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 (판정)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(d, D) = (0, 0)에서의 SV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d=0이 맞는가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 (d=1)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조합 CRPS 무한대(inf), 원 스케일도 후반 origin 구간 폭 12~15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맞지 않음 (단위근)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 (d=1)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로그 2개 조합 CRPS 계산 불가 (발산)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맞지 않음 (단위근)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X2, X1, X5, 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발산 0개 (X1는 SV가 후보에 들기도 함)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맞음 (d=0)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69480" y="2971800"/>
            <a:ext cx="4069080" cy="1577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폭주는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단위근이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있는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d=0을 쓴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조합에서만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나타난다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-&gt;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차분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판정이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쓰지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말라고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한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조합</a:t>
            </a:r>
            <a:endParaRPr lang="en-US" sz="12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2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σ에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상한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안전장치를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더하지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않고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발산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조합은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선정에서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제외하고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한계로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기록한다</a:t>
            </a:r>
            <a:endParaRPr lang="en-US" sz="120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이미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phi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상한이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있고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상한을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더하면</a:t>
            </a:r>
            <a: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200" dirty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sz="12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데이터</a:t>
            </a:r>
            <a:r>
              <a:rPr sz="12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신뢰도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문제를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2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가린다</a:t>
            </a:r>
            <a:r>
              <a:rPr sz="12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43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폭주는 모델 문제가 아니라 d 선택의 신호이므로 추가 장치를 넣지 않는다</a:t>
            </a:r>
          </a:p>
        </p:txBody>
      </p:sp>
      <p:pic>
        <p:nvPicPr>
          <p:cNvPr id="11" name="Picture 10" descr="sv_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926080"/>
            <a:ext cx="6309360" cy="24473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8" y="544068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그림: X3, SV의 (d, D)별 CRPS와 MSE (주황 계열 = 로그 스케일). (0,0) 로그 조합은 CRPS가 무한대(inf)로 폭주해 막대를 잘라 표시했다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9. 보정 시험 (참고)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점예측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2300" b="1" dirty="0" err="1">
                <a:solidFill>
                  <a:srgbClr val="172033"/>
                </a:solidFill>
                <a:latin typeface="맑은 고딕"/>
                <a:ea typeface="맑은 고딕"/>
              </a:rPr>
              <a:t>보정</a:t>
            </a:r>
            <a:r>
              <a:rPr sz="2300" b="1" dirty="0">
                <a:solidFill>
                  <a:srgbClr val="172033"/>
                </a:solidFill>
                <a:latin typeface="맑은 고딕"/>
                <a:ea typeface="맑은 고딕"/>
              </a:rPr>
              <a:t>(smearing</a:t>
            </a:r>
            <a:r>
              <a:rPr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  <a:r>
              <a:rPr lang="en-US" sz="2300" b="1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lang="ko-KR" altLang="en-US" sz="2300" b="1" dirty="0" smtClean="0">
                <a:solidFill>
                  <a:srgbClr val="172033"/>
                </a:solidFill>
                <a:latin typeface="맑은 고딕"/>
                <a:ea typeface="맑은 고딕"/>
              </a:rPr>
              <a:t>실험</a:t>
            </a:r>
            <a:endParaRPr sz="2300" b="1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25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로그 스케일의 점예측 exp(μ)는 중앙값이라 기댓값 exp(μ + σ²/2)보다 낮다 (구간과 CRPS에는 영향 없음)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smearing: 과거 오차의 exp(오차) 평균 S를 점예측에 곱해 기댓값으로 보정 (분포 가정 없음)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" y="2286000"/>
          <a:ext cx="10497312" cy="1783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/>
                <a:gridCol w="2011680"/>
                <a:gridCol w="2011680"/>
                <a:gridCol w="2011680"/>
                <a:gridCol w="1993392"/>
              </a:tblGrid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 (선정 구조)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모델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 중앙값(기존)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MSE smearing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변화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 (1,0)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GARCH / 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1.345 / 1.057 / 1.053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2.491 / 1.477 / 1.375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+85% / +40% / +31%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 (0,0)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 / GARCH / 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1.930 / 1.895 / 2.531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2.391 / 2.108 / 4.007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+24% / +11% / +58%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41248" y="4343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선정된 구조에서는 중앙값 점예측이 이미 거의 무편향이라 보정 계수 S(1.1~1.3)가 과대 예측을 만든다</a:t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300" b="0">
                <a:solidFill>
                  <a:srgbClr val="172033"/>
                </a:solidFill>
                <a:latin typeface="맑은 고딕"/>
                <a:ea typeface="맑은 고딕"/>
              </a:rPr>
              <a:t>차분을 하지 않은 구조(d=0)의 X3에서는 17~24% 개선되지만 선정 구조가 아니다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선정된 구조에서는 보정이 오히려 나빠져 도입하지 않는다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8. 변동성 민감도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변동성이 큰 구간은 어디인가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pic>
        <p:nvPicPr>
          <p:cNvPr id="7" name="Picture 6" descr="vol_se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097280"/>
            <a:ext cx="9326880" cy="44944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" y="5550408"/>
            <a:ext cx="10515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= 각 origin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직전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8분기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변화량의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표준편차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변수마다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채점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origin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전체의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중앙값보다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크면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'큰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1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'.</a:t>
            </a:r>
            <a:r>
              <a:rPr lang="en-US" sz="11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1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sz="11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주황</a:t>
            </a:r>
            <a:r>
              <a:rPr sz="11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점선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=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그런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origin(그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origin의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훈련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마지막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분기에서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다음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100" b="0" dirty="0" err="1">
                <a:solidFill>
                  <a:srgbClr val="172033"/>
                </a:solidFill>
                <a:latin typeface="맑은 고딕"/>
                <a:ea typeface="맑은 고딕"/>
              </a:rPr>
              <a:t>분기까지의</a:t>
            </a:r>
            <a:r>
              <a:rPr sz="1100" b="0" dirty="0">
                <a:solidFill>
                  <a:srgbClr val="172033"/>
                </a:solidFill>
                <a:latin typeface="맑은 고딕"/>
                <a:ea typeface="맑은 고딕"/>
              </a:rPr>
              <a:t> 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80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변동성이 큰 구간은 대체로 2020~2024년의 급등락 구간이다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8. 변동성 민감도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변동성이 큰 구간만 보면 선정이 달라진다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41248" y="1325880"/>
          <a:ext cx="10497312" cy="3401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45920"/>
                <a:gridCol w="1371600"/>
                <a:gridCol w="3108960"/>
                <a:gridCol w="2011680"/>
                <a:gridCol w="1737360"/>
                <a:gridCol w="621792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변수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전체 origin
(훈련 끝 분기)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변동성 큰 origin
(훈련 끝 분기)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전체 선정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변동성 큰 구간 선정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anchor="ctr">
                    <a:solidFill>
                      <a:srgbClr val="1720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
(19Q3~24Q4)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11개
(20Q3, 21Q4, 22Q4~24Q4)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GARCH·(1,0)·원·리샘플링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25개
(18Q4~24Q4)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12개
(21Q1~22Q1, 23Q2~24Q4)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SV·(1,0)·원·자체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GARCH·(1,0)·로그·자체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
(19Q3~24Q4)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11개
(22Q2~24Q4)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21개
(19Q4~24Q4)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10개
(21Q2~21Q3, 22Q1, 22Q3~24Q1)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GARCH·(0,0)·원·리샘플링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AR단독·(0,0)·원·자체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21개
(19Q4~24Q4)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10개
(20Q3~22Q2, 22Q4~23Q1)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GARCH·(0,0)·로그·자체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GARCH·(0,0)·로그·자체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같음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X4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22개
(19Q3~24Q4)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11개
(19Q3, 20Q2, 21Q2~22Q2, 23Q4~24Q3)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GARCH·(0,0)·원·리샘플링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033"/>
                          </a:solidFill>
                          <a:latin typeface="맑은 고딕"/>
                          <a:ea typeface="맑은 고딕"/>
                        </a:rPr>
                        <a:t>GARCH·(1,0)·원·자체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D62728"/>
                          </a:solidFill>
                          <a:latin typeface="맑은 고딕"/>
                          <a:ea typeface="맑은 고딕"/>
                        </a:rPr>
                        <a:t>다름</a:t>
                      </a:r>
                    </a:p>
                  </a:txBody>
                  <a:tcPr anchor="ctr">
                    <a:solidFill>
                      <a:srgbClr val="FFECE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6개 중 4개의 선정 조합이 바뀐다. 다만 (d, D)는 X4(d=0에서 d=1로)을 빼고 같고, 나머지는 모델이나 구간 종류가 바뀌는 정도다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큰 구간은 변수마다 origin이 10~12개뿐이라 선정이 불안정한 영향이 크다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200" b="0">
                <a:solidFill>
                  <a:srgbClr val="172033"/>
                </a:solidFill>
                <a:latin typeface="맑은 고딕"/>
                <a:ea typeface="맑은 고딕"/>
              </a:rPr>
              <a:t>각 origin은 데이터 시작(11Q1, 11Q2, 10Q2)부터 '훈련 끝 분기'까지로 적합하고 그다음 4분기를 예측해 채점한다. 표의 분기는 훈련 끝 분기다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2728"/>
                </a:solidFill>
                <a:latin typeface="맑은 고딕"/>
                <a:ea typeface="맑은 고딕"/>
              </a:rPr>
              <a:t>결론: (d, D) 구조는 안정적이지만 모델과 구간 종류의 선정은 변동성 구간에 민감하다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502920"/>
            <a:ext cx="82296" cy="502920"/>
          </a:xfrm>
          <a:prstGeom prst="rect">
            <a:avLst/>
          </a:prstGeom>
          <a:solidFill>
            <a:srgbClr val="6F96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4480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97386"/>
                </a:solidFill>
                <a:latin typeface="맑은 고딕"/>
                <a:ea typeface="맑은 고딕"/>
              </a:rPr>
              <a:t>10.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858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72033"/>
                </a:solidFill>
                <a:latin typeface="맑은 고딕"/>
                <a:ea typeface="맑은 고딕"/>
              </a:rPr>
              <a:t>한계와 남은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001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주요변수별 모델 선정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97386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371600"/>
            <a:ext cx="10515600" cy="3436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한계</a:t>
            </a:r>
            <a:endParaRPr sz="1500" b="1" dirty="0">
              <a:solidFill>
                <a:srgbClr val="6F9692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d를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데이터로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정해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d=1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X3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X6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)에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백테스트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낙관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편향이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수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있다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평균식이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AR로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제한된다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GARCH와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SV가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MA를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지원하지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않음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).</a:t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4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분기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합과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전년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대비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증가율은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구성상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MA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구조가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생길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수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있다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표본이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59~63개라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단위근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,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검정력이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낮다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. '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계절성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없음'은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'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있다는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증거가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없음'이다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로그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스케일의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점예측은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중앙값이다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구간과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CRPS에는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영향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없음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변동성이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큰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구간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(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변수마다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origin 10~12개)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만으로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다시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선정하면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6개 중 4개의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조합이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>바뀐다</a:t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	</a:t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>((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d, D)는 X4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빼고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같음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).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 모델은 변동성 구간에 민감하다</a:t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4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dirty="0">
                <a:solidFill>
                  <a:srgbClr val="172033"/>
                </a:solidFill>
                <a:latin typeface="맑은 고딕"/>
                <a:ea typeface="맑은 고딕"/>
              </a:rPr>
            </a:b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선정이 채점 구간 전체의 결과로 이뤄졌고 발표 시차와 데이터 수정은 반영하지 않았다 (점수가 낙관적일 수 있음)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b="0" dirty="0" smtClean="0">
                <a:solidFill>
                  <a:srgbClr val="172033"/>
                </a:solidFill>
                <a:latin typeface="맑은 고딕"/>
                <a:ea typeface="맑은 고딕"/>
              </a:rPr>
            </a:br>
            <a:r>
              <a:rPr lang="en-US" sz="1400" dirty="0">
                <a:solidFill>
                  <a:srgbClr val="172033"/>
                </a:solidFill>
                <a:latin typeface="맑은 고딕"/>
                <a:ea typeface="맑은 고딕"/>
              </a:rPr>
              <a:t/>
            </a:r>
            <a:br>
              <a:rPr lang="en-US" sz="1400" dirty="0">
                <a:solidFill>
                  <a:srgbClr val="172033"/>
                </a:solidFill>
                <a:latin typeface="맑은 고딕"/>
                <a:ea typeface="맑은 고딕"/>
              </a:rPr>
            </a:br>
            <a:endParaRPr lang="en-US" sz="1400" b="0" dirty="0" smtClean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  <a:p>
            <a:pPr>
              <a:spcAft>
                <a:spcPts val="500"/>
              </a:spcAft>
            </a:pP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●  </a:t>
            </a:r>
            <a:r>
              <a:rPr sz="1500" b="1" dirty="0" err="1">
                <a:solidFill>
                  <a:srgbClr val="6F9692"/>
                </a:solidFill>
                <a:latin typeface="맑은 고딕"/>
                <a:ea typeface="맑은 고딕"/>
              </a:rPr>
              <a:t>남은</a:t>
            </a:r>
            <a:r>
              <a:rPr sz="1500" b="1" dirty="0">
                <a:solidFill>
                  <a:srgbClr val="6F9692"/>
                </a:solidFill>
                <a:latin typeface="맑은 고딕"/>
                <a:ea typeface="맑은 고딕"/>
              </a:rPr>
              <a:t> 일</a:t>
            </a:r>
          </a:p>
          <a:p>
            <a:pPr>
              <a:spcAft>
                <a:spcPts val="500"/>
              </a:spcAft>
            </a:pPr>
            <a:r>
              <a:rPr sz="1400" b="1" dirty="0">
                <a:solidFill>
                  <a:srgbClr val="172033"/>
                </a:solidFill>
                <a:latin typeface="맑은 고딕"/>
                <a:ea typeface="맑은 고딕"/>
              </a:rPr>
              <a:t>- 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변수별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선정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모델을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가격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시나리오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계산에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반영할지</a:t>
            </a:r>
            <a:r>
              <a:rPr sz="1400" b="0" dirty="0">
                <a:solidFill>
                  <a:srgbClr val="172033"/>
                </a:solidFill>
                <a:latin typeface="맑은 고딕"/>
                <a:ea typeface="맑은 고딕"/>
              </a:rPr>
              <a:t> </a:t>
            </a:r>
            <a:r>
              <a:rPr sz="1400" b="0" dirty="0" err="1">
                <a:solidFill>
                  <a:srgbClr val="172033"/>
                </a:solidFill>
                <a:latin typeface="맑은 고딕"/>
                <a:ea typeface="맑은 고딕"/>
              </a:rPr>
              <a:t>결정</a:t>
            </a:r>
            <a:endParaRPr sz="1400" b="0" dirty="0">
              <a:solidFill>
                <a:srgbClr val="172033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3353</Words>
  <Application>Microsoft Office PowerPoint</Application>
  <PresentationFormat>와이드스크린</PresentationFormat>
  <Paragraphs>571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Administrator</cp:lastModifiedBy>
  <cp:revision>25</cp:revision>
  <dcterms:created xsi:type="dcterms:W3CDTF">2013-01-27T09:14:16Z</dcterms:created>
  <dcterms:modified xsi:type="dcterms:W3CDTF">2026-10-15T06:30:01Z</dcterms:modified>
  <cp:category/>
</cp:coreProperties>
</file>