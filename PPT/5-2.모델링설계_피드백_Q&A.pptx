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66" r:id="rId5"/>
    <p:sldId id="259" r:id="rId6"/>
    <p:sldId id="274" r:id="rId7"/>
    <p:sldId id="260" r:id="rId8"/>
    <p:sldId id="267" r:id="rId9"/>
    <p:sldId id="261" r:id="rId10"/>
    <p:sldId id="262" r:id="rId11"/>
    <p:sldId id="263" r:id="rId12"/>
    <p:sldId id="264" r:id="rId13"/>
    <p:sldId id="269" r:id="rId14"/>
    <p:sldId id="270" r:id="rId15"/>
    <p:sldId id="272" r:id="rId16"/>
    <p:sldId id="271" r:id="rId17"/>
    <p:sldId id="273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96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514600"/>
            <a:ext cx="109728" cy="822960"/>
          </a:xfrm>
          <a:prstGeom prst="rect">
            <a:avLst/>
          </a:prstGeom>
          <a:solidFill>
            <a:srgbClr val="EF6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9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맑은 고딕"/>
              </a:rPr>
              <a:t>모델링 설계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54680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맑은 고딕"/>
              </a:rPr>
              <a:t>커버리지 생성 과정 · 역차분 · 차분 비교 · CRPS 계산방식 상세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40127" y="5767185"/>
            <a:ext cx="9928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6F9692"/>
                </a:solidFill>
                <a:latin typeface="맑은 고딕"/>
              </a:rPr>
              <a:t>박민수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1. 커버리지 생성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예측구간 커버리지 -- 2단계로 만든다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모델링 설계 Q&amp;A -- 커버리지·역차분·CRPS 상세 (6-1)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00000"/>
            <a:ext cx="1050000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1단계 --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예측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분포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만들기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 marL="285750" indent="-285750">
              <a:spcAft>
                <a:spcPts val="800"/>
              </a:spcAft>
              <a:buFontTx/>
              <a:buChar char="-"/>
            </a:pPr>
            <a:r>
              <a:rPr lang="ko-KR" altLang="en-US" sz="1500" b="1" dirty="0" smtClean="0">
                <a:solidFill>
                  <a:srgbClr val="172033"/>
                </a:solidFill>
                <a:latin typeface="맑은 고딕"/>
              </a:rPr>
              <a:t>과거의 데이터로 현재의 값 샘플링</a:t>
            </a:r>
            <a:endParaRPr lang="en-US" altLang="ko-KR" sz="1500" b="1" dirty="0" smtClean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lang="en-US" altLang="ko-KR" sz="1500" b="1" dirty="0">
                <a:solidFill>
                  <a:srgbClr val="172033"/>
                </a:solidFill>
                <a:latin typeface="맑은 고딕"/>
              </a:rPr>
              <a:t>	</a:t>
            </a:r>
            <a:r>
              <a:rPr lang="en-US" altLang="ko-KR" sz="1500" b="1" dirty="0" smtClean="0">
                <a:solidFill>
                  <a:srgbClr val="172033"/>
                </a:solidFill>
                <a:latin typeface="맑은 고딕"/>
              </a:rPr>
              <a:t>: </a:t>
            </a:r>
            <a:r>
              <a:rPr lang="ko-KR" altLang="en-US" sz="1500" b="1" dirty="0" smtClean="0">
                <a:solidFill>
                  <a:srgbClr val="172033"/>
                </a:solidFill>
                <a:latin typeface="맑은 고딕"/>
              </a:rPr>
              <a:t>과거의 오차배열에서 </a:t>
            </a:r>
            <a:r>
              <a:rPr lang="en-US" altLang="ko-KR" sz="1500" b="1" dirty="0" smtClean="0">
                <a:solidFill>
                  <a:srgbClr val="172033"/>
                </a:solidFill>
                <a:latin typeface="맑은 고딕"/>
              </a:rPr>
              <a:t>600</a:t>
            </a:r>
            <a:r>
              <a:rPr lang="ko-KR" altLang="en-US" sz="1500" b="1" dirty="0" smtClean="0">
                <a:solidFill>
                  <a:srgbClr val="172033"/>
                </a:solidFill>
                <a:latin typeface="맑은 고딕"/>
              </a:rPr>
              <a:t>개 복원추출 </a:t>
            </a:r>
            <a:r>
              <a:rPr lang="en-US" altLang="ko-KR" sz="1500" b="1" dirty="0" smtClean="0">
                <a:solidFill>
                  <a:srgbClr val="172033"/>
                </a:solidFill>
                <a:latin typeface="맑은 고딕"/>
              </a:rPr>
              <a:t>+ </a:t>
            </a:r>
            <a:r>
              <a:rPr lang="ko-KR" altLang="en-US" sz="1500" b="1" dirty="0" err="1" smtClean="0">
                <a:solidFill>
                  <a:srgbClr val="172033"/>
                </a:solidFill>
                <a:latin typeface="맑은 고딕"/>
              </a:rPr>
              <a:t>점예측</a:t>
            </a:r>
            <a:r>
              <a:rPr lang="en-US" altLang="ko-KR" sz="1500" b="1" dirty="0" smtClean="0">
                <a:solidFill>
                  <a:srgbClr val="172033"/>
                </a:solidFill>
                <a:latin typeface="맑은 고딕"/>
              </a:rPr>
              <a:t>(</a:t>
            </a:r>
            <a:r>
              <a:rPr lang="ko-KR" altLang="en-US" sz="1500" b="1" dirty="0" err="1" smtClean="0">
                <a:solidFill>
                  <a:srgbClr val="172033"/>
                </a:solidFill>
                <a:latin typeface="맑은 고딕"/>
              </a:rPr>
              <a:t>중심값</a:t>
            </a:r>
            <a:r>
              <a:rPr lang="en-US" altLang="ko-KR" sz="1500" b="1" dirty="0" smtClean="0">
                <a:solidFill>
                  <a:srgbClr val="172033"/>
                </a:solidFill>
                <a:latin typeface="맑은 고딕"/>
              </a:rPr>
              <a:t>)</a:t>
            </a:r>
            <a:r>
              <a:rPr lang="ko-KR" altLang="en-US" sz="1500" b="1" dirty="0" smtClean="0">
                <a:solidFill>
                  <a:srgbClr val="172033"/>
                </a:solidFill>
                <a:latin typeface="맑은 고딕"/>
              </a:rPr>
              <a:t> </a:t>
            </a:r>
            <a:endParaRPr lang="en-US" altLang="ko-KR" sz="1500" b="1" dirty="0" smtClean="0">
              <a:solidFill>
                <a:srgbClr val="172033"/>
              </a:solidFill>
              <a:latin typeface="맑은 고딕"/>
            </a:endParaRPr>
          </a:p>
          <a:p>
            <a:pPr marL="285750" indent="-285750">
              <a:spcAft>
                <a:spcPts val="800"/>
              </a:spcAft>
              <a:buFontTx/>
              <a:buChar char="-"/>
            </a:pPr>
            <a:endParaRPr lang="en-US" altLang="ko-KR" sz="1500" b="1" dirty="0" smtClean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lang="en-US" altLang="ko-KR" sz="1500" b="1" dirty="0" smtClean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1</a:t>
            </a:r>
            <a:r>
              <a:rPr lang="ko-KR" altLang="en-US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단계 </a:t>
            </a:r>
            <a:r>
              <a:rPr lang="ko-KR" altLang="en-US" sz="1500" b="1" dirty="0" err="1">
                <a:solidFill>
                  <a:schemeClr val="bg1">
                    <a:lumMod val="65000"/>
                  </a:schemeClr>
                </a:solidFill>
                <a:latin typeface="맑은 고딕"/>
              </a:rPr>
              <a:t>백테스트</a:t>
            </a: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: </a:t>
            </a:r>
            <a:r>
              <a:rPr lang="en-US" altLang="ko-KR" sz="1500" b="1" dirty="0" err="1">
                <a:solidFill>
                  <a:schemeClr val="bg1">
                    <a:lumMod val="65000"/>
                  </a:schemeClr>
                </a:solidFill>
                <a:latin typeface="맑은 고딕"/>
              </a:rPr>
              <a:t>err_t</a:t>
            </a: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 = </a:t>
            </a:r>
            <a:r>
              <a:rPr lang="ko-KR" altLang="en-US" sz="1500" b="1" dirty="0" err="1">
                <a:solidFill>
                  <a:schemeClr val="bg1">
                    <a:lumMod val="65000"/>
                  </a:schemeClr>
                </a:solidFill>
                <a:latin typeface="맑은 고딕"/>
              </a:rPr>
              <a:t>실제값</a:t>
            </a:r>
            <a:r>
              <a:rPr lang="ko-KR" altLang="en-US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 </a:t>
            </a: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- </a:t>
            </a:r>
            <a:r>
              <a:rPr lang="ko-KR" altLang="en-US" sz="1500" b="1" dirty="0" err="1">
                <a:solidFill>
                  <a:schemeClr val="bg1">
                    <a:lumMod val="65000"/>
                  </a:schemeClr>
                </a:solidFill>
                <a:latin typeface="맑은 고딕"/>
              </a:rPr>
              <a:t>예측값</a:t>
            </a:r>
            <a:r>
              <a:rPr lang="ko-KR" altLang="en-US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  </a:t>
            </a: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(</a:t>
            </a:r>
            <a:r>
              <a:rPr lang="ko-KR" altLang="en-US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각 </a:t>
            </a: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origin, h</a:t>
            </a:r>
            <a:r>
              <a:rPr lang="ko-KR" altLang="en-US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마다 하나씩</a:t>
            </a: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)</a:t>
            </a:r>
          </a:p>
          <a:p>
            <a:pPr>
              <a:spcAft>
                <a:spcPts val="800"/>
              </a:spcAft>
            </a:pP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      ↓</a:t>
            </a:r>
          </a:p>
          <a:p>
            <a:pPr>
              <a:spcAft>
                <a:spcPts val="800"/>
              </a:spcAft>
            </a:pPr>
            <a:r>
              <a:rPr lang="en-US" altLang="ko-KR" sz="1500" b="1" dirty="0" err="1">
                <a:solidFill>
                  <a:schemeClr val="bg1">
                    <a:lumMod val="65000"/>
                  </a:schemeClr>
                </a:solidFill>
                <a:latin typeface="맑은 고딕"/>
              </a:rPr>
              <a:t>err_df</a:t>
            </a: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 (</a:t>
            </a:r>
            <a:r>
              <a:rPr lang="ko-KR" altLang="en-US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모든 </a:t>
            </a: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origin</a:t>
            </a:r>
            <a:r>
              <a:rPr lang="ko-KR" altLang="en-US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의 </a:t>
            </a:r>
            <a:r>
              <a:rPr lang="en-US" altLang="ko-KR" sz="1500" b="1" dirty="0" err="1">
                <a:solidFill>
                  <a:schemeClr val="bg1">
                    <a:lumMod val="65000"/>
                  </a:schemeClr>
                </a:solidFill>
                <a:latin typeface="맑은 고딕"/>
              </a:rPr>
              <a:t>err_t</a:t>
            </a:r>
            <a:r>
              <a:rPr lang="ko-KR" altLang="en-US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를 모아둔 표</a:t>
            </a: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)</a:t>
            </a:r>
          </a:p>
          <a:p>
            <a:pPr>
              <a:spcAft>
                <a:spcPts val="800"/>
              </a:spcAft>
            </a:pP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      ↓</a:t>
            </a:r>
          </a:p>
          <a:p>
            <a:pPr>
              <a:spcAft>
                <a:spcPts val="800"/>
              </a:spcAft>
            </a:pPr>
            <a:r>
              <a:rPr lang="en-US" altLang="ko-KR" sz="1500" b="1" dirty="0" err="1">
                <a:solidFill>
                  <a:schemeClr val="bg1">
                    <a:lumMod val="65000"/>
                  </a:schemeClr>
                </a:solidFill>
                <a:latin typeface="맑은 고딕"/>
              </a:rPr>
              <a:t>calib</a:t>
            </a: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 = </a:t>
            </a:r>
            <a:r>
              <a:rPr lang="en-US" altLang="ko-KR" sz="1500" b="1" dirty="0" err="1">
                <a:solidFill>
                  <a:schemeClr val="bg1">
                    <a:lumMod val="65000"/>
                  </a:schemeClr>
                </a:solidFill>
                <a:latin typeface="맑은 고딕"/>
              </a:rPr>
              <a:t>err_df</a:t>
            </a:r>
            <a:r>
              <a:rPr lang="ko-KR" altLang="en-US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에서 </a:t>
            </a: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"</a:t>
            </a:r>
            <a:r>
              <a:rPr lang="ko-KR" altLang="en-US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지금 </a:t>
            </a: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origin</a:t>
            </a:r>
            <a:r>
              <a:rPr lang="ko-KR" altLang="en-US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보다 이전</a:t>
            </a: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"</a:t>
            </a:r>
            <a:r>
              <a:rPr lang="ko-KR" altLang="en-US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인 것만 필터</a:t>
            </a:r>
          </a:p>
          <a:p>
            <a:pPr>
              <a:spcAft>
                <a:spcPts val="800"/>
              </a:spcAft>
            </a:pPr>
            <a:r>
              <a:rPr lang="ko-KR" altLang="en-US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      ↓</a:t>
            </a:r>
          </a:p>
          <a:p>
            <a:pPr>
              <a:spcAft>
                <a:spcPts val="800"/>
              </a:spcAft>
            </a:pPr>
            <a:r>
              <a:rPr lang="en-US" altLang="ko-KR" sz="1500" b="1" dirty="0" err="1">
                <a:solidFill>
                  <a:schemeClr val="bg1">
                    <a:lumMod val="65000"/>
                  </a:schemeClr>
                </a:solidFill>
                <a:latin typeface="맑은 고딕"/>
              </a:rPr>
              <a:t>calib_resid_h</a:t>
            </a: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 = </a:t>
            </a:r>
            <a:r>
              <a:rPr lang="en-US" altLang="ko-KR" sz="1500" b="1" dirty="0" err="1">
                <a:solidFill>
                  <a:schemeClr val="bg1">
                    <a:lumMod val="65000"/>
                  </a:schemeClr>
                </a:solidFill>
                <a:latin typeface="맑은 고딕"/>
              </a:rPr>
              <a:t>calib</a:t>
            </a:r>
            <a:r>
              <a:rPr lang="ko-KR" altLang="en-US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에서 </a:t>
            </a: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"h</a:t>
            </a:r>
            <a:r>
              <a:rPr lang="ko-KR" altLang="en-US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가 같은 것</a:t>
            </a: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"</a:t>
            </a:r>
            <a:r>
              <a:rPr lang="ko-KR" altLang="en-US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만 필터  </a:t>
            </a: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&lt;- </a:t>
            </a:r>
            <a:r>
              <a:rPr lang="ko-KR" altLang="en-US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이게 </a:t>
            </a: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"</a:t>
            </a:r>
            <a:r>
              <a:rPr lang="ko-KR" altLang="en-US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과거 오차 배열</a:t>
            </a: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"</a:t>
            </a:r>
          </a:p>
          <a:p>
            <a:pPr>
              <a:spcAft>
                <a:spcPts val="800"/>
              </a:spcAft>
            </a:pPr>
            <a:r>
              <a:rPr lang="en-US" altLang="ko-KR" sz="1500" b="1" dirty="0" smtClean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      ↓</a:t>
            </a:r>
            <a:endParaRPr lang="en-US" altLang="ko-KR" sz="1500" b="1" dirty="0">
              <a:solidFill>
                <a:schemeClr val="bg1">
                  <a:lumMod val="65000"/>
                </a:schemeClr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lang="en-US" altLang="ko-KR" sz="1500" b="1" dirty="0" err="1">
                <a:solidFill>
                  <a:schemeClr val="bg1">
                    <a:lumMod val="65000"/>
                  </a:schemeClr>
                </a:solidFill>
                <a:latin typeface="맑은 고딕"/>
              </a:rPr>
              <a:t>rng.choice</a:t>
            </a: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(</a:t>
            </a:r>
            <a:r>
              <a:rPr lang="en-US" altLang="ko-KR" sz="1500" b="1" dirty="0" err="1">
                <a:solidFill>
                  <a:schemeClr val="bg1">
                    <a:lumMod val="65000"/>
                  </a:schemeClr>
                </a:solidFill>
                <a:latin typeface="맑은 고딕"/>
              </a:rPr>
              <a:t>calib_resid_h</a:t>
            </a:r>
            <a:r>
              <a:rPr lang="en-US" altLang="ko-KR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, ...)</a:t>
            </a:r>
            <a:r>
              <a:rPr lang="ko-KR" altLang="en-US" sz="1500" b="1" dirty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로 </a:t>
            </a:r>
            <a:r>
              <a:rPr lang="ko-KR" altLang="en-US" sz="1500" b="1" dirty="0" err="1" smtClean="0">
                <a:solidFill>
                  <a:schemeClr val="bg1">
                    <a:lumMod val="65000"/>
                  </a:schemeClr>
                </a:solidFill>
                <a:latin typeface="맑은 고딕"/>
              </a:rPr>
              <a:t>리샘플링</a:t>
            </a:r>
            <a:endParaRPr lang="ko-KR" altLang="en-US" sz="1500" b="1" dirty="0" smtClean="0">
              <a:solidFill>
                <a:schemeClr val="bg1">
                  <a:lumMod val="65000"/>
                </a:schemeClr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1. 커버리지 생성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예측구간 커버리지 -- 2단계로 만든다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모델링 설계 Q&amp;A -- 커버리지·역차분·CRPS 상세 (6-1)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dirty="0" smtClean="0">
                <a:solidFill>
                  <a:srgbClr val="697386"/>
                </a:solidFill>
                <a:latin typeface="맑은 고딕"/>
              </a:rPr>
              <a:t>3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8" y="1500000"/>
            <a:ext cx="10500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●  2단계 --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구간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지정</a:t>
            </a:r>
            <a:endParaRPr sz="1500" b="1" dirty="0" smtClean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 smtClean="0">
                <a:solidFill>
                  <a:srgbClr val="172033"/>
                </a:solidFill>
                <a:latin typeface="맑은 고딕"/>
              </a:rPr>
              <a:t>-  그 600개 </a:t>
            </a:r>
            <a:r>
              <a:rPr sz="1500" b="1" dirty="0" err="1" smtClean="0">
                <a:solidFill>
                  <a:srgbClr val="172033"/>
                </a:solidFill>
                <a:latin typeface="맑은 고딕"/>
              </a:rPr>
              <a:t>분포에서</a:t>
            </a:r>
            <a:r>
              <a:rPr sz="1500" b="1" dirty="0" smtClean="0">
                <a:solidFill>
                  <a:srgbClr val="172033"/>
                </a:solidFill>
                <a:latin typeface="맑은 고딕"/>
              </a:rPr>
              <a:t> 5% </a:t>
            </a:r>
            <a:r>
              <a:rPr sz="1500" b="1" dirty="0" err="1" smtClean="0">
                <a:solidFill>
                  <a:srgbClr val="172033"/>
                </a:solidFill>
                <a:latin typeface="맑은 고딕"/>
              </a:rPr>
              <a:t>위치</a:t>
            </a:r>
            <a:r>
              <a:rPr sz="1500" b="1" dirty="0" smtClean="0">
                <a:solidFill>
                  <a:srgbClr val="172033"/>
                </a:solidFill>
                <a:latin typeface="맑은 고딕"/>
              </a:rPr>
              <a:t> ~ 95% </a:t>
            </a:r>
            <a:r>
              <a:rPr sz="1500" b="1" dirty="0" err="1" smtClean="0">
                <a:solidFill>
                  <a:srgbClr val="172033"/>
                </a:solidFill>
                <a:latin typeface="맑은 고딕"/>
              </a:rPr>
              <a:t>위치</a:t>
            </a:r>
            <a:r>
              <a:rPr sz="15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 smtClean="0">
                <a:solidFill>
                  <a:srgbClr val="172033"/>
                </a:solidFill>
                <a:latin typeface="맑은 고딕"/>
              </a:rPr>
              <a:t>사이</a:t>
            </a:r>
            <a:r>
              <a:rPr sz="15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 smtClean="0">
                <a:solidFill>
                  <a:srgbClr val="172033"/>
                </a:solidFill>
                <a:latin typeface="맑은 고딕"/>
              </a:rPr>
              <a:t>점들을</a:t>
            </a:r>
            <a:r>
              <a:rPr sz="1500" b="1" dirty="0" smtClean="0">
                <a:solidFill>
                  <a:srgbClr val="172033"/>
                </a:solidFill>
                <a:latin typeface="맑은 고딕"/>
              </a:rPr>
              <a:t> 90% </a:t>
            </a:r>
            <a:r>
              <a:rPr sz="1500" b="1" dirty="0" err="1" smtClean="0">
                <a:solidFill>
                  <a:srgbClr val="172033"/>
                </a:solidFill>
                <a:latin typeface="맑은 고딕"/>
              </a:rPr>
              <a:t>예측구간</a:t>
            </a:r>
            <a:r>
              <a:rPr sz="1500" b="1" dirty="0" smtClean="0">
                <a:solidFill>
                  <a:srgbClr val="172033"/>
                </a:solidFill>
                <a:latin typeface="맑은 고딕"/>
              </a:rPr>
              <a:t>(lo, hi)</a:t>
            </a:r>
            <a:r>
              <a:rPr sz="1500" b="1" dirty="0" err="1" smtClean="0">
                <a:solidFill>
                  <a:srgbClr val="172033"/>
                </a:solidFill>
                <a:latin typeface="맑은 고딕"/>
              </a:rPr>
              <a:t>으로</a:t>
            </a:r>
            <a:r>
              <a:rPr sz="15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 smtClean="0">
                <a:solidFill>
                  <a:srgbClr val="172033"/>
                </a:solidFill>
                <a:latin typeface="맑은 고딕"/>
              </a:rPr>
              <a:t>지정</a:t>
            </a:r>
            <a:endParaRPr lang="en-US" sz="1500" b="1" dirty="0" smtClean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endParaRPr lang="en-US" sz="1500" b="1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lang="en-US" sz="1500" b="1" dirty="0" smtClean="0">
                <a:solidFill>
                  <a:srgbClr val="172033"/>
                </a:solidFill>
                <a:latin typeface="맑은 고딕"/>
              </a:rPr>
              <a:t>-  </a:t>
            </a:r>
            <a:r>
              <a:rPr lang="ko-KR" altLang="en-US" sz="1500" b="1" dirty="0" smtClean="0">
                <a:solidFill>
                  <a:srgbClr val="172033"/>
                </a:solidFill>
                <a:latin typeface="맑은 고딕"/>
              </a:rPr>
              <a:t>해당 모델이 다양한 예측시점</a:t>
            </a:r>
            <a:r>
              <a:rPr lang="en-US" altLang="ko-KR" sz="1500" b="1" dirty="0" smtClean="0">
                <a:solidFill>
                  <a:srgbClr val="172033"/>
                </a:solidFill>
                <a:latin typeface="맑은 고딕"/>
              </a:rPr>
              <a:t>(origin)</a:t>
            </a:r>
            <a:r>
              <a:rPr lang="ko-KR" altLang="en-US" sz="1500" b="1" dirty="0" smtClean="0">
                <a:solidFill>
                  <a:srgbClr val="172033"/>
                </a:solidFill>
                <a:latin typeface="맑은 고딕"/>
              </a:rPr>
              <a:t>에서의 예측구간 </a:t>
            </a:r>
            <a:r>
              <a:rPr lang="ko-KR" altLang="en-US" sz="1500" b="1" dirty="0" err="1" smtClean="0">
                <a:solidFill>
                  <a:srgbClr val="172033"/>
                </a:solidFill>
                <a:latin typeface="맑은 고딕"/>
              </a:rPr>
              <a:t>커버리지에</a:t>
            </a:r>
            <a:r>
              <a:rPr lang="ko-KR" altLang="en-US" sz="1500" b="1" dirty="0" smtClean="0">
                <a:solidFill>
                  <a:srgbClr val="172033"/>
                </a:solidFill>
                <a:latin typeface="맑은 고딕"/>
              </a:rPr>
              <a:t> 들어올 확률 </a:t>
            </a:r>
            <a:r>
              <a:rPr lang="en-US" altLang="ko-KR" sz="1500" b="1" dirty="0" smtClean="0">
                <a:solidFill>
                  <a:srgbClr val="172033"/>
                </a:solidFill>
                <a:latin typeface="맑은 고딕"/>
              </a:rPr>
              <a:t>-&gt; </a:t>
            </a:r>
            <a:r>
              <a:rPr lang="ko-KR" altLang="en-US" sz="1500" b="1" dirty="0" smtClean="0">
                <a:solidFill>
                  <a:srgbClr val="172033"/>
                </a:solidFill>
                <a:latin typeface="맑은 고딕"/>
              </a:rPr>
              <a:t>결과값으로 사용</a:t>
            </a:r>
            <a:endParaRPr sz="1500" b="1" dirty="0" smtClean="0">
              <a:solidFill>
                <a:srgbClr val="172033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89308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1. 커버리지 생성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origin이 뭔가 -- 매번 '그 시점까지만 안다'고 가정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모델링 설계 Q&amp;A -- 커버리지·역차분·CRPS 상세 (6-1)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>
                <a:solidFill>
                  <a:srgbClr val="697386"/>
                </a:solidFill>
                <a:latin typeface="맑은 고딕"/>
              </a:rPr>
              <a:t>4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8" y="1450000"/>
            <a:ext cx="105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origin =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과거의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특정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시점을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'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가짜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현재'로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놓고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예측을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시작하는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기준점</a:t>
            </a:r>
            <a:endParaRPr lang="en-US" sz="1500" b="1" dirty="0" smtClean="0">
              <a:solidFill>
                <a:srgbClr val="6F9692"/>
              </a:solidFill>
              <a:latin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32851" y="2100000"/>
            <a:ext cx="10334296" cy="4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origin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851" y="2145000"/>
            <a:ext cx="10244296" cy="401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1. 커버리지 생성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300" b="1" dirty="0" smtClean="0">
                <a:solidFill>
                  <a:srgbClr val="172033"/>
                </a:solidFill>
                <a:latin typeface="맑은 고딕"/>
              </a:rPr>
              <a:t>예측구간 커버리지 정확도 계산법 예시</a:t>
            </a:r>
            <a:endParaRPr sz="2300" b="1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모델링 설계 Q&amp;A -- 커버리지·역차분·CRPS 상세 (6-1)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>
                <a:solidFill>
                  <a:srgbClr val="697386"/>
                </a:solidFill>
                <a:latin typeface="맑은 고딕"/>
              </a:rPr>
              <a:t>5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8" y="1450000"/>
            <a:ext cx="10500000" cy="656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X3_l1 origin x h=88칸 중 66칸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적중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(75.0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%)</a:t>
            </a:r>
            <a:endParaRPr lang="en-US" sz="1500" b="1" dirty="0" smtClean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lang="en-US" altLang="ko-KR" sz="1500" b="1" dirty="0" smtClean="0">
                <a:solidFill>
                  <a:srgbClr val="172033"/>
                </a:solidFill>
                <a:latin typeface="맑은 고딕"/>
              </a:rPr>
              <a:t>- </a:t>
            </a:r>
            <a:r>
              <a:rPr lang="ko-KR" altLang="en-US" sz="1500" b="1" dirty="0" smtClean="0">
                <a:solidFill>
                  <a:srgbClr val="172033"/>
                </a:solidFill>
                <a:latin typeface="맑은 고딕"/>
              </a:rPr>
              <a:t>각 </a:t>
            </a:r>
            <a:r>
              <a:rPr lang="en-US" altLang="ko-KR" sz="1500" b="1" dirty="0" smtClean="0">
                <a:solidFill>
                  <a:srgbClr val="172033"/>
                </a:solidFill>
                <a:latin typeface="맑은 고딕"/>
              </a:rPr>
              <a:t>h </a:t>
            </a:r>
            <a:r>
              <a:rPr lang="ko-KR" altLang="en-US" sz="1500" b="1" dirty="0" smtClean="0">
                <a:solidFill>
                  <a:srgbClr val="172033"/>
                </a:solidFill>
                <a:latin typeface="맑은 고딕"/>
              </a:rPr>
              <a:t>마다 예측구간 </a:t>
            </a:r>
            <a:r>
              <a:rPr lang="ko-KR" altLang="en-US" sz="1500" b="1" dirty="0" err="1" smtClean="0">
                <a:solidFill>
                  <a:srgbClr val="172033"/>
                </a:solidFill>
                <a:latin typeface="맑은 고딕"/>
              </a:rPr>
              <a:t>커버리지에</a:t>
            </a:r>
            <a:r>
              <a:rPr lang="ko-KR" altLang="en-US" sz="1500" b="1" dirty="0" smtClean="0">
                <a:solidFill>
                  <a:srgbClr val="172033"/>
                </a:solidFill>
                <a:latin typeface="맑은 고딕"/>
              </a:rPr>
              <a:t> 들어갔는지에</a:t>
            </a:r>
            <a:r>
              <a:rPr lang="en-US" altLang="ko-KR"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lang="ko-KR" altLang="en-US" sz="1500" b="1" dirty="0" smtClean="0">
                <a:solidFill>
                  <a:srgbClr val="172033"/>
                </a:solidFill>
                <a:latin typeface="맑은 고딕"/>
              </a:rPr>
              <a:t>대한 퍼센티지</a:t>
            </a:r>
            <a:r>
              <a:rPr lang="en-US" altLang="ko-KR" sz="1500" b="1" dirty="0" smtClean="0">
                <a:solidFill>
                  <a:srgbClr val="172033"/>
                </a:solidFill>
                <a:latin typeface="맑은 고딕"/>
              </a:rPr>
              <a:t>(%)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39887" y="2100000"/>
            <a:ext cx="3720225" cy="4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origi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887" y="2145000"/>
            <a:ext cx="3630225" cy="421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dirty="0" smtClean="0">
                <a:solidFill>
                  <a:srgbClr val="697386"/>
                </a:solidFill>
                <a:latin typeface="맑은 고딕"/>
              </a:rPr>
              <a:t>1-1</a:t>
            </a:r>
            <a:r>
              <a:rPr sz="1200" b="1" dirty="0" smtClean="0">
                <a:solidFill>
                  <a:srgbClr val="697386"/>
                </a:solidFill>
                <a:latin typeface="맑은 고딕"/>
              </a:rPr>
              <a:t>. </a:t>
            </a:r>
            <a:r>
              <a:rPr sz="1200" b="1" dirty="0" err="1">
                <a:solidFill>
                  <a:srgbClr val="697386"/>
                </a:solidFill>
                <a:latin typeface="맑은 고딕"/>
              </a:rPr>
              <a:t>예측</a:t>
            </a:r>
            <a:r>
              <a:rPr sz="1200" b="1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697386"/>
                </a:solidFill>
                <a:latin typeface="맑은 고딕"/>
              </a:rPr>
              <a:t>과정</a:t>
            </a:r>
            <a:endParaRPr sz="1200" b="1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각 모델의 설명변수 -- 전부 자기 자신뿐, 외생변수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모델링 설계 Q&amp;A -- 커버리지·역차분·CRPS 상세 (6-1)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>
                <a:solidFill>
                  <a:srgbClr val="697386"/>
                </a:solidFill>
                <a:latin typeface="맑은 고딕"/>
              </a:rPr>
              <a:t>6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8" y="1450000"/>
            <a:ext cx="105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13개 세부모델 함수 시그니처를 직접 확인 -- 전부 (values, h) 뿐, 외생 입력 자체가 불가능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다만 'values'가 실제로 뭘로 쓰이는지는 계열마다 다르다 (아래 표)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95847" y="2550000"/>
          <a:ext cx="10600000" cy="2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000"/>
                <a:gridCol w="4400000"/>
                <a:gridCol w="1600000"/>
              </a:tblGrid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설명변수 종류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자기 과거값을 직접 씀?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회귀-OLS/Ridge/Lasso/ElasticNet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자기 자신의 과거 2개 값(lag)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예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시계열-ARIMA(AIC/BIC)/Theta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없음 -- 자기상관 구조 자체를 직접 학습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해당없음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GP-RBF/Matern/RQ/RBF+Linear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시간 인덱스(몇 번째 시점인지)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아니오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510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공용모델 설계 원칙 -- 변수마다 다른 외생변수를 넣으면 '6개 변수에 하나의 방법' 목적과 충돌하기 때문에 처음부터 배제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2. 차분 -&gt; 역차분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차분을 쓰면 역차분도 반드시 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모델링 설계 Q&amp;A -- 커버리지·역차분·CRPS 상세 (6-1)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50000"/>
            <a:ext cx="105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Auto-ARIMA: 라이브러리가 내부적으로 자동 역차분 -- predict()가 바로 원래 레벨로 반환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수동 차분 실험: np.diff()로 직접 차분했기 때문에 level_forecast()로 명시적 역차분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95847" y="2650000"/>
          <a:ext cx="106000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/>
                <a:gridCol w="4700000"/>
                <a:gridCol w="4000000"/>
              </a:tblGrid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설정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역차분 공식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4분기 예측(레벨, X3_l1 예시)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무차분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c (차분 자체가 없어서 그대로)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480.7, 480.7, 480.7, 480.7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1차차분만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마지막값 + h*c (누적합 복원)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381.4, 391.5, 401.5, 411.6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계절차분만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작년 동분기값 + c (계절차분 복원)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423.5, 406.7, 399.5, 107.3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1차+계절차분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작년 동분기값 + 증분 + h*c (둘 다 복원)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374.0, 341.0, 317.5, 9.1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3. 변수별 차분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4가지 차분 설정의 실제 파라미터 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모델링 설계 Q&amp;A -- 커버리지·역차분·CRPS 상세 (6-1)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400000" y="1550000"/>
          <a:ext cx="9700000" cy="2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/>
                <a:gridCol w="2000000"/>
                <a:gridCol w="2100000"/>
                <a:gridCol w="1800000"/>
                <a:gridCol w="1200000"/>
              </a:tblGrid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설정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d(1차차분)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D(계절차분)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seasonal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m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기본(무차분)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False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1차차분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False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계절차분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True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둘다(1차+계절)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True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183126"/>
            <a:ext cx="105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d는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pm.auto_arima에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항상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넘기고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,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D는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계절차분이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있는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설정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(2개)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에서만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m=4(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분기데이터라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계절주기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=4)와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함께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넘긴다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p,q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계절이면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P,Q까지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)는 4가지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설정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전부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AIC로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자동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최적화된다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-- 즉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같은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모델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,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차분만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다르게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3. 변수별 차분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주요변수 6개 전부 -- 차분(d,D)을 4가지로 강제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모델링 설계 Q&amp;A -- 커버리지·역차분·CRPS 상세 (6-1)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5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같은 모델(Auto-ARIMA)에서 d,D만 고정 -- 6개 중 5개는 무차분이 최선, X6만 1차차분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1662" y="2050000"/>
            <a:ext cx="7636674" cy="4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iff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662" y="2095000"/>
            <a:ext cx="7546674" cy="42115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4. CRPS 계산방식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CRPS -- 리샘플링 500개로 계산하는 지금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모델링 설계 Q&amp;A -- 커버리지·역차분·CRPS 상세 (6-1)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50000"/>
            <a:ext cx="10500000" cy="365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1단계 --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예측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분포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만들기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점예측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(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fc_t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) + 그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시점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이전까지의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과거오차를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500번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복원추출해서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더함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-&gt;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샘플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500</a:t>
            </a:r>
            <a:r>
              <a:rPr sz="1500" b="1" dirty="0" smtClean="0">
                <a:solidFill>
                  <a:srgbClr val="172033"/>
                </a:solidFill>
                <a:latin typeface="맑은 고딕"/>
              </a:rPr>
              <a:t>개</a:t>
            </a:r>
            <a:endParaRPr lang="en-US" sz="1500" b="1" dirty="0" smtClean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endParaRPr sz="1500" b="1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2단계 -- CRPS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계산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properscoring.crps_ensemble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(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실제값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, 샘플500개)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호출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--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샘플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전체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(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모든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쌍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관계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)를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반영</a:t>
            </a:r>
            <a:endParaRPr sz="1500" b="1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공식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의미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: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평균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(|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샘플-실제값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|) - 0.5 x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평균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(|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샘플_i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-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샘플_j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|,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모든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쌍</a:t>
            </a:r>
            <a:r>
              <a:rPr sz="1500" b="1" dirty="0" smtClean="0">
                <a:solidFill>
                  <a:srgbClr val="172033"/>
                </a:solidFill>
                <a:latin typeface="맑은 고딕"/>
              </a:rPr>
              <a:t>)</a:t>
            </a:r>
            <a:endParaRPr lang="en-US" sz="1500" b="1" dirty="0" smtClean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lang="en-US" sz="1500" b="1" dirty="0">
                <a:solidFill>
                  <a:srgbClr val="172033"/>
                </a:solidFill>
                <a:latin typeface="맑은 고딕"/>
              </a:rPr>
              <a:t>	</a:t>
            </a:r>
            <a:r>
              <a:rPr sz="1500" b="1" dirty="0" smtClean="0">
                <a:solidFill>
                  <a:srgbClr val="172033"/>
                </a:solidFill>
                <a:latin typeface="맑은 고딕"/>
              </a:rPr>
              <a:t>--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정확도와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분포폭을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동시에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 smtClean="0">
                <a:solidFill>
                  <a:srgbClr val="172033"/>
                </a:solidFill>
                <a:latin typeface="맑은 고딕"/>
              </a:rPr>
              <a:t>벌점</a:t>
            </a:r>
            <a:endParaRPr lang="en-US" sz="1500" b="1" dirty="0" smtClean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endParaRPr sz="1500" b="1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3단계 --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정규화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+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평균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그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변수의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표준편차로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나눠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정규화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-&gt;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모든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h(1~4)·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모든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origin·모든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변수에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대해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평균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낸 게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최종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CRPS</a:t>
            </a: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N_SAMPLES=500은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직접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정한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고정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상수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--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수렴성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검증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코드는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별도로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없음</a:t>
            </a:r>
            <a:endParaRPr sz="1500" b="1" dirty="0">
              <a:solidFill>
                <a:srgbClr val="17203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4. CRPS 계산방식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CRPS -- 기존 방식 vs 분위수 근사법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모델링 설계 Q&amp;A -- 커버리지·역차분·CRPS 상세 (6-1)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50000"/>
            <a:ext cx="10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CRPS = 2 x 모든 분위수 tau에서의 pinball loss 적분 -- 분위수 근사법은 이걸 7개 지점(0.1~0.9)으로 표본화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같은 분포를 다르게 채점한 것뿐이라 값이 비슷하게 나온다 (차이 2.4%)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300000" y="2700000"/>
          <a:ext cx="9600000" cy="16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0000"/>
                <a:gridCol w="3000000"/>
              </a:tblGrid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방식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Auto-ARIMA(AIC) CRPS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기존(리샘플 500개 전체, crps_ensemble)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0.5183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분위수 근사(0.1~0.9, 7개 지점 pinball loss)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0.5305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5.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종합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모델링 설계 Q&amp;A -- 커버리지·역차분·CRPS 상세 (6-1)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00000"/>
            <a:ext cx="105000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ko-KR" altLang="en-US" sz="1600" dirty="0">
                <a:solidFill>
                  <a:srgbClr val="6F9692"/>
                </a:solidFill>
              </a:rPr>
              <a:t>①</a:t>
            </a:r>
            <a:r>
              <a:rPr lang="en-US" sz="1500" b="1" dirty="0" smtClean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커버리지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생성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: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점예측+리샘플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600개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분포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-&gt; 5~95%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구간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지정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-&gt; origin x h 532번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반복해서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적중률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계산</a:t>
            </a:r>
            <a:endParaRPr lang="en-US" sz="1500" b="1" dirty="0" smtClean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lang="ko-KR" altLang="en-US" sz="1600" dirty="0">
                <a:solidFill>
                  <a:srgbClr val="6F9692"/>
                </a:solidFill>
              </a:rPr>
              <a:t>② </a:t>
            </a:r>
            <a:r>
              <a:rPr lang="ko-KR" altLang="en-US" sz="1600" dirty="0" smtClean="0">
                <a:solidFill>
                  <a:srgbClr val="6F9692"/>
                </a:solidFill>
              </a:rPr>
              <a:t>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역차분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: Auto-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ARIMA는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라이브러리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내부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자동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,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수동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실험은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level_forecast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()로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직접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복원</a:t>
            </a:r>
            <a:endParaRPr lang="en-US" sz="1500" b="1" dirty="0" smtClean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lang="ko-KR" altLang="en-US" sz="1600" dirty="0">
                <a:solidFill>
                  <a:srgbClr val="6F9692"/>
                </a:solidFill>
              </a:rPr>
              <a:t>③</a:t>
            </a:r>
            <a:r>
              <a:rPr lang="en-US" sz="1500" b="1" dirty="0" smtClean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변수별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차분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비교</a:t>
            </a:r>
            <a:r>
              <a:rPr lang="en-US"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: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같은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모델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(Auto-ARIMA)로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d,D만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바꿔보니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6개 중 5개는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무차분이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최선</a:t>
            </a:r>
            <a:endParaRPr lang="en-US" sz="1500" b="1" dirty="0" smtClean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lang="ko-KR" altLang="en-US" sz="1600" dirty="0">
                <a:solidFill>
                  <a:srgbClr val="6F9692"/>
                </a:solidFill>
              </a:rPr>
              <a:t>④</a:t>
            </a:r>
            <a:r>
              <a:rPr lang="en-US" sz="1500" b="1" dirty="0" smtClean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CRPS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계산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: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리샘플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500개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전체로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crps_ensemble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--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분위수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근사법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(7개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지점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)과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비교해도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값이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비슷함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(2.4%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차이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6. AutoML 실행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 err="1" smtClean="0">
                <a:solidFill>
                  <a:srgbClr val="172033"/>
                </a:solidFill>
                <a:latin typeface="맑은 고딕"/>
              </a:rPr>
              <a:t>AutoML</a:t>
            </a:r>
            <a:r>
              <a:rPr sz="23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2300" b="1" dirty="0">
                <a:solidFill>
                  <a:srgbClr val="172033"/>
                </a:solidFill>
                <a:latin typeface="맑은 고딕"/>
              </a:rPr>
              <a:t>-- </a:t>
            </a:r>
            <a:r>
              <a:rPr sz="2300" b="1" dirty="0" err="1">
                <a:solidFill>
                  <a:srgbClr val="172033"/>
                </a:solidFill>
                <a:latin typeface="맑은 고딕"/>
              </a:rPr>
              <a:t>변수별</a:t>
            </a:r>
            <a:r>
              <a:rPr sz="23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172033"/>
                </a:solidFill>
                <a:latin typeface="맑은 고딕"/>
              </a:rPr>
              <a:t>최종</a:t>
            </a:r>
            <a:r>
              <a:rPr sz="23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172033"/>
                </a:solidFill>
                <a:latin typeface="맑은 고딕"/>
              </a:rPr>
              <a:t>선정</a:t>
            </a:r>
            <a:r>
              <a:rPr sz="23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172033"/>
                </a:solidFill>
                <a:latin typeface="맑은 고딕"/>
              </a:rPr>
              <a:t>결과</a:t>
            </a:r>
            <a:endParaRPr sz="2300" b="1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모델링 설계 Q&amp;A -- 커버리지·역차분·CRPS 상세 (6-1)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95847" y="1500000"/>
          <a:ext cx="10600000" cy="32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/>
                <a:gridCol w="3200000"/>
                <a:gridCol w="4200000"/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변수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선정 모델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근거(1위비율 vs E3)</a:t>
                      </a:r>
                    </a:p>
                  </a:txBody>
                  <a:tcPr marL="50000" marR="50000" marT="15000" marB="15000">
                    <a:solidFill>
                      <a:srgbClr val="172033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X1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ARIMA(AIC)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63.4% (E3 0.0%)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X2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ARIMA(BIC)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36.6% (E3 4.4%)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X3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GP-Matern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49.2% (E3 16.0%)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X4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E3(공용모델 유지)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뚜렷한 대체 후보 없음</a:t>
                      </a:r>
                    </a:p>
                  </a:txBody>
                  <a:tcPr marL="50000" marR="50000" marT="15000" marB="15000">
                    <a:solidFill>
                      <a:srgbClr val="FFECEB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X5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회귀-Lasso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50.6% (E3 10.0%)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X6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시계열-Theta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55.4% (E3 0.0%)</a:t>
                      </a:r>
                    </a:p>
                  </a:txBody>
                  <a:tcPr marL="50000" marR="50000" marT="15000" marB="1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900000"/>
            <a:ext cx="105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[다중비교 주의] 6개 중 5개가 동시에 교체됨 -- 변수마다 독립적으로 비교했으므로 우연히 여러 개가 같이 이겼을 가능성도 배제 못 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6. AutoML 실행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선정모델 커버리지 이중체크 -- 붕괴된 곳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모델링 설계 Q&amp;A -- 커버리지·역차분·CRPS 상세 (6-1)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5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CRPS/승률만으로는 Lasso처럼 '평균은 좋은데 커버리지가 무너지는' 함정을 놓칠 수 있어 재확인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6101" y="2100000"/>
            <a:ext cx="7867796" cy="4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overage_compar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101" y="2145000"/>
            <a:ext cx="7777796" cy="421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6. AutoML 실행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실측 + 예측구간 겹쳐서 직접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모델링 설계 Q&amp;A -- 커버리지·역차분·CRPS 상세 (6-1)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dirty="0" smtClean="0">
                <a:solidFill>
                  <a:srgbClr val="697386"/>
                </a:solidFill>
                <a:latin typeface="맑은 고딕"/>
              </a:rPr>
              <a:t>15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8" y="14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회색=E3(기존 공용모델), 빨강=AutoML 선정모델 -- X5는 확실히 좁아지고, X3은 오히려 넓어짐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4446" y="2050000"/>
            <a:ext cx="8311106" cy="44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a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446" y="2095000"/>
            <a:ext cx="8221106" cy="431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6. AutoML 실행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공정 비교 -- 둘 다 90%로 튜닝한 뒤 실제 폭은?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모델링 설계 Q&amp;A -- 커버리지·역차분·CRPS 상세 (6-1)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dirty="0" smtClean="0">
                <a:solidFill>
                  <a:srgbClr val="697386"/>
                </a:solidFill>
                <a:latin typeface="맑은 고딕"/>
              </a:rPr>
              <a:t>16</a:t>
            </a:r>
            <a:endParaRPr sz="1000" b="0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8" y="14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1.0보다 작으면 AutoML이 더 좁은(개선) 구간, 크면 더 넓은(악화) 구간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5833" y="2050000"/>
            <a:ext cx="7808333" cy="4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width_ratio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833" y="2095000"/>
            <a:ext cx="7718333" cy="421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6. AutoML 실행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왜 X3은 승률 1위인데 결과가 나빠졌나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모델링 설계 Q&amp;A -- 커버리지·역차분·CRPS 상세 (6-1)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00000"/>
            <a:ext cx="10500000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GP-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Matern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평균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CRPS=0.4826, E3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평균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CRPS=0.4809 --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사실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E3가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평균은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더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좋다</a:t>
            </a:r>
            <a:endParaRPr lang="en-US" sz="1500" b="1" dirty="0" smtClean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그런데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bootstrap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승률은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GP-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Matern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49.2% vs E3 16.0% --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승률과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평균이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반대로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갈림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GP-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Matern은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'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대부분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상황에서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자주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조금씩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이기는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' </a:t>
            </a:r>
            <a:r>
              <a:rPr sz="1500" b="1" dirty="0" err="1" smtClean="0">
                <a:solidFill>
                  <a:srgbClr val="172033"/>
                </a:solidFill>
                <a:latin typeface="맑은 고딕"/>
              </a:rPr>
              <a:t>타입</a:t>
            </a:r>
            <a:endParaRPr lang="en-US" sz="1500" b="1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lang="en-US" sz="1500" b="1" dirty="0" smtClean="0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1" dirty="0" smtClean="0">
                <a:solidFill>
                  <a:srgbClr val="172033"/>
                </a:solidFill>
                <a:latin typeface="맑은 고딕"/>
              </a:rPr>
              <a:t>E3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는 '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평소엔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밀리지만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극단적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origin에서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크게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이겨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평균을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끌어올리는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' </a:t>
            </a:r>
            <a:r>
              <a:rPr sz="1500" b="1" dirty="0" err="1" smtClean="0">
                <a:solidFill>
                  <a:srgbClr val="172033"/>
                </a:solidFill>
                <a:latin typeface="맑은 고딕"/>
              </a:rPr>
              <a:t>타입</a:t>
            </a:r>
            <a:endParaRPr lang="en-US" sz="1500" b="1" dirty="0" smtClean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endParaRPr sz="1500" b="1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X3(X3_l1)은 2022-23년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X3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매입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급증이라는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이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프로젝트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최대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난제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변수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실제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90%로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튜닝한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뒤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폭을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재보니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GP-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Matern이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E3보다 11% 더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넓게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필요했음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(1.11x</a:t>
            </a:r>
            <a:r>
              <a:rPr sz="1500" b="1" dirty="0" smtClean="0">
                <a:solidFill>
                  <a:srgbClr val="172033"/>
                </a:solidFill>
                <a:latin typeface="맑은 고딕"/>
              </a:rPr>
              <a:t>)</a:t>
            </a:r>
            <a:endParaRPr lang="en-US" sz="1500" b="1" dirty="0" smtClean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endParaRPr sz="1500" b="1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결론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: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평소엔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잘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맞히는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모델이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정작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'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진짜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넓은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구간이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필요한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순간'엔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더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많은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안전마진을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요구할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수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있다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-- CRPS/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승률만으론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못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잡는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함정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b="1" dirty="0" smtClean="0">
                <a:solidFill>
                  <a:srgbClr val="697386"/>
                </a:solidFill>
                <a:latin typeface="맑은 고딕"/>
              </a:rPr>
              <a:t>질문</a:t>
            </a:r>
            <a:endParaRPr sz="1200" b="1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300" b="1" dirty="0" smtClean="0">
                <a:solidFill>
                  <a:srgbClr val="172033"/>
                </a:solidFill>
                <a:latin typeface="맑은 고딕"/>
              </a:rPr>
              <a:t>질문 사항</a:t>
            </a:r>
            <a:endParaRPr sz="2300" b="1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모델링 설계 Q&amp;A -- 커버리지·역차분·CRPS 상세 (6-1)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00000"/>
            <a:ext cx="10500000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ko-KR" altLang="en-US" sz="1400" dirty="0">
                <a:solidFill>
                  <a:srgbClr val="6F9692"/>
                </a:solidFill>
              </a:rPr>
              <a:t>① </a:t>
            </a:r>
            <a:r>
              <a:rPr lang="ko-KR" altLang="en-US" sz="1400" dirty="0" smtClean="0">
                <a:solidFill>
                  <a:srgbClr val="6F9692"/>
                </a:solidFill>
              </a:rPr>
              <a:t> </a:t>
            </a:r>
            <a:r>
              <a:rPr lang="ko-KR" altLang="en-US" sz="1500" b="1" dirty="0" smtClean="0">
                <a:solidFill>
                  <a:srgbClr val="6F9692"/>
                </a:solidFill>
                <a:latin typeface="맑은 고딕"/>
              </a:rPr>
              <a:t>기존 </a:t>
            </a:r>
            <a:r>
              <a:rPr lang="en-US" sz="1500" b="1" dirty="0" smtClean="0">
                <a:solidFill>
                  <a:srgbClr val="6F9692"/>
                </a:solidFill>
                <a:latin typeface="맑은 고딕"/>
              </a:rPr>
              <a:t>CRPS</a:t>
            </a:r>
            <a:r>
              <a:rPr lang="ko-KR" altLang="en-US" sz="1500" b="1" dirty="0" smtClean="0">
                <a:solidFill>
                  <a:srgbClr val="6F9692"/>
                </a:solidFill>
                <a:latin typeface="맑은 고딕"/>
              </a:rPr>
              <a:t>와 </a:t>
            </a:r>
            <a:r>
              <a:rPr lang="ko-KR" altLang="en-US" sz="1500" b="1" dirty="0" err="1" smtClean="0">
                <a:solidFill>
                  <a:srgbClr val="6F9692"/>
                </a:solidFill>
                <a:latin typeface="맑은 고딕"/>
              </a:rPr>
              <a:t>분위수</a:t>
            </a:r>
            <a:r>
              <a:rPr lang="ko-KR" altLang="en-US" sz="1500" b="1" dirty="0" smtClean="0">
                <a:solidFill>
                  <a:srgbClr val="6F9692"/>
                </a:solidFill>
                <a:latin typeface="맑은 고딕"/>
              </a:rPr>
              <a:t> </a:t>
            </a:r>
            <a:r>
              <a:rPr lang="ko-KR" altLang="en-US" sz="1500" b="1" dirty="0" err="1" smtClean="0">
                <a:solidFill>
                  <a:srgbClr val="6F9692"/>
                </a:solidFill>
                <a:latin typeface="맑은 고딕"/>
              </a:rPr>
              <a:t>근사법</a:t>
            </a:r>
            <a:r>
              <a:rPr lang="ko-KR" altLang="en-US" sz="1500" b="1" dirty="0" smtClean="0">
                <a:solidFill>
                  <a:srgbClr val="6F9692"/>
                </a:solidFill>
                <a:latin typeface="맑은 고딕"/>
              </a:rPr>
              <a:t> </a:t>
            </a:r>
            <a:r>
              <a:rPr lang="en-US" altLang="ko-KR" sz="1500" b="1" dirty="0" smtClean="0">
                <a:solidFill>
                  <a:srgbClr val="6F9692"/>
                </a:solidFill>
                <a:latin typeface="맑은 고딕"/>
              </a:rPr>
              <a:t>CRPS </a:t>
            </a:r>
            <a:r>
              <a:rPr lang="ko-KR" altLang="en-US" sz="1500" b="1" dirty="0" smtClean="0">
                <a:solidFill>
                  <a:srgbClr val="6F9692"/>
                </a:solidFill>
                <a:latin typeface="맑은 고딕"/>
              </a:rPr>
              <a:t>선택기준</a:t>
            </a:r>
            <a:endParaRPr lang="en-US" altLang="ko-KR" sz="1500" b="1" dirty="0" smtClean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endParaRPr lang="en-US"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lang="ko-KR" altLang="en-US" sz="1400" dirty="0">
                <a:solidFill>
                  <a:srgbClr val="6F9692"/>
                </a:solidFill>
              </a:rPr>
              <a:t>② </a:t>
            </a:r>
            <a:r>
              <a:rPr lang="ko-KR" altLang="en-US" sz="1400" dirty="0" smtClean="0">
                <a:solidFill>
                  <a:srgbClr val="6F9692"/>
                </a:solidFill>
              </a:rPr>
              <a:t> </a:t>
            </a:r>
            <a:r>
              <a:rPr lang="ko-KR" altLang="en-US" sz="1500" b="1" dirty="0" smtClean="0">
                <a:solidFill>
                  <a:srgbClr val="6F9692"/>
                </a:solidFill>
                <a:latin typeface="맑은 고딕"/>
              </a:rPr>
              <a:t>저번 피드백 때 말씀해주신 앙상블 기반 예측 </a:t>
            </a:r>
            <a:r>
              <a:rPr lang="en-US" altLang="ko-KR" sz="1500" b="1" dirty="0" smtClean="0">
                <a:solidFill>
                  <a:srgbClr val="6F9692"/>
                </a:solidFill>
                <a:latin typeface="맑은 고딕"/>
              </a:rPr>
              <a:t>CRPS</a:t>
            </a:r>
            <a:r>
              <a:rPr lang="ko-KR" altLang="en-US" sz="1500" b="1" dirty="0" smtClean="0">
                <a:solidFill>
                  <a:srgbClr val="6F9692"/>
                </a:solidFill>
                <a:latin typeface="맑은 고딕"/>
              </a:rPr>
              <a:t>에 대해</a:t>
            </a:r>
            <a:endParaRPr lang="en-US" altLang="ko-KR" sz="1500" b="1" dirty="0" smtClean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endParaRPr lang="en-US"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endParaRPr sz="1500" b="1" dirty="0">
              <a:solidFill>
                <a:srgbClr val="6F9692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584267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1405</Words>
  <Application>Microsoft Office PowerPoint</Application>
  <PresentationFormat>와이드스크린</PresentationFormat>
  <Paragraphs>215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Administrator</cp:lastModifiedBy>
  <cp:revision>22</cp:revision>
  <dcterms:created xsi:type="dcterms:W3CDTF">2013-01-27T09:14:16Z</dcterms:created>
  <dcterms:modified xsi:type="dcterms:W3CDTF">2026-09-17T04:59:39Z</dcterms:modified>
  <cp:category/>
</cp:coreProperties>
</file>