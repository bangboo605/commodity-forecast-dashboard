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10058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  <a:ea typeface="맑은 고딕"/>
              </a:rPr>
              <a:t>리샘플링 오차 표본 수정과 모델 선정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오차 표본 수정 · CRPS 순위 · 세 지표 순위 · 구간 폭 · 4단계 필터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1864" y="5769864"/>
            <a:ext cx="9966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F9692"/>
                </a:solidFill>
                <a:latin typeface="맑은 고딕"/>
                <a:ea typeface="맑은 고딕"/>
              </a:rPr>
              <a:t>박민수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0. 전체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이번에 한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11. 오차 표본 수정과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●  0. 리샘플링 오차 표본 수정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오차 표본에 아직 확정되지 않은 실제값이 섞인 문제를 고쳐 모든 비교를 다시 계산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●  1. CRPS 방식 비교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crps7 vs crps_ensemble, 16개 조합(모델 4 x 스케일 2 x 구간 2)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●  2. CRPS · MSE · 커버리지 순위 합산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●  3. 커버리지 최대 vs 커버리지 1등, 4. 커버리지 최대 vs 순위 합산 1등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두 모델의 구간 폭을 비교해 커버리지 단독 기준의 위험과 지표를 함께 볼 때의 효과 확인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6F9692"/>
                </a:solidFill>
                <a:latin typeface="맑은 고딕"/>
                <a:ea typeface="맑은 고딕"/>
              </a:rPr>
              <a:t>●  5. 4단계 필터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>
                <a:solidFill>
                  <a:srgbClr val="172033"/>
                </a:solidFill>
                <a:latin typeface="맑은 고딕"/>
                <a:ea typeface="맑은 고딕"/>
              </a:rPr>
              <a:t>CRPS -&gt; MSE -&gt; 구간 점수 -&gt; 커버리지 순서로 거른 선택을 CRPS ±10% 안 커버리지 최대(A)와 비교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0번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리샘플링 오차 표본에 미래값이 섞여 있었다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0. 오차 표본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6F9692"/>
                </a:solidFill>
                <a:latin typeface="맑은 고딕"/>
                <a:ea typeface="맑은 고딕"/>
              </a:rPr>
              <a:t>●  리샘플링 구간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과거 예측 오차를 h단계별로 모아, 현재 점예측에 더해 구간을 만든다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6F9692"/>
                </a:solidFill>
                <a:latin typeface="맑은 고딕"/>
                <a:ea typeface="맑은 고딕"/>
              </a:rPr>
              <a:t>●  기존 방식의 문제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origin이 끝날 때마다 h=1~4 오차를 모두 풀에 넣음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origin o의 h단계 오차는 분기 o+h-1의 실제값이 있어야 계산됨 -&gt; h=2~4 오차는 다음 origin 시점에 아직 모르는 값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풀은 h별로 따로라 채점 중인 분기 자체의 오차는 들어가지 않고, 바로 인접한 분기의 결과가 힌트로 들어감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6F9692"/>
                </a:solidFill>
                <a:latin typeface="맑은 고딕"/>
                <a:ea typeface="맑은 고딕"/>
              </a:rPr>
              <a:t>●  영향 범위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리샘플링 구간만 영향. 점예측, MSE, 자체(정규) 구간은 수정 전후 값이 같음 (MSE 최대 차이 0)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h=1 오차는 항상 확정된 값이라 영향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쓸 수 있는 origin 범위를 h=1 기준으로 모든 h에 똑같이 적용해서, h가 클수록 미래값이 더 들어갔다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0번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예시: 예측 시점 2020Q1 (origin 36)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0. 오차 표본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71600"/>
          <a:ext cx="10497312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97280"/>
                <a:gridCol w="2743200"/>
                <a:gridCol w="2286000"/>
                <a:gridCol w="2743200"/>
                <a:gridCol w="162763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기존에 쓴 origin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미래값이 들어간 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수정 후 쓰는 origin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미래값이 들어간 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2016Q1 ~ 2019Q4 (16개)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2016Q1 ~ 2019Q4 (16개)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2016Q1 ~ 2019Q4 (16개)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 (2019Q4)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2016Q1 ~ 2019Q3 (15개)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2016Q1 ~ 2019Q4 (16개)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 (2019Q3, 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2016Q1 ~ 2019Q2 (14개)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h=4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2016Q1 ~ 2019Q4 (16개)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 (2019Q2, Q3, 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2016Q1 ~ 2019Q1 (13개)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이 시점에 관측된 마지막 분기는 2019Q4. 정답 분기가 2020Q1 이후인 오차가 미래값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수정 규칙: 예측 시점 o, 단계 h의 풀에는 o' + h &lt;= o인 오차만 사용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h가 클수록 오차가 확정되는 시점이 늦어, 쓸 수 있는 마지막 origin이 h만큼 앞으로 당겨짐 (첫 채점 origin의 풀 크기 h=1 15개 -&gt; h=4 12개)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기존에는 h에 상관없이 같은 origin을 써서 h=2는 1개, h=3은 2개, h=4는 3개의 미래값이 들어갔다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0번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수정 영향: 리샘플링 8개 조합 (수정 전 -&gt; 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0. 오차 표본 수정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3456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3291840"/>
                <a:gridCol w="1645920"/>
                <a:gridCol w="2633472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 / 스케일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(crps_ensemble)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변화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커버리지(%)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/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0.5842 -&gt; 0.5987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81.8 -&gt; 83.0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 /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0.5868 -&gt; 0.5986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69.3 -&gt; 63.6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 /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0.5904 -&gt; 0.5955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69.3 -&gt; 69.3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/ 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0.6197 -&gt; 0.6248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84.1 -&gt; 84.1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/ 로그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0.7010 -&gt; 0.7146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85.2 -&gt; 87.5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 / 로그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0.7250 -&gt; 0.7250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78.4 -&gt; 70.5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auto_arima / 로그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0.8151 -&gt; 0.8064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77.3 -&gt; 71.6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/ 로그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0.9668 -&gt; 0.9723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89.8 -&gt; 89.8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원 스케일 리샘플링의 CRPS가 모두 나빠짐(+0.8~2.5%), 로그는 방향이 섞임. GARCH 로그 리샘플링은 폭이 15.6 -&gt; 19.6으로 넓어짐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영향은 작지만 상위 후보 간 CRPS 차이(약 2.6%)와 비슷한 크기라 선정에 영향을 줄 수 있음. 이번 비교만 수정했고 이전 분석(9, 10번 PPT)은 미수정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효과는 작지만 선정에 쓰이는 크기라, 이후 비교는 모두 수정된 오차 표본으로 한다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CRPS 방식 비교: crps7 vs crps_ensemble (16개 조합)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1. CRPS 방식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</a:t>
            </a:r>
          </a:p>
        </p:txBody>
      </p:sp>
      <p:pic>
        <p:nvPicPr>
          <p:cNvPr id="8" name="Picture 7" descr="11-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80160"/>
            <a:ext cx="5640185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13716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순위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Spearman 0.9706, Kendall 0.9000, 바뀐 조합 8/16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바뀐 것은 대부분 CRPS 0.578~0.599에 몰린 상위 7개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우열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자체 vs 리샘플링 8칸 중 7칸이 같음 (AR단독 원만 다름)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값의 크기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crps7이 16개 중 15개에서 높음 (-0.1~+6.6%), 구간이 넓을수록 격차가 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crps_ensemble로 바꿔도 우열은 거의 같고, 원 스케일 상위권 순서만 바뀐다 (이후 crps_ensemble 사용)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CRPS · MSE · 커버리지 (16개 조합)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2. 세 지표 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7</a:t>
            </a:r>
          </a:p>
        </p:txBody>
      </p:sp>
      <p:pic>
        <p:nvPicPr>
          <p:cNvPr id="8" name="Picture 7" descr="11-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5772045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66560" y="137160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MSE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SV·GARCH가 AR단독·auto_arima보다 낮고, 로그에서 격차가 큼 (1.05 vs 1.35~1.80)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커버리지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리샘플링 64~90%, 자체 61~76%, 모두 90% 미만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지표 간 관계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커버리지 상위 3개의 CRPS 순위는 16, 12, 9위: 구간을 넓히면 커버리지는 오르고 CRPS는 나빠짐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세 지표를 모두 이기는 조합은 없다 (주황 = 리샘플링, 파랑 = 자체, 초록 = 원/GARCH/자체)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세 지표 순위 합산: SV 원 리샘플링이 가장 작다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2. 세 지표 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40480"/>
                <a:gridCol w="1645920"/>
                <a:gridCol w="1645920"/>
                <a:gridCol w="1828800"/>
                <a:gridCol w="1536192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순위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 순위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 순위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순위 합산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/ 원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/ 원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/ 원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/ 로그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/ 로그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/ 원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6634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순위 합산은 참고용이고 지표 간 차이의 크기는 반영하지 않음 (CRPS와 MSE는 낮을수록, 커버리지는 90%에 가까울수록 높은 순위)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하위는 auto_arima 로그 조합과 AR단독 로그 리샘플링 (35~40)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합산 1등은 SV 원 리샘플링(12), 다음은 GARCH 원 자체(15)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커버리지 최대(A) vs 커버리지 1등(B): 모델과 구간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커버리지 최대 vs 커버리지 1등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5029200" cy="987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"/>
                <a:gridCol w="2148840"/>
                <a:gridCol w="822960"/>
                <a:gridCol w="731520"/>
                <a:gridCol w="1005840"/>
              </a:tblGrid>
              <a:tr h="329184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순위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/ 원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/ 로그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19.59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2331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A: CRPS 1등의 ±10% 안에서 커버리지 최대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B: 16개 전체에서 커버리지 최대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origin 5개의 90% 구간 (파랑 A, 주황 B, 빨강 실제값, X = 구간 밖)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B의 구간이 더 넓고, 급등 이후(origin 47 근처)에는 훨씬 큼</a:t>
            </a:r>
          </a:p>
        </p:txBody>
      </p:sp>
      <p:pic>
        <p:nvPicPr>
          <p:cNvPr id="10" name="Picture 9" descr="11-3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97280"/>
            <a:ext cx="5743067" cy="5257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5394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B는 커버리지가 높지만 구간이 훨씬 넓다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폭을 맞추면 A가 앞선다: 커버리지만으로 고르면 위험하다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3. 커버리지 최대 vs 커버리지 1등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10</a:t>
            </a:r>
          </a:p>
        </p:txBody>
      </p:sp>
      <p:pic>
        <p:nvPicPr>
          <p:cNvPr id="8" name="Picture 7" descr="11-3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7863840" cy="231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2801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00" b="0">
                <a:solidFill>
                  <a:srgbClr val="172033"/>
                </a:solidFill>
                <a:latin typeface="맑은 고딕"/>
                <a:ea typeface="맑은 고딕"/>
              </a:rPr>
              <a:t>B가 모든 h에서 2.1~4.7배 넓음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00" b="0">
                <a:solidFill>
                  <a:srgbClr val="172033"/>
                </a:solidFill>
                <a:latin typeface="맑은 고딕"/>
                <a:ea typeface="맑은 고딕"/>
              </a:rPr>
              <a:t>origin 43에서 약 44, origin 48에서 약 116 (A는 2~8)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00" b="0">
                <a:solidFill>
                  <a:srgbClr val="172033"/>
                </a:solidFill>
                <a:latin typeface="맑은 고딕"/>
                <a:ea typeface="맑은 고딕"/>
              </a:rPr>
              <a:t>상한 최대 약 78,000 (실제 최대 약 1,300의 60배, exp 증폭)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" y="3794760"/>
          <a:ext cx="1049731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54880"/>
                <a:gridCol w="1828800"/>
                <a:gridCol w="2011680"/>
                <a:gridCol w="1901952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커버리지(%)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 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 원래 / B 원래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 / 89.8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5.01 / 19.59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6.82 / 20.04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B를 A의 폭으로 줄임 / A를 B의 폭으로 늘림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76.1 /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4.98 / 19.58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8.36 / 19.58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둘 다 커버리지 90%로 맞춤 (A / 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90.9 / 90.9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6.42 / 25.75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7.35 / 26.08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B의 커버리지 우위는 폭을 4배 가까이 넓힌 대가다. 단, 한 쌍의 사례라 CRPS가 더 중요하다고 결론낼 수는 없다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4번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커버리지 최대(A) vs 순위 합산 1등(B): 모델과 구간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4. 커버리지 최대 vs 순위 합산 1등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280160"/>
          <a:ext cx="5029199" cy="987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"/>
                <a:gridCol w="1874519"/>
                <a:gridCol w="594360"/>
                <a:gridCol w="594360"/>
                <a:gridCol w="868680"/>
                <a:gridCol w="777240"/>
              </a:tblGrid>
              <a:tr h="329184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/ 원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/ 원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2331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A: 3번의 A와 같음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B: CRPS·MSE·커버리지 세 순위의 합이 가장 작은 조합 (2번의 합산 1등)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B가 CRPS, MSE, 폭에서 앞서고 커버리지만 1.1%p 낮음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origin 47(급등 직전)에서는 두 구간 모두 실제값이 전부 밖</a:t>
            </a:r>
          </a:p>
        </p:txBody>
      </p:sp>
      <p:pic>
        <p:nvPicPr>
          <p:cNvPr id="10" name="Picture 9" descr="11-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097280"/>
            <a:ext cx="5743067" cy="5257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1248" y="5394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B는 A와 커버리지가 비슷하면서 구간이 31% 좁다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4번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같은 커버리지에서 B가 더 좁다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4. 커버리지 최대 vs 순위 합산 1등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12</a:t>
            </a:r>
          </a:p>
        </p:txBody>
      </p:sp>
      <p:pic>
        <p:nvPicPr>
          <p:cNvPr id="8" name="Picture 7" descr="11-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7863840" cy="231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28016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00" b="0">
                <a:solidFill>
                  <a:srgbClr val="172033"/>
                </a:solidFill>
                <a:latin typeface="맑은 고딕"/>
                <a:ea typeface="맑은 고딕"/>
              </a:rPr>
              <a:t>B가 모든 h에서 A의 0.67~0.77배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100" b="0">
                <a:solidFill>
                  <a:srgbClr val="172033"/>
                </a:solidFill>
                <a:latin typeface="맑은 고딕"/>
                <a:ea typeface="맑은 고딕"/>
              </a:rPr>
              <a:t>3번의 B는 같은 A에 4.0배 넓었고 이 B는 30% 좁음: 효율이 정반대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41248" y="3794760"/>
          <a:ext cx="10497312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754880"/>
                <a:gridCol w="1828800"/>
                <a:gridCol w="2011680"/>
                <a:gridCol w="1901952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비교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커버리지(%)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폭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 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 원래 / B 원래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 / 83.0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5.01 / 3.48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6.82 / 5.15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B를 A의 폭으로 늘림 / A를 B의 폭으로 줄임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95.5 / 77.3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5.00 / 3.48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5.37 / 6.70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둘 다 커버리지 90%로 맞춤 (A / 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90.9 / 90.9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6.42 / 4.51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7.35 / 5.11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41248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이 쌍에서는 순위 합산이 폭 효율이 좋은 모델을 골랐다. 선정 방식과 구간 모델이 모두 달라 MSE 효과로 단정하지는 않는다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5번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4단계 필터: 단계별 통과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5. 4단계 필터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6016752"/>
                <a:gridCol w="210312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(각 단계의 1등은 앞 단계 통과 후보 안에서)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통과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1단계 CRPS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전체 1등 0.5783의 ±10% (한계 0.6361)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2단계 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1단계 통과 후보 중 1등 1.0526의 ±10% (한계 1.158)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3단계 구간 점수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2단계 통과 후보 중 1등 5.153의 ±10% (한계 5.668)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4단계 커버리지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3단계 통과 후보 중 커버리지 1등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SV 원 리샘플링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0233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구간 점수 = 폭 + 20 x 벗어난 거리, var_std로 나눔 (낮을수록 좋음). 보정(k) 없이 모델이 만든 90% 구간으로 계산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2단계에서 auto_arima 원 두 조합만 탈락 (MSE 1.164). 상위 후보 간 MSE 차이는 1.4%뿐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허용 범위 ±10%는 미리 정한 값. 민감도는 선택이 범위에 좌우되는지 확인하는 용도이고 범위를 고르는 데 쓰지 않음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선택을 가르는 단계는 3단계(구간 점수)다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5번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3단계: 구간 점수와 민감도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5. 4단계 필터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676656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/>
                <a:gridCol w="1280160"/>
                <a:gridCol w="128016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2단계 통과 후보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구간 점수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1등 대비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SV / 원 / 리샘플링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5.153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 / 원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6.090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 / 원 / 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6.167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/ 로그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6.381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/ 원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6.393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 / 원 / 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6.576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 / 원 / 리샘플링 (A)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6.818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63840" y="132588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민감도 (27가지)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CRPS·MSE·구간 점수 허용을 ±5/10/20%로 바꿔도 필터 선택은 모두 SV 원 리샘플링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A는 CRPS 허용 ±10% 이상이면 GARCH 원 리샘플링, ±5%이면 SV 원 리샘플링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2단계(MSE)의 역할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2단계를 빼도 같은 모델이 선택됨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349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2위와 18% 차이라 경계 근처가 아니고, A는 구간 점수가 꼴찌다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5번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필터 선택 모델은 4번의 B와 같은 모델이다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5. 4단계 필터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63040"/>
            <a:ext cx="10515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  <a:ea typeface="맑은 고딕"/>
              </a:rPr>
              <a:t>선택</a:t>
            </a: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600" b="1" dirty="0" err="1">
                <a:solidFill>
                  <a:srgbClr val="6F9692"/>
                </a:solidFill>
                <a:latin typeface="맑은 고딕"/>
                <a:ea typeface="맑은 고딕"/>
              </a:rPr>
              <a:t>결과</a:t>
            </a:r>
            <a:endParaRPr sz="16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4단계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필터가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고른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: SV / 원 /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(4번의 B,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순위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합산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1등과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비교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대상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A: GARCH / 원 /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(4번의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A와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5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5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5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6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600" b="1" dirty="0" err="1">
                <a:solidFill>
                  <a:srgbClr val="6F9692"/>
                </a:solidFill>
                <a:latin typeface="맑은 고딕"/>
                <a:ea typeface="맑은 고딕"/>
              </a:rPr>
              <a:t>그래서</a:t>
            </a:r>
            <a:endParaRPr sz="16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지표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비교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그림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, 폭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비교는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4번과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결과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슬라이드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11, 12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참고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방식은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다르지만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(4단계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필터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vs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순위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합산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) 이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데이터에서는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모델이</a:t>
            </a:r>
            <a:r>
              <a:rPr sz="15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5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선택됨</a:t>
            </a:r>
            <a:endParaRPr sz="15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4단계 필터와 순위 합산은 같은 모델(SV / 원 / 리샘플링)을 선택한다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결론과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6. 종합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280160"/>
            <a:ext cx="10515600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정리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오차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표본의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미래값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문제를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고쳐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모든 비교를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다시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계산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(원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CRPS +0.8~2.5%)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crps_ensemble로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바꿔도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우열은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거의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같음</a:t>
            </a:r>
            <a:endParaRPr lang="en-US" sz="140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넓힌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뽑힘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B가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4배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넓음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).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순위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합산·4단계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필터는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폭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효율이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좋은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SV 원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선택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4단계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필터의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선택은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27가지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허용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범위에서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SV 원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리샘플링이고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선택을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것은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단계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남은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점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점수는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(k)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값.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보정을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적용했을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때의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장단점은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별도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연구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진행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중 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평균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74% -&gt; 89%, 폭 2배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이상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X3_l1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한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결과이며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유의성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검정은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하지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않음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2207</Words>
  <Application>Microsoft Office PowerPoint</Application>
  <PresentationFormat>와이드스크린</PresentationFormat>
  <Paragraphs>357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4</cp:revision>
  <dcterms:created xsi:type="dcterms:W3CDTF">2013-01-27T09:14:16Z</dcterms:created>
  <dcterms:modified xsi:type="dcterms:W3CDTF">2026-10-08T02:13:34Z</dcterms:modified>
  <cp:category/>
</cp:coreProperties>
</file>