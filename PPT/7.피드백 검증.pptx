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200" b="1" dirty="0">
                <a:solidFill>
                  <a:srgbClr val="172033"/>
                </a:solidFill>
                <a:latin typeface="맑은 고딕"/>
              </a:rPr>
              <a:t>피</a:t>
            </a:r>
            <a:r>
              <a:rPr lang="ko-KR" altLang="en-US" sz="3200" b="1" dirty="0" smtClean="0">
                <a:solidFill>
                  <a:srgbClr val="172033"/>
                </a:solidFill>
                <a:latin typeface="맑은 고딕"/>
              </a:rPr>
              <a:t>드백 </a:t>
            </a:r>
            <a:r>
              <a:rPr sz="3200" b="1" dirty="0" err="1" smtClean="0">
                <a:solidFill>
                  <a:srgbClr val="172033"/>
                </a:solidFill>
                <a:latin typeface="맑은 고딕"/>
              </a:rPr>
              <a:t>검증</a:t>
            </a:r>
            <a:endParaRPr sz="32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피드백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5개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항목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재검증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--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점예측·캘리브레이션·bootstrap·Theta·Lasso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40127" y="5767185"/>
            <a:ext cx="99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0.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이전 방법론에 대한 외부 피드백 5개 항목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0. </a:t>
            </a:r>
            <a:r>
              <a:rPr lang="ko-KR" altLang="en-US" sz="1000" dirty="0" smtClean="0">
                <a:solidFill>
                  <a:srgbClr val="697386"/>
                </a:solidFill>
                <a:latin typeface="맑은 고딕"/>
              </a:rPr>
              <a:t>전체 흐름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1.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점예측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일치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검증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ARIMA/GARCH/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SV의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점예측이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4가지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차분설정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전부에서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동일한지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 smtClean="0">
                <a:solidFill>
                  <a:srgbClr val="172033"/>
                </a:solidFill>
                <a:latin typeface="맑은 고딕"/>
              </a:rPr>
              <a:t>확인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2.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캘리브레이션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풀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확장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검증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채점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origin이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진행될수록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캘리브레이션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풀이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정말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확장되는지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 smtClean="0">
                <a:solidFill>
                  <a:srgbClr val="172033"/>
                </a:solidFill>
                <a:latin typeface="맑은 고딕"/>
              </a:rPr>
              <a:t>확인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3. bootstrap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시계열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타당성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검증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block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bootstrap이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타당한지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ACF로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확인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+ 더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표준적인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대안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DM검정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)과 </a:t>
            </a:r>
            <a:r>
              <a:rPr sz="1600" b="0" dirty="0" err="1" smtClean="0">
                <a:solidFill>
                  <a:srgbClr val="172033"/>
                </a:solidFill>
                <a:latin typeface="맑은 고딕"/>
              </a:rPr>
              <a:t>비교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4. Theta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튜닝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확인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및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설명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SES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성분이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실제로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튜닝되는지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, 왜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특정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변수에서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naive처럼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작동하는지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 smtClean="0">
                <a:solidFill>
                  <a:srgbClr val="172033"/>
                </a:solidFill>
                <a:latin typeface="맑은 고딕"/>
              </a:rPr>
              <a:t>확인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5. Lasso 5-fold vs LOOCV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비교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5-fold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사용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근거를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점검하고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LOOCV로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바꿨을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때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문제가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해결되는지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확인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ARIMA/GARCH/SV 점예측이 4가지 차분설정 전부에서 같은가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1. </a:t>
            </a:r>
            <a:r>
              <a:rPr lang="ko-KR" altLang="en-US" sz="1000" b="0" dirty="0" err="1" smtClean="0">
                <a:solidFill>
                  <a:srgbClr val="697386"/>
                </a:solidFill>
                <a:latin typeface="맑은 고딕"/>
              </a:rPr>
              <a:t>모델별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lang="ko-KR" altLang="en-US" sz="1000" b="0" dirty="0" err="1" smtClean="0">
                <a:solidFill>
                  <a:srgbClr val="697386"/>
                </a:solidFill>
                <a:latin typeface="맑은 고딕"/>
              </a:rPr>
              <a:t>점예측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 비교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코드 근거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garch_mean_sigma/sv_mean_sigma는 내부에서 model.predict(n_periods=h)만 호출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GARCH/SV 고유 계산(분산모델, 칼만필터)은 표준편차(sigma_h)에만 관여 -- 점예측(fc)엔 관여 안 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095710"/>
              </p:ext>
            </p:extLst>
          </p:nvPr>
        </p:nvGraphicFramePr>
        <p:xfrm>
          <a:off x="841248" y="2569961"/>
          <a:ext cx="105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3500000"/>
                <a:gridCol w="35000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origin 5개 표본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ARIMA==GARCH==SV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기본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무차분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5개 확인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100% 일치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1차차분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5개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확인</a:t>
                      </a:r>
                      <a:endParaRPr sz="14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100% 일치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계절차분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5개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확인</a:t>
                      </a:r>
                      <a:endParaRPr sz="14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100% 일치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둘다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(1차+계절)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5개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확인</a:t>
                      </a:r>
                      <a:endParaRPr sz="14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100% </a:t>
                      </a:r>
                      <a:r>
                        <a:rPr sz="14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일치</a:t>
                      </a:r>
                      <a:endParaRPr sz="1400" b="1" dirty="0">
                        <a:solidFill>
                          <a:srgbClr val="D62728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910114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D62728"/>
                </a:solidFill>
                <a:latin typeface="맑은 고딕"/>
              </a:rPr>
              <a:t>결론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: 20개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조합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(4설정 x 5origin)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전부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부동소수점까지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완전히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동일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--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정규분포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CRPS를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쓴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전제가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유효함</a:t>
            </a:r>
            <a:endParaRPr sz="1300" b="1" dirty="0">
              <a:solidFill>
                <a:srgbClr val="D6272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2번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캘리브레이션 풀이 채점 origin을 따라 정말 늘어나는가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2. Origin </a:t>
            </a:r>
            <a:r>
              <a:rPr lang="ko-KR" altLang="en-US" sz="1000" b="0" dirty="0" err="1" smtClean="0">
                <a:solidFill>
                  <a:srgbClr val="697386"/>
                </a:solidFill>
                <a:latin typeface="맑은 고딕"/>
              </a:rPr>
              <a:t>캘리브레이션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 확인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코드 근거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calib = g[g["origin"].isin(origins[:i])] -- i가 커질수록 원소가 느는 확장형(expanding window) 슬라이스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934063"/>
              </p:ext>
            </p:extLst>
          </p:nvPr>
        </p:nvGraphicFramePr>
        <p:xfrm>
          <a:off x="841248" y="2337825"/>
          <a:ext cx="105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200000"/>
                <a:gridCol w="2800000"/>
                <a:gridCol w="2700000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채점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채점 분기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캘리브레이션 풀 크기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풀 범위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첫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채점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i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=15)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2019Q4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2016Q1~2019Q3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마지막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채점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i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=36)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2025Q1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36개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2016Q1~2024Q4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345821"/>
            <a:ext cx="105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결론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채점마다 풀이 정확히 1개씩 증가(계단식 우상향) -- 이미 확장형 구조, 수정 불필요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2-1번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채점순번 5개로 확대해서 보기 -- "채점"은 정확히 어디를 보나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2. Origin 캘리브레이션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81456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채점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origin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하나는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그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시점부터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향후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4개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분기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(h=1~4)를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평균해서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점수를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낸다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0" dirty="0" smtClean="0">
                <a:solidFill>
                  <a:srgbClr val="6F9692"/>
                </a:solidFill>
                <a:latin typeface="맑은 고딕"/>
              </a:rPr>
              <a:t>-- </a:t>
            </a:r>
            <a:r>
              <a:rPr sz="1300" b="0" dirty="0" err="1" smtClean="0">
                <a:solidFill>
                  <a:srgbClr val="6F9692"/>
                </a:solidFill>
                <a:latin typeface="맑은 고딕"/>
              </a:rPr>
              <a:t>캘리브레이션</a:t>
            </a:r>
            <a:r>
              <a:rPr sz="1300" b="0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풀(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회색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)과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채점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중인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 4분기(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빨강</a:t>
            </a:r>
            <a:r>
              <a:rPr sz="1300" b="0" dirty="0">
                <a:solidFill>
                  <a:srgbClr val="6F9692"/>
                </a:solidFill>
                <a:latin typeface="맑은 고딕"/>
              </a:rPr>
              <a:t>)만 </a:t>
            </a:r>
            <a:r>
              <a:rPr sz="1300" b="0" dirty="0" err="1">
                <a:solidFill>
                  <a:srgbClr val="6F9692"/>
                </a:solidFill>
                <a:latin typeface="맑은 고딕"/>
              </a:rPr>
              <a:t>표시</a:t>
            </a:r>
            <a:endParaRPr sz="1300" b="0" dirty="0">
              <a:solidFill>
                <a:srgbClr val="6F9692"/>
              </a:solidFill>
              <a:latin typeface="맑은 고딕"/>
            </a:endParaRPr>
          </a:p>
        </p:txBody>
      </p:sp>
      <p:pic>
        <p:nvPicPr>
          <p:cNvPr id="9" name="Picture 8" descr="cal_char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582" y="1649776"/>
            <a:ext cx="4867563" cy="4796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236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3-1번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지금 쓰는 bootstrap 확인 + ACF로 자기상관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3. </a:t>
            </a:r>
            <a:r>
              <a:rPr lang="en-US" sz="1000" dirty="0" smtClean="0">
                <a:solidFill>
                  <a:srgbClr val="697386"/>
                </a:solidFill>
                <a:latin typeface="맑은 고딕"/>
              </a:rPr>
              <a:t>Bootstrap</a:t>
            </a:r>
            <a:r>
              <a:rPr lang="ko-KR" altLang="en-US" sz="1000" dirty="0">
                <a:solidFill>
                  <a:srgbClr val="697386"/>
                </a:solidFill>
                <a:latin typeface="맑은 고딕"/>
              </a:rPr>
              <a:t> </a:t>
            </a:r>
            <a:r>
              <a:rPr lang="ko-KR" altLang="en-US" sz="1000" dirty="0" smtClean="0">
                <a:solidFill>
                  <a:srgbClr val="697386"/>
                </a:solidFill>
                <a:latin typeface="맑은 고딕"/>
              </a:rPr>
              <a:t>사용 여부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확인된 사실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5-1/6-1/6-3/6-5 전부 동일한 block_resample(BLOCK_LEN=4)만 사용 -- 순수 iid는 프로젝트 어디에도 없음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759500"/>
              </p:ext>
            </p:extLst>
          </p:nvPr>
        </p:nvGraphicFramePr>
        <p:xfrm>
          <a:off x="841248" y="2314913"/>
          <a:ext cx="96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2200000"/>
                <a:gridCol w="2600000"/>
                <a:gridCol w="2200000"/>
              </a:tblGrid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lag-1 ACF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95% 신뢰구간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유의한 lag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ARIMA(AIC)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0.526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±0.418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GP-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Matern</a:t>
                      </a:r>
                      <a:endParaRPr sz="14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0.574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±0.418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Lasso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0.635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±0.418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SV(QML)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latin typeface="맑은 고딕"/>
                        </a:rPr>
                        <a:t>0.552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맑은 고딕"/>
                        </a:rPr>
                        <a:t>±0.322</a:t>
                      </a:r>
                    </a:p>
                  </a:txBody>
                  <a:tcPr marL="50000" marR="50000" marT="15000" marB="15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822913"/>
            <a:ext cx="10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결론</a:t>
            </a:r>
            <a:endParaRPr sz="13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4개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전부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lag-1에서만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유의한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상관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--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iid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대신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block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bootstrap을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쓴 게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통계적으로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타당했음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Künsch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1989,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Politis&amp;Romano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1994)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3-2번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더 표준적인 대안 -- Diebold-Mariano 검정과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697386"/>
                </a:solidFill>
                <a:latin typeface="맑은 고딕"/>
              </a:rPr>
              <a:t>3. Bootstrap </a:t>
            </a:r>
            <a:r>
              <a:rPr lang="ko-KR" altLang="en-US" sz="1000" dirty="0">
                <a:solidFill>
                  <a:srgbClr val="697386"/>
                </a:solidFill>
                <a:latin typeface="맑은 고딕"/>
              </a:rPr>
              <a:t>사용 여부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왜 DM검정인가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origin이 22~37개뿐이라 재추출 기반 방법 자체의 한계가 있음 -- DM검정은 재추출 없이 HAC(Newey-West) 보정으로 자기상관을 분석적으로 처리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736585"/>
              </p:ext>
            </p:extLst>
          </p:nvPr>
        </p:nvGraphicFramePr>
        <p:xfrm>
          <a:off x="841248" y="2399636"/>
          <a:ext cx="102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3600000"/>
                <a:gridCol w="3300000"/>
              </a:tblGrid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arima_aic vs gp_matern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iid bootstrap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gp_matern 승률 89.6%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의사결정용 -- 관대한 기준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block bootstrap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gp_matern 승률 93.6%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의사결정용 -- 관대한 기준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DM검정(lag=0)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p-value 0.267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유의하지 않음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DM검정(lag=1, ACF반영)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p-value 0.385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유의하지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않음</a:t>
                      </a:r>
                      <a:endParaRPr sz="1300" b="1" dirty="0">
                        <a:solidFill>
                          <a:srgbClr val="D62728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778329"/>
            <a:ext cx="105000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D62728"/>
                </a:solidFill>
                <a:latin typeface="맑은 고딕"/>
              </a:rPr>
              <a:t>● 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핵심</a:t>
            </a:r>
            <a:r>
              <a:rPr sz="13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발견</a:t>
            </a:r>
            <a:endParaRPr sz="1300" b="1" dirty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승률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90%대인데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DM검정으로는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유의하지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않음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(p&gt;0.05</a:t>
            </a:r>
            <a:r>
              <a:rPr sz="1300" b="0" dirty="0" smtClean="0">
                <a:solidFill>
                  <a:srgbClr val="172033"/>
                </a:solidFill>
                <a:latin typeface="맑은 고딕"/>
              </a:rPr>
              <a:t>)</a:t>
            </a:r>
            <a:endParaRPr lang="en-US" sz="13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033"/>
                </a:solidFill>
                <a:latin typeface="맑은 고딕"/>
              </a:rPr>
              <a:t>	:</a:t>
            </a:r>
            <a:r>
              <a:rPr sz="13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bootstrap(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의사결정용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관대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)과 DM(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과학적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주장용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엄격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)은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결이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다른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게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아니라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엄격도가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다른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같은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</a:rPr>
              <a:t>질문</a:t>
            </a:r>
            <a:endParaRPr lang="en-US" sz="13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lang="en-US" sz="130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300" b="0" dirty="0" smtClean="0">
                <a:solidFill>
                  <a:srgbClr val="172033"/>
                </a:solidFill>
                <a:latin typeface="맑은 고딕"/>
              </a:rPr>
              <a:t>- </a:t>
            </a:r>
            <a:r>
              <a:rPr lang="ko-KR" altLang="en-US" sz="1300" b="0" dirty="0" smtClean="0">
                <a:solidFill>
                  <a:srgbClr val="172033"/>
                </a:solidFill>
                <a:latin typeface="맑은 고딕"/>
              </a:rPr>
              <a:t>만약</a:t>
            </a:r>
            <a:r>
              <a:rPr lang="en-US" altLang="ko-KR" sz="1300" dirty="0">
                <a:solidFill>
                  <a:srgbClr val="172033"/>
                </a:solidFill>
                <a:latin typeface="맑은 고딕"/>
              </a:rPr>
              <a:t> </a:t>
            </a:r>
            <a:r>
              <a:rPr lang="en-US" altLang="ko-KR" sz="1300" dirty="0" smtClean="0">
                <a:solidFill>
                  <a:srgbClr val="172033"/>
                </a:solidFill>
                <a:latin typeface="맑은 고딕"/>
              </a:rPr>
              <a:t>bootstrap</a:t>
            </a:r>
            <a:r>
              <a:rPr lang="ko-KR" altLang="en-US" sz="1300" dirty="0" smtClean="0">
                <a:solidFill>
                  <a:srgbClr val="172033"/>
                </a:solidFill>
                <a:latin typeface="맑은 고딕"/>
              </a:rPr>
              <a:t>을 사용하지 않는다면 </a:t>
            </a:r>
            <a:r>
              <a:rPr lang="en-US" altLang="ko-KR" sz="1300" dirty="0" smtClean="0">
                <a:solidFill>
                  <a:srgbClr val="172033"/>
                </a:solidFill>
                <a:latin typeface="맑은 고딕"/>
              </a:rPr>
              <a:t>DM</a:t>
            </a:r>
            <a:r>
              <a:rPr lang="ko-KR" altLang="en-US" sz="1300" dirty="0" smtClean="0">
                <a:solidFill>
                  <a:srgbClr val="172033"/>
                </a:solidFill>
                <a:latin typeface="맑은 고딕"/>
              </a:rPr>
              <a:t>검증으로 대체</a:t>
            </a:r>
            <a:endParaRPr sz="13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4-1번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Theta의 SES 성분, 정말 튜닝되나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4. Theta </a:t>
            </a:r>
            <a:r>
              <a:rPr lang="ko-KR" altLang="en-US" sz="1000" dirty="0" smtClean="0">
                <a:solidFill>
                  <a:srgbClr val="697386"/>
                </a:solidFill>
                <a:latin typeface="맑은 고딕"/>
              </a:rPr>
              <a:t>모델 튜닝 및 설명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확인됨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smoothing_level(알파) 고정 없이 .fit()하면 SSE 최소화 알파를 수치최적화로 자동 탐색 -- 임의 고정값보다 항상 SSE가 낮음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6910"/>
              </p:ext>
            </p:extLst>
          </p:nvPr>
        </p:nvGraphicFramePr>
        <p:xfrm>
          <a:off x="841248" y="2233382"/>
          <a:ext cx="10200000" cy="1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3500000"/>
                <a:gridCol w="3200000"/>
              </a:tblGrid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변수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알파 범위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알파=1.0 비율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X3_l1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1.0 ~ 1.0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X2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1.0 ~ 1.0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X6_l1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0.0 ~ 0.9468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700000"/>
            <a:ext cx="10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D62728"/>
                </a:solidFill>
                <a:latin typeface="맑은 고딕"/>
              </a:rPr>
              <a:t>●  왜 하필 alpha=1인가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</a:rPr>
              <a:t>alpha 0.1-&gt;1.0으로 SSE가 단조감소(진짜 전역최소) + X3_l1 원계열 lag-1 자기상관 0.93(랜덤워크에 가까움)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</a:rPr>
              <a:t>-&gt; 랜덤워크에서는 평활보다 마지막값 그대로가 SSE 최소 -- auto-ARIMA의 d=1 선택과도 일치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4-2번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Theta 모델 자체 설명 -- theta=0 / theta=2 / 최종예측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697386"/>
                </a:solidFill>
                <a:latin typeface="맑은 고딕"/>
              </a:rPr>
              <a:t>4. Theta </a:t>
            </a:r>
            <a:r>
              <a:rPr lang="ko-KR" altLang="en-US" sz="1000" dirty="0">
                <a:solidFill>
                  <a:srgbClr val="697386"/>
                </a:solidFill>
                <a:latin typeface="맑은 고딕"/>
              </a:rPr>
              <a:t>모델 튜닝 및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867" y="1472292"/>
            <a:ext cx="550000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Theta(2000)의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구조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theta=0 선: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장기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선형추세만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남긴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직선</a:t>
            </a:r>
            <a:endParaRPr sz="14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theta=2 선: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국소굴곡을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2배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증폭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SES로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최종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= 두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선의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50:50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</a:rPr>
              <a:t>평균</a:t>
            </a:r>
            <a:endParaRPr lang="en-US" sz="14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4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Hyndman &amp;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Billah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(2003)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동치식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위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과정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= SES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+ (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추세기울기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절반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) x h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D62728"/>
                </a:solidFill>
                <a:latin typeface="맑은 고딕"/>
              </a:rPr>
              <a:t>- 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직접계산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vs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동치식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결과가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소수점까지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일치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 smtClean="0">
                <a:solidFill>
                  <a:srgbClr val="D62728"/>
                </a:solidFill>
                <a:latin typeface="맑은 고딕"/>
              </a:rPr>
              <a:t>확인</a:t>
            </a:r>
            <a:endParaRPr lang="en-US" sz="1400" b="0" dirty="0" smtClean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400" b="0" dirty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X3_l1에서는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theta=2쪽(SES)이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사실상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마지막값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고정이라</a:t>
            </a:r>
            <a:r>
              <a:rPr sz="1400" b="0" dirty="0" smtClean="0">
                <a:solidFill>
                  <a:srgbClr val="172033"/>
                </a:solidFill>
                <a:latin typeface="맑은 고딕"/>
              </a:rPr>
              <a:t>,</a:t>
            </a:r>
            <a:endParaRPr lang="en-US" sz="14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0" dirty="0" err="1" smtClean="0">
                <a:solidFill>
                  <a:srgbClr val="172033"/>
                </a:solidFill>
                <a:latin typeface="맑은 고딕"/>
              </a:rPr>
              <a:t>최종</a:t>
            </a:r>
            <a:r>
              <a:rPr sz="14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예측이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theta=0(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추세직선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)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쪽으로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크게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좌우됨</a:t>
            </a:r>
            <a:endParaRPr sz="1400" b="0" dirty="0">
              <a:solidFill>
                <a:srgbClr val="172033"/>
              </a:solidFill>
              <a:latin typeface="맑은 고딕"/>
            </a:endParaRPr>
          </a:p>
        </p:txBody>
      </p:sp>
      <p:pic>
        <p:nvPicPr>
          <p:cNvPr id="9" name="Picture 8" descr="theta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095" y="1585124"/>
            <a:ext cx="6451213" cy="34919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5번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Lasso -- 5-fold 대신 LOOCV를 썼어야 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5. </a:t>
            </a:r>
            <a:r>
              <a:rPr lang="en-US" sz="1000" dirty="0" smtClean="0">
                <a:solidFill>
                  <a:srgbClr val="697386"/>
                </a:solidFill>
                <a:latin typeface="맑은 고딕"/>
              </a:rPr>
              <a:t>Lasso </a:t>
            </a:r>
            <a:r>
              <a:rPr lang="ko-KR" altLang="en-US" sz="1000" dirty="0" smtClean="0">
                <a:solidFill>
                  <a:srgbClr val="697386"/>
                </a:solidFill>
                <a:latin typeface="맑은 고딕"/>
              </a:rPr>
              <a:t>모델 분석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5-fold를 쓴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이유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</a:rPr>
              <a:t>LassoCV</a:t>
            </a:r>
            <a:r>
              <a:rPr sz="14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기본값이라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그대로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사용</a:t>
            </a:r>
            <a:endParaRPr sz="1400" b="0" dirty="0">
              <a:solidFill>
                <a:srgbClr val="172033"/>
              </a:solidFill>
              <a:latin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396197"/>
              </p:ext>
            </p:extLst>
          </p:nvPr>
        </p:nvGraphicFramePr>
        <p:xfrm>
          <a:off x="841248" y="2243603"/>
          <a:ext cx="10800000" cy="1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2400000"/>
                <a:gridCol w="2600000"/>
                <a:gridCol w="26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미튜닝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튜닝(5-fold)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튜닝(LOOCV)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전체(37개 origin)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0.6214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0.6295 (-1.3%)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0.6266 (-0.8%)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표본 적은 절반(&lt;=36개)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-3.6%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-2.3%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표본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많은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절반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(&gt;36개)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-0.1%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-0.1%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302839"/>
            <a:ext cx="105000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D62728"/>
                </a:solidFill>
                <a:latin typeface="맑은 고딕"/>
              </a:rPr>
              <a:t>●  </a:t>
            </a:r>
            <a:r>
              <a:rPr sz="1300" b="1" dirty="0" err="1">
                <a:solidFill>
                  <a:srgbClr val="D62728"/>
                </a:solidFill>
                <a:latin typeface="맑은 고딕"/>
              </a:rPr>
              <a:t>결론</a:t>
            </a:r>
            <a:endParaRPr sz="1300" b="1" dirty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표본이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적을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때만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튜닝이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나쁘고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표본이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늘면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격차가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거의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사라짐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(-3.6%-&gt;-0.1</a:t>
            </a:r>
            <a:r>
              <a:rPr sz="1300" b="0" dirty="0" smtClean="0">
                <a:solidFill>
                  <a:srgbClr val="172033"/>
                </a:solidFill>
                <a:latin typeface="맑은 고딕"/>
              </a:rPr>
              <a:t>%)</a:t>
            </a:r>
            <a:endParaRPr lang="en-US" sz="13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033"/>
                </a:solidFill>
                <a:latin typeface="맑은 고딕"/>
              </a:rPr>
              <a:t>	</a:t>
            </a:r>
            <a:r>
              <a:rPr lang="en-US" sz="1300" dirty="0" smtClean="0">
                <a:solidFill>
                  <a:srgbClr val="172033"/>
                </a:solidFill>
                <a:latin typeface="맑은 고딕"/>
              </a:rPr>
              <a:t>: </a:t>
            </a:r>
            <a:r>
              <a:rPr sz="1300" b="1" dirty="0" err="1" smtClean="0">
                <a:solidFill>
                  <a:srgbClr val="172033"/>
                </a:solidFill>
                <a:latin typeface="맑은 고딕"/>
              </a:rPr>
              <a:t>근본원인은</a:t>
            </a:r>
            <a:r>
              <a:rPr sz="13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1" dirty="0">
                <a:solidFill>
                  <a:srgbClr val="172033"/>
                </a:solidFill>
                <a:latin typeface="맑은 고딕"/>
              </a:rPr>
              <a:t>5-fold냐 </a:t>
            </a:r>
            <a:r>
              <a:rPr sz="1300" b="1" dirty="0" err="1">
                <a:solidFill>
                  <a:srgbClr val="172033"/>
                </a:solidFill>
                <a:latin typeface="맑은 고딕"/>
              </a:rPr>
              <a:t>LOOCV냐가</a:t>
            </a:r>
            <a:r>
              <a:rPr sz="1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72033"/>
                </a:solidFill>
                <a:latin typeface="맑은 고딕"/>
              </a:rPr>
              <a:t>아니라</a:t>
            </a:r>
            <a:r>
              <a:rPr sz="1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72033"/>
                </a:solidFill>
                <a:latin typeface="맑은 고딕"/>
              </a:rPr>
              <a:t>표본</a:t>
            </a:r>
            <a:r>
              <a:rPr sz="1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72033"/>
                </a:solidFill>
                <a:latin typeface="맑은 고딕"/>
              </a:rPr>
              <a:t>크기</a:t>
            </a:r>
            <a:endParaRPr sz="13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alpha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선택도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43.2%만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</a:rPr>
              <a:t>일치</a:t>
            </a:r>
            <a:endParaRPr lang="en-US" sz="130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300" b="0" dirty="0">
                <a:solidFill>
                  <a:srgbClr val="172033"/>
                </a:solidFill>
                <a:latin typeface="맑은 고딕"/>
              </a:rPr>
              <a:t>	</a:t>
            </a:r>
            <a:r>
              <a:rPr lang="en-US" sz="1300" b="0" dirty="0" smtClean="0">
                <a:solidFill>
                  <a:srgbClr val="172033"/>
                </a:solidFill>
                <a:latin typeface="맑은 고딕"/>
              </a:rPr>
              <a:t>: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</a:rPr>
              <a:t>그럼에도</a:t>
            </a:r>
            <a:r>
              <a:rPr sz="13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결론이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안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바뀜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.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표본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크기에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따라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최선이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달라져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하나로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고정할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근거가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없음</a:t>
            </a:r>
            <a:endParaRPr sz="13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5개 항목 종합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마무리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1. 점예측 일치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코드 구조상 필연 -- 4가지 차분설정 전부에서 재확인, 수정 불필요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2. 캘리브레이션 풀 확장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이미 확장형 구조로 정상 작동, 수정 불필요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3. bootstrap 타당성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block bootstrap 선택은 타당하나, 승률(의사결정용)과 DM검정(과학적 주장용)의 엄격도 차이를 인지하고 병행 필요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4. Theta 튜닝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정상 튜닝되나 X3_l1에서는 알파가 1.0(naive와 동일)으로 수렴 -- 랜덤워크 성질 때문(원인 규명 완료)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5. Lasso CV 방식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LOOCV도 근본해법은 아님 -- 표본부족이 진짜 원인, 표본 크기별로 최선이 달라짐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1018</Words>
  <Application>Microsoft Office PowerPoint</Application>
  <PresentationFormat>와이드스크린</PresentationFormat>
  <Paragraphs>197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23</cp:revision>
  <dcterms:created xsi:type="dcterms:W3CDTF">2013-01-27T09:14:16Z</dcterms:created>
  <dcterms:modified xsi:type="dcterms:W3CDTF">2026-09-22T06:29:02Z</dcterms:modified>
  <cp:category/>
</cp:coreProperties>
</file>