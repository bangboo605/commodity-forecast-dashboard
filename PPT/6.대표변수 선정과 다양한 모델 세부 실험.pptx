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70" r:id="rId13"/>
    <p:sldId id="265" r:id="rId14"/>
    <p:sldId id="271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200" b="1" dirty="0" smtClean="0">
                <a:solidFill>
                  <a:srgbClr val="172033"/>
                </a:solidFill>
                <a:latin typeface="맑은 고딕"/>
              </a:rPr>
              <a:t>대표변수 선정과 다양한 모델 세부 실험</a:t>
            </a:r>
            <a:endParaRPr sz="32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172033"/>
                </a:solidFill>
                <a:latin typeface="맑은 고딕"/>
              </a:rPr>
              <a:t>대표변수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(</a:t>
            </a:r>
            <a:r>
              <a:rPr lang="ko-KR" altLang="en-US" sz="1600" dirty="0"/>
              <a:t>X3</a:t>
            </a:r>
            <a:r>
              <a:rPr lang="en-US" altLang="ko-KR" sz="1600" dirty="0"/>
              <a:t/>
            </a:r>
            <a:r>
              <a:rPr lang="ko-KR" altLang="en-US" sz="1600" dirty="0"/>
              <a:t/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) </a:t>
            </a:r>
            <a:r>
              <a:rPr lang="ko-KR" altLang="en-US" sz="1500" dirty="0" smtClean="0">
                <a:solidFill>
                  <a:srgbClr val="172033"/>
                </a:solidFill>
                <a:latin typeface="맑은 고딕"/>
              </a:rPr>
              <a:t>위주의 실험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-- 9개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항목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검증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결과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40127" y="5767185"/>
            <a:ext cx="99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F9692"/>
                </a:solidFill>
                <a:latin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0.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1~9번 항목, 3단계로 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대표 변수 세부 실험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470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1단계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파이프라인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모듈화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+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평가기간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점검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1.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대표변수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하나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(</a:t>
            </a:r>
            <a:r>
              <a:rPr lang="ko-KR" altLang="en-US" sz="1500" dirty="0" smtClean="0">
                <a:solidFill>
                  <a:srgbClr val="172033"/>
                </a:solidFill>
                <a:latin typeface="맑은 고딕"/>
              </a:rPr>
              <a:t>X3</a:t>
            </a:r>
            <a:r>
              <a:rPr lang="en-US" altLang="ko-KR" sz="1500" dirty="0" smtClean="0">
                <a:solidFill>
                  <a:srgbClr val="172033"/>
                </a:solidFill>
                <a:latin typeface="맑은 고딕"/>
              </a:rPr>
              <a:t/>
            </a:r>
            <a:r>
              <a:rPr lang="ko-KR" altLang="en-US" sz="150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lang="en-US" altLang="ko-KR" sz="1500" dirty="0" smtClean="0">
                <a:solidFill>
                  <a:srgbClr val="172033"/>
                </a:solidFill>
                <a:latin typeface="맑은 고딕"/>
              </a:rPr>
              <a:t>“</a:t>
            </a:r>
            <a:r>
              <a:rPr lang="en-US" altLang="ko-KR" sz="1600" dirty="0"/>
              <a:t>X3_l1</a:t>
            </a:r>
            <a:r>
              <a:rPr lang="en-US" altLang="ko-KR" sz="1500" dirty="0" smtClean="0">
                <a:solidFill>
                  <a:srgbClr val="172033"/>
                </a:solidFill>
                <a:latin typeface="맑은 고딕"/>
              </a:rPr>
              <a:t>”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)</a:t>
            </a:r>
            <a:r>
              <a:rPr lang="en-US"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lang="ko-KR" altLang="en-US" sz="1500" b="0" dirty="0" smtClean="0">
                <a:solidFill>
                  <a:srgbClr val="172033"/>
                </a:solidFill>
                <a:latin typeface="맑은 고딕"/>
              </a:rPr>
              <a:t>선정 </a:t>
            </a:r>
            <a:r>
              <a:rPr lang="en-US" altLang="ko-KR" sz="1500" b="0" dirty="0" smtClean="0">
                <a:solidFill>
                  <a:srgbClr val="172033"/>
                </a:solidFill>
                <a:latin typeface="맑은 고딕"/>
              </a:rPr>
              <a:t>: </a:t>
            </a:r>
            <a:r>
              <a:rPr lang="ko-KR" altLang="en-US" sz="1500" b="0" dirty="0" smtClean="0">
                <a:solidFill>
                  <a:srgbClr val="172033"/>
                </a:solidFill>
                <a:latin typeface="맑은 고딕"/>
              </a:rPr>
              <a:t>추후 모듈화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2.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평가기간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(origin)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늘렸을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때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장단점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확인</a:t>
            </a:r>
            <a:endParaRPr lang="en-US" sz="15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2단계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롤링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여부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/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GP·Theta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설명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/ Lasso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튜닝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3.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롤링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사용여부</a:t>
            </a:r>
            <a:endParaRPr lang="en-US" sz="150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altLang="ko-KR"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lang="en-US" altLang="ko-KR" sz="1500" dirty="0" smtClean="0">
                <a:solidFill>
                  <a:srgbClr val="172033"/>
                </a:solidFill>
                <a:latin typeface="맑은 고딕"/>
              </a:rPr>
              <a:t>4. </a:t>
            </a:r>
            <a:r>
              <a:rPr lang="en-US" altLang="ko-KR" sz="1500" dirty="0">
                <a:solidFill>
                  <a:srgbClr val="172033"/>
                </a:solidFill>
                <a:latin typeface="맑은 고딕"/>
              </a:rPr>
              <a:t>GP </a:t>
            </a:r>
            <a:r>
              <a:rPr lang="ko-KR" altLang="en-US" sz="1500" dirty="0">
                <a:solidFill>
                  <a:srgbClr val="172033"/>
                </a:solidFill>
                <a:latin typeface="맑은 고딕"/>
              </a:rPr>
              <a:t>모델 추가설명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lang="en-US" sz="1500" dirty="0" smtClean="0">
                <a:solidFill>
                  <a:srgbClr val="172033"/>
                </a:solidFill>
                <a:latin typeface="맑은 고딕"/>
              </a:rPr>
              <a:t>5.</a:t>
            </a:r>
            <a:r>
              <a:rPr lang="en-US" altLang="ko-KR" sz="1500" dirty="0">
                <a:solidFill>
                  <a:srgbClr val="172033"/>
                </a:solidFill>
                <a:latin typeface="맑은 고딕"/>
              </a:rPr>
              <a:t> Theta </a:t>
            </a:r>
            <a:r>
              <a:rPr lang="ko-KR" altLang="en-US" sz="1500" dirty="0">
                <a:solidFill>
                  <a:srgbClr val="172033"/>
                </a:solidFill>
                <a:latin typeface="맑은 고딕"/>
              </a:rPr>
              <a:t>모델 설명 </a:t>
            </a:r>
            <a:endParaRPr lang="en-US" sz="150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500" b="0" dirty="0" smtClean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6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. 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Lasso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튜닝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점검</a:t>
            </a:r>
            <a:endParaRPr lang="en-US" sz="1500" b="0" dirty="0" smtClean="0">
              <a:solidFill>
                <a:srgbClr val="172033"/>
              </a:solidFill>
              <a:latin typeface="맑은 고딕"/>
            </a:endParaRPr>
          </a:p>
          <a:p>
            <a:pPr marL="285750" indent="-285750">
              <a:spcAft>
                <a:spcPts val="800"/>
              </a:spcAft>
              <a:buFontTx/>
              <a:buChar char="-"/>
            </a:pPr>
            <a:endParaRPr sz="15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3단계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기준지표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교체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/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자체커버리지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/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차분비교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확장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7.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기준지표를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7분위CRPS+커버리지+MSE로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교체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8. ARIMA/GARCH/SV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자체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커버리지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vs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기존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리샘플링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9.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차분비교를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ARIMA/GARCH/SV/GP-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Matern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4개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모델로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확장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1단계 -- 1번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 err="1">
                <a:solidFill>
                  <a:srgbClr val="172033"/>
                </a:solidFill>
                <a:latin typeface="맑은 고딕"/>
              </a:rPr>
              <a:t>대표변수</a:t>
            </a:r>
            <a:r>
              <a:rPr sz="23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300" b="1" dirty="0" err="1" smtClean="0">
                <a:solidFill>
                  <a:srgbClr val="172033"/>
                </a:solidFill>
                <a:latin typeface="맑은 고딕"/>
              </a:rPr>
              <a:t>하나</a:t>
            </a:r>
            <a:r>
              <a:rPr lang="en-US" sz="23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</a:rPr>
              <a:t>선정 후</a:t>
            </a:r>
            <a:r>
              <a:rPr sz="23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</a:rPr>
              <a:t>추후 </a:t>
            </a:r>
            <a:r>
              <a:rPr sz="2300" b="1" dirty="0" err="1" smtClean="0">
                <a:solidFill>
                  <a:srgbClr val="172033"/>
                </a:solidFill>
                <a:latin typeface="맑은 고딕"/>
              </a:rPr>
              <a:t>모듈</a:t>
            </a:r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</a:rPr>
              <a:t>화하기</a:t>
            </a:r>
            <a:endParaRPr sz="23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1</a:t>
            </a:r>
            <a:r>
              <a:rPr lang="en-US" altLang="ko-KR" sz="1000" b="0" dirty="0" smtClean="0">
                <a:solidFill>
                  <a:srgbClr val="697386"/>
                </a:solidFill>
                <a:latin typeface="맑은 고딕"/>
              </a:rPr>
              <a:t>. 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대표변수 선정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목표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6개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변수를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매번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따로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검증하는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대신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,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변수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하나로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파이프라인을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함수화해서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재사용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결과물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--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run_variable_pipeline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var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)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16개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후보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백테스트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-&gt;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CRPS+bootstrap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-&gt;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결정규칙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-&gt;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커버리지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체크가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한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번에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실행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검증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D62728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D62728"/>
                </a:solidFill>
                <a:latin typeface="맑은 고딕"/>
              </a:rPr>
              <a:t>X3_l1으로 6-1과 </a:t>
            </a:r>
            <a:r>
              <a:rPr sz="1600" b="0" dirty="0" err="1">
                <a:solidFill>
                  <a:srgbClr val="D62728"/>
                </a:solidFill>
                <a:latin typeface="맑은 고딕"/>
              </a:rPr>
              <a:t>같은</a:t>
            </a:r>
            <a:r>
              <a:rPr sz="16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D62728"/>
                </a:solidFill>
                <a:latin typeface="맑은 고딕"/>
              </a:rPr>
              <a:t>결과</a:t>
            </a:r>
            <a:r>
              <a:rPr sz="1600" b="0" dirty="0">
                <a:solidFill>
                  <a:srgbClr val="D62728"/>
                </a:solidFill>
                <a:latin typeface="맑은 고딕"/>
              </a:rPr>
              <a:t>(GP-</a:t>
            </a:r>
            <a:r>
              <a:rPr sz="1600" b="0" dirty="0" err="1">
                <a:solidFill>
                  <a:srgbClr val="D62728"/>
                </a:solidFill>
                <a:latin typeface="맑은 고딕"/>
              </a:rPr>
              <a:t>Matern</a:t>
            </a:r>
            <a:r>
              <a:rPr sz="16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D62728"/>
                </a:solidFill>
                <a:latin typeface="맑은 고딕"/>
              </a:rPr>
              <a:t>승률</a:t>
            </a:r>
            <a:r>
              <a:rPr sz="1600" b="0" dirty="0">
                <a:solidFill>
                  <a:srgbClr val="D62728"/>
                </a:solidFill>
                <a:latin typeface="맑은 고딕"/>
              </a:rPr>
              <a:t> 1위, </a:t>
            </a:r>
            <a:r>
              <a:rPr sz="1600" b="0" dirty="0" err="1">
                <a:solidFill>
                  <a:srgbClr val="D62728"/>
                </a:solidFill>
                <a:latin typeface="맑은 고딕"/>
              </a:rPr>
              <a:t>폭손해로</a:t>
            </a:r>
            <a:r>
              <a:rPr sz="1600" b="0" dirty="0">
                <a:solidFill>
                  <a:srgbClr val="D62728"/>
                </a:solidFill>
                <a:latin typeface="맑은 고딕"/>
              </a:rPr>
              <a:t> E3 </a:t>
            </a:r>
            <a:r>
              <a:rPr sz="1600" b="0" dirty="0" err="1">
                <a:solidFill>
                  <a:srgbClr val="D62728"/>
                </a:solidFill>
                <a:latin typeface="맑은 고딕"/>
              </a:rPr>
              <a:t>유지</a:t>
            </a:r>
            <a:r>
              <a:rPr sz="1600" b="0" dirty="0">
                <a:solidFill>
                  <a:srgbClr val="D62728"/>
                </a:solidFill>
                <a:latin typeface="맑은 고딕"/>
              </a:rPr>
              <a:t>) </a:t>
            </a:r>
            <a:r>
              <a:rPr sz="1600" b="0" dirty="0" err="1">
                <a:solidFill>
                  <a:srgbClr val="D62728"/>
                </a:solidFill>
                <a:latin typeface="맑은 고딕"/>
              </a:rPr>
              <a:t>재현</a:t>
            </a:r>
            <a:r>
              <a:rPr sz="16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D62728"/>
                </a:solidFill>
                <a:latin typeface="맑은 고딕"/>
              </a:rPr>
              <a:t>확인</a:t>
            </a:r>
            <a:endParaRPr sz="1600" b="0" dirty="0">
              <a:solidFill>
                <a:srgbClr val="D62728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-&gt;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모듈이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정상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동작함을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확인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1단계 -- 2-1번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172033"/>
                </a:solidFill>
                <a:latin typeface="맑은 고딕"/>
              </a:rPr>
              <a:t>MIN_TRAIN vs INITIAL_CALIB </a:t>
            </a:r>
            <a:r>
              <a:rPr lang="en-US" altLang="ko-KR" sz="2300" b="1" dirty="0" smtClean="0">
                <a:solidFill>
                  <a:srgbClr val="172033"/>
                </a:solidFill>
                <a:latin typeface="맑은 고딕"/>
              </a:rPr>
              <a:t>–</a:t>
            </a:r>
            <a:r>
              <a:rPr sz="2300" b="1" dirty="0" smtClean="0">
                <a:solidFill>
                  <a:srgbClr val="172033"/>
                </a:solidFill>
                <a:latin typeface="맑은 고딕"/>
              </a:rPr>
              <a:t> origin</a:t>
            </a:r>
            <a:r>
              <a:rPr lang="en-US" sz="23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</a:rPr>
              <a:t>예시</a:t>
            </a:r>
            <a:endParaRPr sz="23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2</a:t>
            </a:r>
            <a:r>
              <a:rPr lang="en-US" sz="1000" dirty="0" smtClean="0">
                <a:solidFill>
                  <a:srgbClr val="697386"/>
                </a:solidFill>
                <a:latin typeface="맑은 고딕"/>
              </a:rPr>
              <a:t>. Origin </a:t>
            </a:r>
            <a:r>
              <a:rPr lang="ko-KR" altLang="en-US" sz="1000" dirty="0" smtClean="0">
                <a:solidFill>
                  <a:srgbClr val="697386"/>
                </a:solidFill>
                <a:latin typeface="맑은 고딕"/>
              </a:rPr>
              <a:t>늘리기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64" y="1270690"/>
            <a:ext cx="10000000" cy="32768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736836"/>
            <a:ext cx="5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033"/>
                </a:solidFill>
                <a:latin typeface="맑은 고딕"/>
              </a:rPr>
              <a:t>예1(현재): MIN_TRAIN=20, INITIAL_CALIB=15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0000" y="4736836"/>
            <a:ext cx="5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033"/>
                </a:solidFill>
                <a:latin typeface="맑은 고딕"/>
              </a:rPr>
              <a:t>예2(가상): MIN_TRAIN=12, INITIAL_CALIB=8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41248" y="4936836"/>
          <a:ext cx="51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1500000"/>
                <a:gridCol w="1700000"/>
              </a:tblGrid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구간</a:t>
                      </a:r>
                    </a:p>
                  </a:txBody>
                  <a:tcPr marL="30000" marR="30000" marT="8000" marB="8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존재하나?</a:t>
                      </a:r>
                    </a:p>
                  </a:txBody>
                  <a:tcPr marL="30000" marR="30000" marT="8000" marB="8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30000" marR="30000" marT="8000" marB="8000">
                    <a:solidFill>
                      <a:srgbClr val="172033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origin 1~19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아예 안 만듦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없음(MIN_TRAIN 미달)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origin 20~34(15개)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만듦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캘리브레이션 전용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origin 35~56(22개)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만듦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실제 채점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00000" y="4936836"/>
          <a:ext cx="51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1500000"/>
                <a:gridCol w="1700000"/>
              </a:tblGrid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구간</a:t>
                      </a:r>
                    </a:p>
                  </a:txBody>
                  <a:tcPr marL="30000" marR="30000" marT="8000" marB="8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존재하나?</a:t>
                      </a:r>
                    </a:p>
                  </a:txBody>
                  <a:tcPr marL="30000" marR="30000" marT="8000" marB="8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30000" marR="30000" marT="8000" marB="8000">
                    <a:solidFill>
                      <a:srgbClr val="172033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origin 1~11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아예 안 만듦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없음(MIN_TRAIN 미달)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origin 12~19(8개)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만듦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캘리브레이션 전용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origin 20~56(37개)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만듦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B4A"/>
                          </a:solidFill>
                          <a:latin typeface="맑은 고딕"/>
                        </a:rPr>
                        <a:t>실제 채점</a:t>
                      </a:r>
                    </a:p>
                  </a:txBody>
                  <a:tcPr marL="30000" marR="30000" marT="8000" marB="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1단계 -- 2-2번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평가기간(origin)을 늘리면 생기는 장단점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697386"/>
                </a:solidFill>
                <a:latin typeface="맑은 고딕"/>
              </a:rPr>
              <a:t>2. Origin </a:t>
            </a:r>
            <a:r>
              <a:rPr lang="ko-KR" altLang="en-US" sz="1000" dirty="0">
                <a:solidFill>
                  <a:srgbClr val="697386"/>
                </a:solidFill>
                <a:latin typeface="맑은 고딕"/>
              </a:rPr>
              <a:t>늘리기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383626"/>
              </p:ext>
            </p:extLst>
          </p:nvPr>
        </p:nvGraphicFramePr>
        <p:xfrm>
          <a:off x="841248" y="1500000"/>
          <a:ext cx="112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3200000"/>
                <a:gridCol w="4200000"/>
              </a:tblGrid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장점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단점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(A) INITIAL_CALIB 축소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저비용, 채점origin 증가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캘리브레이션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풀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축소로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노이즈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 smtClean="0">
                          <a:solidFill>
                            <a:srgbClr val="333B4A"/>
                          </a:solidFill>
                          <a:latin typeface="맑은 고딕"/>
                        </a:rPr>
                        <a:t>민감</a:t>
                      </a:r>
                      <a:r>
                        <a:rPr lang="en-US" sz="1300" b="0" dirty="0" smtClean="0">
                          <a:solidFill>
                            <a:srgbClr val="333B4A"/>
                          </a:solidFill>
                          <a:latin typeface="맑은 고딕"/>
                        </a:rPr>
                        <a:t/>
                      </a:r>
                      <a:br>
                        <a:rPr lang="en-US" sz="1300" b="0" dirty="0" smtClean="0">
                          <a:solidFill>
                            <a:srgbClr val="333B4A"/>
                          </a:solidFill>
                          <a:latin typeface="맑은 고딕"/>
                        </a:rPr>
                      </a:br>
                      <a:r>
                        <a:rPr sz="1300" b="0" dirty="0" smtClean="0">
                          <a:solidFill>
                            <a:srgbClr val="333B4A"/>
                          </a:solidFill>
                          <a:latin typeface="맑은 고딕"/>
                        </a:rPr>
                        <a:t>(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실제로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결론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뒤집힘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(B) MIN_TRAIN 축소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통계적 검정력 향상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재계산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비용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큼 +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낙관적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왜곡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위험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(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실험으로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확인됨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데이터 자체 확장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--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2010~11년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이전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데이터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없어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원천적으로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불가</a:t>
                      </a:r>
                      <a:endParaRPr sz="1300" b="0" dirty="0">
                        <a:solidFill>
                          <a:srgbClr val="333B4A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200000"/>
            <a:ext cx="10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6F9692"/>
                </a:solidFill>
                <a:latin typeface="맑은 고딕"/>
              </a:rPr>
              <a:t>최종 판단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MIN_TRAIN=20, INITIAL_CALIB=15 그대로 유지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두 방법 다 다른 위험과 맞바꾸는 것이었고, 지금 값이 나쁘다는 증거도 없어서 여기서 멈춤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2단계 -- 3번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예측 시 롤링(재귀) 사용여부 -- 코드로 증명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3. 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롤링 여부 확인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500000"/>
          <a:ext cx="112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2400000"/>
                <a:gridCol w="6200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모델 계열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롤링 사용?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회귀/RF/kNN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씀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lag 입력이라 h=2부터 직전 예측값을 대신 넣어야 함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ARIMA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씀 (내부적으로)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AR항이 있으면 h=2 예측에 h=1 예측값이 필요(수학적 필연)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GP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안 씀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입력=시간 인덱스뿐이라 미래 시점 이미 알고 있음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Theta/Holt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안 씀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마지막 수준+h*추세 라는 닫힌 형태 공식으로 h를 바로 대입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200000"/>
            <a:ext cx="10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검증 방법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ARIMA: 통제된 AR(1)로 수동 재귀계산 vs pmdarima predict() 비교 -&gt; 소수점까지 일치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GP: h=1~4 조인트 예측 vs 개별 예측 결과 비교 -&gt; 완전히 동일 (롤링 불필요 증명)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97386"/>
                </a:solidFill>
                <a:latin typeface="맑은 고딕"/>
              </a:rPr>
              <a:t>2단계 -- 4~5번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GP·Theta 모델 추가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4~5. 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모델 추가 설명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3441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4. GP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입력이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"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시간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인덱스"뿐임을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코드로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확인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lang="pt-BR" altLang="ko-KR" sz="1600" dirty="0"/>
              <a:t>Xf_joint = np.arange(n, n + </a:t>
            </a:r>
            <a:r>
              <a:rPr lang="pt-BR" altLang="ko-KR" sz="1600" b="1" dirty="0">
                <a:solidFill>
                  <a:srgbClr val="FF0000"/>
                </a:solidFill>
              </a:rPr>
              <a:t>H</a:t>
            </a:r>
            <a:r>
              <a:rPr lang="pt-BR" altLang="ko-KR" sz="1600" dirty="0"/>
              <a:t>).reshape(-1, 1) / n</a:t>
            </a:r>
          </a:p>
          <a:p>
            <a:pPr>
              <a:spcAft>
                <a:spcPts val="800"/>
              </a:spcAft>
            </a:pPr>
            <a:r>
              <a:rPr lang="en-US" sz="1500" b="0" dirty="0" smtClean="0">
                <a:solidFill>
                  <a:srgbClr val="172033"/>
                </a:solidFill>
                <a:latin typeface="맑은 고딕"/>
              </a:rPr>
              <a:t>	</a:t>
            </a:r>
            <a:r>
              <a:rPr lang="en-US" sz="1500" dirty="0">
                <a:solidFill>
                  <a:srgbClr val="172033"/>
                </a:solidFill>
                <a:latin typeface="맑은 고딕"/>
              </a:rPr>
              <a:t>: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과거값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(lag)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대신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"몇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번째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시점인가"만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입력으로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사용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조인트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예측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(h=1~4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한번에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)과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개별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예측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결과가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완전히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동일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-&gt;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롤링이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필요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없는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이유</a:t>
            </a:r>
            <a:endParaRPr lang="en-US" sz="15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5. Theta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실제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코드와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알고리즘적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근거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lang="fr-FR" altLang="ko-KR" sz="1600" dirty="0" smtClean="0"/>
              <a:t>ses_fc </a:t>
            </a:r>
            <a:r>
              <a:rPr lang="fr-FR" altLang="ko-KR" sz="1600" dirty="0"/>
              <a:t>+ (slope / 2) * np.arange(1, h + 1)</a:t>
            </a:r>
          </a:p>
          <a:p>
            <a:r>
              <a:rPr lang="en-US" altLang="ko-KR" sz="1600" dirty="0" smtClean="0"/>
              <a:t>	: </a:t>
            </a:r>
            <a:r>
              <a:rPr lang="en-US" altLang="ko-KR" sz="1600" dirty="0">
                <a:solidFill>
                  <a:srgbClr val="172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SES(</a:t>
            </a:r>
            <a:r>
              <a:rPr lang="ko-KR" altLang="en-US" sz="1600" dirty="0">
                <a:solidFill>
                  <a:srgbClr val="172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단순지수평활</a:t>
            </a:r>
            <a:r>
              <a:rPr lang="en-US" altLang="ko-KR" sz="1600" dirty="0">
                <a:solidFill>
                  <a:srgbClr val="172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ko-KR" altLang="en-US" sz="1600" dirty="0">
                <a:solidFill>
                  <a:srgbClr val="172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선형기울기 절반 * </a:t>
            </a:r>
            <a:r>
              <a:rPr lang="en-US" altLang="ko-KR" sz="1600" dirty="0">
                <a:solidFill>
                  <a:srgbClr val="172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</a:p>
          <a:p>
            <a:r>
              <a:rPr lang="en-US" altLang="ko-KR" sz="1600" dirty="0" smtClean="0"/>
              <a:t>	: theta -&gt; 0</a:t>
            </a:r>
            <a:r>
              <a:rPr lang="en-US" altLang="ko-KR" sz="1600" dirty="0"/>
              <a:t>(</a:t>
            </a:r>
            <a:r>
              <a:rPr lang="ko-KR" altLang="en-US" sz="1600" dirty="0"/>
              <a:t>추세선</a:t>
            </a:r>
            <a:r>
              <a:rPr lang="en-US" altLang="ko-KR" sz="1600" dirty="0"/>
              <a:t>)·theta=2(SES) </a:t>
            </a:r>
            <a:r>
              <a:rPr lang="ko-KR" altLang="en-US" sz="1600" dirty="0"/>
              <a:t>두 선을 </a:t>
            </a:r>
            <a:r>
              <a:rPr lang="en-US" altLang="ko-KR" sz="1600" dirty="0"/>
              <a:t>50:50 </a:t>
            </a:r>
            <a:r>
              <a:rPr lang="ko-KR" altLang="en-US" sz="1600" dirty="0" smtClean="0"/>
              <a:t>평균</a:t>
            </a:r>
            <a:endParaRPr lang="en-US" altLang="ko-KR" sz="1600" dirty="0"/>
          </a:p>
          <a:p>
            <a:r>
              <a:rPr lang="en-US" altLang="ko-KR" sz="1600" dirty="0" smtClean="0"/>
              <a:t>-   Theta(</a:t>
            </a:r>
            <a:r>
              <a:rPr lang="en-US" altLang="ko-KR" sz="1600" dirty="0" err="1" smtClean="0"/>
              <a:t>Assimakopoulos</a:t>
            </a:r>
            <a:r>
              <a:rPr lang="en-US" altLang="ko-KR" sz="1600" dirty="0" smtClean="0"/>
              <a:t> </a:t>
            </a:r>
            <a:r>
              <a:rPr lang="en-US" altLang="ko-KR" sz="1600" dirty="0"/>
              <a:t>&amp; </a:t>
            </a:r>
            <a:r>
              <a:rPr lang="en-US" altLang="ko-KR" sz="1600" dirty="0" err="1"/>
              <a:t>Nikolopoulos</a:t>
            </a:r>
            <a:r>
              <a:rPr lang="en-US" altLang="ko-KR" sz="1600" dirty="0"/>
              <a:t>, 2000)</a:t>
            </a:r>
          </a:p>
          <a:p>
            <a:endParaRPr lang="ko-KR" alt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2단계 -- 6번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회귀 Lasso 모델 튜닝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6. Lasso 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튜닝 확인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기존 튜닝 여부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LassoCV(alphas=logspace(-3,3,13))로 이미 튜닝돼 있었음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그리드서치 + 5-fold 교차검증, origin마다 매번 새로 탐색(미래 누출 없음)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00000"/>
            <a:ext cx="10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D62728"/>
                </a:solidFill>
                <a:latin typeface="맑은 고딕"/>
              </a:rPr>
              <a:t>●  안 튜닝했으면? -- 예상외의 결과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미튜닝(alpha=1.0 고정)이 튜닝보다 오히려 1.3% 더 나음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원인 추정: origin당 표본 18개뿐이라 5-fold가 폴드당 3~4개로 너무 적음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97386"/>
                </a:solidFill>
                <a:latin typeface="맑은 고딕"/>
              </a:rPr>
              <a:t>3단계 -- 7</a:t>
            </a:r>
            <a:r>
              <a:rPr sz="1200" b="1" dirty="0" smtClean="0">
                <a:solidFill>
                  <a:srgbClr val="697386"/>
                </a:solidFill>
                <a:latin typeface="맑은 고딕"/>
              </a:rPr>
              <a:t>번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기준지표를 7분위CRPS+커버리지+MSE로 교체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7. 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기준지표 수정</a:t>
            </a:r>
            <a:r>
              <a:rPr lang="en-US" altLang="ko-KR" sz="1000" b="0" dirty="0" smtClean="0">
                <a:solidFill>
                  <a:srgbClr val="697386"/>
                </a:solidFill>
                <a:latin typeface="맑은 고딕"/>
              </a:rPr>
              <a:t>(</a:t>
            </a:r>
            <a:r>
              <a:rPr lang="ko-KR" altLang="en-US" sz="1000" b="0" dirty="0" err="1" smtClean="0">
                <a:solidFill>
                  <a:srgbClr val="697386"/>
                </a:solidFill>
                <a:latin typeface="맑은 고딕"/>
              </a:rPr>
              <a:t>분위</a:t>
            </a:r>
            <a:r>
              <a:rPr lang="en-US" altLang="ko-KR" sz="1000" b="0" dirty="0" smtClean="0">
                <a:solidFill>
                  <a:srgbClr val="697386"/>
                </a:solidFill>
                <a:latin typeface="맑은 고딕"/>
              </a:rPr>
              <a:t>CRPS + 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커버리지 </a:t>
            </a:r>
            <a:r>
              <a:rPr lang="en-US" altLang="ko-KR" sz="1000" b="0" dirty="0" smtClean="0">
                <a:solidFill>
                  <a:srgbClr val="697386"/>
                </a:solidFill>
                <a:latin typeface="맑은 고딕"/>
              </a:rPr>
              <a:t>+ </a:t>
            </a:r>
            <a:r>
              <a:rPr lang="en-US" altLang="ko-KR" sz="1000" dirty="0" smtClean="0">
                <a:solidFill>
                  <a:srgbClr val="697386"/>
                </a:solidFill>
                <a:latin typeface="맑은 고딕"/>
              </a:rPr>
              <a:t>MSE)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방법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16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개+E3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후보를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새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지표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3개로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재채점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+ block bootstrap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검증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596316"/>
              </p:ext>
            </p:extLst>
          </p:nvPr>
        </p:nvGraphicFramePr>
        <p:xfrm>
          <a:off x="841248" y="2400000"/>
          <a:ext cx="11200000" cy="1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000"/>
                <a:gridCol w="4000000"/>
                <a:gridCol w="3800000"/>
              </a:tblGrid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검증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6-1과 다른 결론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단순 재계산(1회)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4/6 변수 다름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대부분 노이즈였음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Bootstrap 검증 후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1/6 </a:t>
                      </a:r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변수만</a:t>
                      </a:r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다름</a:t>
                      </a:r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(X3_l1)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smtClean="0">
                          <a:solidFill>
                            <a:srgbClr val="D62728"/>
                          </a:solidFill>
                          <a:latin typeface="맑은 고딕"/>
                        </a:rPr>
                        <a:t>2</a:t>
                      </a:r>
                      <a:r>
                        <a:rPr lang="ko-KR" altLang="en-US" sz="1300" b="1" dirty="0" smtClean="0">
                          <a:solidFill>
                            <a:srgbClr val="D62728"/>
                          </a:solidFill>
                          <a:latin typeface="맑은 고딕"/>
                        </a:rPr>
                        <a:t>위인 </a:t>
                      </a:r>
                      <a:r>
                        <a:rPr lang="en-US" sz="1300" b="1" dirty="0" smtClean="0">
                          <a:solidFill>
                            <a:srgbClr val="D62728"/>
                          </a:solidFill>
                          <a:latin typeface="맑은 고딕"/>
                        </a:rPr>
                        <a:t>E3</a:t>
                      </a:r>
                      <a:r>
                        <a:rPr lang="ko-KR" altLang="en-US" sz="1300" b="1" dirty="0" smtClean="0">
                          <a:solidFill>
                            <a:srgbClr val="D62728"/>
                          </a:solidFill>
                          <a:latin typeface="맑은 고딕"/>
                        </a:rPr>
                        <a:t>과 비교해 </a:t>
                      </a:r>
                      <a:r>
                        <a:rPr lang="ko-KR" altLang="en-US" sz="1300" b="1" dirty="0" err="1" smtClean="0">
                          <a:solidFill>
                            <a:srgbClr val="D62728"/>
                          </a:solidFill>
                          <a:latin typeface="맑은 고딕"/>
                        </a:rPr>
                        <a:t>구간폭이</a:t>
                      </a:r>
                      <a:r>
                        <a:rPr lang="ko-KR" altLang="en-US" sz="1300" b="1" dirty="0" smtClean="0">
                          <a:solidFill>
                            <a:srgbClr val="D62728"/>
                          </a:solidFill>
                          <a:latin typeface="맑은 고딕"/>
                        </a:rPr>
                        <a:t> 넓음</a:t>
                      </a:r>
                      <a:endParaRPr sz="1300" b="1" dirty="0">
                        <a:solidFill>
                          <a:srgbClr val="D62728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467855"/>
            <a:ext cx="10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종합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결론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지표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선택보다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안전장치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(bootstrap 등)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유무가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결론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안정성을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더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크게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좌우한다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3단계 -- 8-1번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모델별 자체 커버리지는 어떻게 계산하나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8. 자체 커버리지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B4A"/>
                </a:solidFill>
                <a:latin typeface="맑은 고딕"/>
              </a:rPr>
              <a:t>공통: 구간 = 점예측 +- 1.645 x sigma_h -- sigma_h만 다르게 구함(리샘플링 전혀 없음)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2100000"/>
          <a:ext cx="105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8100000"/>
              </a:tblGrid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sigma_h 구하는 법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ARIMA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상태공간 이론공식(라이브러리 자동, return_conf_int=True)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GARCH(1,1)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ARIMA 잔차에 GARCH 적합 -&gt; forecast(horizon=h)로 h스텝 분산 직접예측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SV(QML)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log(잔차^2)를 관측치로 칼만필터 -&gt; h_t 추정 -&gt; h스텝 예측 -&gt; exp()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421670"/>
            <a:ext cx="10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SV(QML) -- Harvey Ruiz Shephard(1994)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방법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상태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: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h_t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= phi*h_(t-1) +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eta_t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(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로그변동성이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AR(1)로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움직임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관측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: log(잔차^2) =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h_t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+ log(e_t^2) -- log(e_t^2)의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평균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/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분산이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알려져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있어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정규근사로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칼만필터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적용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가능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(QML)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97386"/>
                </a:solidFill>
                <a:latin typeface="맑은 고딕"/>
              </a:rPr>
              <a:t>3단계 -- 8-2번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ARIMA/GARCH/SV 자체 커버리지 vs 기존 리샘플링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 smtClean="0">
                <a:solidFill>
                  <a:srgbClr val="697386"/>
                </a:solidFill>
                <a:latin typeface="맑은 고딕"/>
              </a:rPr>
              <a:t>8. </a:t>
            </a:r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자체 커버리지 비교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500000"/>
          <a:ext cx="102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3200000"/>
                <a:gridCol w="320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커버리지(%)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목표(90%)와 차이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기존(리샘플링)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73.9%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-16.1%p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ARIMA 자체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51.1%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-38.9%p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GARCH(1,1) 자체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36.4%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-53.6%p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SV(QML) 자체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42.0%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-48.0%p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900000"/>
            <a:ext cx="10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원인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(1)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정규분포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가정이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실제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비정규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)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데이터에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안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맞음</a:t>
            </a:r>
            <a:endParaRPr sz="14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(2) GARCH/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SV는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"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변동성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평균회귀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"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가정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때문에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h가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커져도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구간폭이</a:t>
            </a:r>
            <a:r>
              <a:rPr sz="1400" b="0" dirty="0">
                <a:solidFill>
                  <a:srgbClr val="172033"/>
                </a:solidFill>
                <a:latin typeface="맑은 고딕"/>
              </a:rPr>
              <a:t> 안 </a:t>
            </a:r>
            <a:r>
              <a:rPr sz="1400" b="0" dirty="0" err="1">
                <a:solidFill>
                  <a:srgbClr val="172033"/>
                </a:solidFill>
                <a:latin typeface="맑은 고딕"/>
              </a:rPr>
              <a:t>넓어짐</a:t>
            </a:r>
            <a:endParaRPr sz="14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D62728"/>
                </a:solidFill>
                <a:latin typeface="맑은 고딕"/>
              </a:rPr>
              <a:t>●  </a:t>
            </a:r>
            <a:r>
              <a:rPr sz="1400" b="1" dirty="0" err="1">
                <a:solidFill>
                  <a:srgbClr val="D62728"/>
                </a:solidFill>
                <a:latin typeface="맑은 고딕"/>
              </a:rPr>
              <a:t>부수</a:t>
            </a:r>
            <a:r>
              <a:rPr sz="14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D62728"/>
                </a:solidFill>
                <a:latin typeface="맑은 고딕"/>
              </a:rPr>
              <a:t>발견</a:t>
            </a:r>
            <a:endParaRPr sz="1400" b="1" dirty="0">
              <a:solidFill>
                <a:srgbClr val="D62728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D62728"/>
                </a:solidFill>
                <a:latin typeface="맑은 고딕"/>
              </a:rPr>
              <a:t>-  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SV(QML)이 phi≈1일 때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분산이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지수적으로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폭발하는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버그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발견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-&gt; phi&lt;=0.97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하드상한으로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근본</a:t>
            </a:r>
            <a:r>
              <a:rPr sz="1400" b="0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D62728"/>
                </a:solidFill>
                <a:latin typeface="맑은 고딕"/>
              </a:rPr>
              <a:t>해결</a:t>
            </a:r>
            <a:endParaRPr sz="1400" b="0" dirty="0">
              <a:solidFill>
                <a:srgbClr val="D62728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3단계 -- 8-3번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부수발견 -- SV(QML) 불안정성 근본해결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8. 자체 커버리지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발견한 문제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SV(QML)+"둘다(1차+계절)" 조합의 특정 origin에서 phi(로그변동성 지속성)가 0.999로 추정 -&gt; h=1~4 다단계 분산이 exp()를 거치며 지수적으로 폭발(3218 -&gt; 8억 2650만)</a:t>
            </a:r>
          </a:p>
        </p:txBody>
      </p:sp>
      <p:pic>
        <p:nvPicPr>
          <p:cNvPr id="9" name="Picture 8" descr="sv_threeway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8" y="2371311"/>
            <a:ext cx="5975188" cy="3633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50000" y="2750000"/>
            <a:ext cx="39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dirty="0">
                <a:solidFill>
                  <a:srgbClr val="D62728"/>
                </a:solidFill>
                <a:latin typeface="맑은 고딕"/>
              </a:rPr>
              <a:t>● 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안전조치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없음</a:t>
            </a:r>
            <a:endParaRPr sz="1200" b="1" dirty="0">
              <a:solidFill>
                <a:srgbClr val="D62728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h=4에서 8억까지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폭발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-- 못 씀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200" b="1" dirty="0" err="1">
                <a:solidFill>
                  <a:srgbClr val="6F9692"/>
                </a:solidFill>
                <a:latin typeface="맑은 고딕"/>
              </a:rPr>
              <a:t>임시방편</a:t>
            </a:r>
            <a:r>
              <a:rPr sz="12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200" b="1" dirty="0" err="1">
                <a:solidFill>
                  <a:srgbClr val="6F9692"/>
                </a:solidFill>
                <a:latin typeface="맑은 고딕"/>
              </a:rPr>
              <a:t>잔차</a:t>
            </a:r>
            <a:r>
              <a:rPr sz="1200" b="1" dirty="0">
                <a:solidFill>
                  <a:srgbClr val="6F9692"/>
                </a:solidFill>
                <a:latin typeface="맑은 고딕"/>
              </a:rPr>
              <a:t> 20배 캡)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sigma_h를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1439.4로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강제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고정하지만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phi는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여전히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0.999로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잘못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추정된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채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</a:rPr>
              <a:t>방치</a:t>
            </a:r>
            <a:endParaRPr lang="en-US" sz="12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endParaRPr sz="12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FF0000"/>
                </a:solidFill>
                <a:latin typeface="맑은 고딕"/>
              </a:rPr>
              <a:t>●  </a:t>
            </a:r>
            <a:r>
              <a:rPr sz="1200" b="1" dirty="0" err="1">
                <a:solidFill>
                  <a:srgbClr val="FF0000"/>
                </a:solidFill>
                <a:latin typeface="맑은 고딕"/>
              </a:rPr>
              <a:t>하드상한</a:t>
            </a:r>
            <a:r>
              <a:rPr sz="1200" b="1" dirty="0">
                <a:solidFill>
                  <a:srgbClr val="FF0000"/>
                </a:solidFill>
                <a:latin typeface="맑은 고딕"/>
              </a:rPr>
              <a:t>(</a:t>
            </a:r>
            <a:r>
              <a:rPr sz="1200" b="1" dirty="0" err="1">
                <a:solidFill>
                  <a:srgbClr val="FF0000"/>
                </a:solidFill>
                <a:latin typeface="맑은 고딕"/>
              </a:rPr>
              <a:t>근본해결</a:t>
            </a:r>
            <a:r>
              <a:rPr sz="1200" b="1" dirty="0">
                <a:solidFill>
                  <a:srgbClr val="FF0000"/>
                </a:solidFill>
                <a:latin typeface="맑은 고딕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phi&lt;=0.97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제약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-&gt;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phi가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0.014로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재추정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-&gt;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sigma_h가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자연스럽게</a:t>
            </a:r>
            <a:r>
              <a:rPr sz="1200" b="0" dirty="0">
                <a:solidFill>
                  <a:srgbClr val="172033"/>
                </a:solidFill>
                <a:latin typeface="맑은 고딕"/>
              </a:rPr>
              <a:t> 2391~2397로 </a:t>
            </a:r>
            <a:r>
              <a:rPr sz="1200" b="0" dirty="0" err="1">
                <a:solidFill>
                  <a:srgbClr val="172033"/>
                </a:solidFill>
                <a:latin typeface="맑은 고딕"/>
              </a:rPr>
              <a:t>안정</a:t>
            </a:r>
            <a:endParaRPr sz="1200" b="0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606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D62728"/>
                </a:solidFill>
                <a:latin typeface="맑은 고딕"/>
              </a:rPr>
              <a:t>핵심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: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규칙으로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값을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자른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게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아니라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phi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자체를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다시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추정해서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나온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진짜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값 --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다른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origin에도</a:t>
            </a:r>
            <a:r>
              <a:rPr sz="1200" b="1" dirty="0">
                <a:solidFill>
                  <a:srgbClr val="D62728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D62728"/>
                </a:solidFill>
                <a:latin typeface="맑은 고딕"/>
              </a:rPr>
              <a:t>일반화됨</a:t>
            </a:r>
            <a:endParaRPr sz="1200" b="1" dirty="0">
              <a:solidFill>
                <a:srgbClr val="D62728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97386"/>
                </a:solidFill>
                <a:latin typeface="맑은 고딕"/>
              </a:rPr>
              <a:t>3단계 -- 9-1번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차분비교를 4개 모델로 확장 -- 지표 및 CRPS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697386"/>
                </a:solidFill>
                <a:latin typeface="맑은 고딕"/>
              </a:rPr>
              <a:t>9. </a:t>
            </a:r>
            <a:r>
              <a:rPr lang="ko-KR" altLang="en-US" sz="1000" dirty="0">
                <a:solidFill>
                  <a:srgbClr val="697386"/>
                </a:solidFill>
                <a:latin typeface="맑은 고딕"/>
              </a:rPr>
              <a:t>차분비교 확장</a:t>
            </a:r>
            <a:r>
              <a:rPr lang="en-US" altLang="ko-KR" sz="1000" dirty="0">
                <a:solidFill>
                  <a:srgbClr val="697386"/>
                </a:solidFill>
                <a:latin typeface="맑은 고딕"/>
              </a:rPr>
              <a:t>(4</a:t>
            </a:r>
            <a:r>
              <a:rPr lang="ko-KR" altLang="en-US" sz="1000" dirty="0">
                <a:solidFill>
                  <a:srgbClr val="697386"/>
                </a:solidFill>
                <a:latin typeface="맑은 고딕"/>
              </a:rPr>
              <a:t>개 모델</a:t>
            </a:r>
            <a:r>
              <a:rPr lang="en-US" altLang="ko-KR" sz="1000" dirty="0">
                <a:solidFill>
                  <a:srgbClr val="697386"/>
                </a:solidFill>
                <a:latin typeface="맑은 고딕"/>
              </a:rPr>
              <a:t>)</a:t>
            </a:r>
            <a:endParaRPr lang="en-US" altLang="ko-KR" sz="100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13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367418"/>
            <a:ext cx="7173994" cy="475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00000" y="1400000"/>
            <a:ext cx="37000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</a:rPr>
              <a:t>●  왜 CRPS(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정규분포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)를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쓰나</a:t>
            </a:r>
            <a:endParaRPr sz="13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ARIMA/GARCH/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SV는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점예측이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똑같아서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리샘플링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CRPS로는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구별이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안 됨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-&gt; 각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모델의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(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평균,표준편차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)</a:t>
            </a:r>
            <a:r>
              <a:rPr sz="1300" b="0" dirty="0" smtClean="0">
                <a:solidFill>
                  <a:srgbClr val="172033"/>
                </a:solidFill>
                <a:latin typeface="맑은 고딕"/>
              </a:rPr>
              <a:t>로</a:t>
            </a:r>
            <a:r>
              <a:rPr lang="en-US" sz="130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smtClean="0">
                <a:solidFill>
                  <a:srgbClr val="172033"/>
                </a:solidFill>
                <a:latin typeface="맑은 고딕"/>
              </a:rPr>
              <a:t>CRPS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정규분포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ps.crps_gaussian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)를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직접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계산</a:t>
            </a:r>
            <a:endParaRPr sz="13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4개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모델이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서로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다른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분산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추정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방식을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쓰므로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이번엔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진짜로</a:t>
            </a:r>
            <a:r>
              <a:rPr sz="13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</a:rPr>
              <a:t>구별됨</a:t>
            </a:r>
            <a:endParaRPr sz="1300" b="0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3단계 -- 9-2번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차분비교 확장 -- Bootstrap 검증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97386"/>
                </a:solidFill>
                <a:latin typeface="맑은 고딕"/>
              </a:rPr>
              <a:t>9.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차분비교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확장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(4개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931813"/>
              </p:ext>
            </p:extLst>
          </p:nvPr>
        </p:nvGraphicFramePr>
        <p:xfrm>
          <a:off x="841248" y="1500000"/>
          <a:ext cx="102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1900000"/>
                <a:gridCol w="1900000"/>
                <a:gridCol w="1900000"/>
                <a:gridCol w="1900000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1차차분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계절차분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둘다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ARIMA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43.2%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C00000"/>
                          </a:solidFill>
                          <a:latin typeface="맑은 고딕"/>
                        </a:rPr>
                        <a:t>56.2%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0.6%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GARCH(1,1)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33.8%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C00000"/>
                          </a:solidFill>
                          <a:latin typeface="맑은 고딕"/>
                        </a:rPr>
                        <a:t>63.8%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0.2%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2.2%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SV(QML)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66.6%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32.6%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0.4%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0.4%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GP-Matern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62728"/>
                          </a:solidFill>
                          <a:latin typeface="맑은 고딕"/>
                        </a:rPr>
                        <a:t>99.6%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0.4%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B4A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100000"/>
            <a:ext cx="10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공통된 결론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계절차분/둘다는 4개 모델 전부 0~2%대 -- 노이즈 아닌 확고한 결론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62728"/>
                </a:solidFill>
                <a:latin typeface="맑은 고딕"/>
              </a:rPr>
              <a:t>●  모델마다 다른 결론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"1차차분이 최선"은 절반만 맞음 -- GARCH는 1차차분 우세, GP-Matern은 기본 압도적 우세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</a:rPr>
              <a:t>ARIMA는 사실상 동전던지기(43.2/56.2), SV(QML)은 오히려 기본이 우세로 뒤집힘(66.6/32.6)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참고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원 계획에 없었지만 진행 중 추가된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참고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안전장치 레이어 추가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Bootstrap 검증(6-2, 7-4), scale 공정폭비교(7-3), 시뮬레이션 검증(7-3 부록)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SV(QML) 버그 발견 및 근본 해결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phi≈1 근처에서 분산이 지수적으로 폭발하는 문제 -&gt; 하드상한으로 해결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효율 개선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pickle 캐싱 도입(7-3, 7-4) -- 재계산 비용 절감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전체 리뷰 + 정리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</a:rPr>
              <a:t>흐름/논리/합리성/효율 기준 리뷰 -&gt; 용어 통일, 동기화 메모, 마크다운 간결화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종합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dirty="0" smtClean="0">
                <a:solidFill>
                  <a:srgbClr val="697386"/>
                </a:solidFill>
                <a:latin typeface="맑은 고딕"/>
              </a:rPr>
              <a:t>마무리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기존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방법론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경험적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리샘플링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, 1차/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무차분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)이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여전히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우세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모델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자체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커버리지·다른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차분설정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다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시도해봤지만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기존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방식을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뒤집을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근거는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못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찾음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결론의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신뢰도는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지표보다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검증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절차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(bootstrap 등)가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좌우함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여러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차례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실제로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확인됨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(6-2, 7-4 둘 다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bootstrap으로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결론이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바뀌거나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확정됨</a:t>
            </a:r>
            <a:r>
              <a:rPr sz="1600" b="0" dirty="0" smtClean="0">
                <a:solidFill>
                  <a:srgbClr val="172033"/>
                </a:solidFill>
                <a:latin typeface="맑은 고딕"/>
              </a:rPr>
              <a:t>)</a:t>
            </a:r>
            <a:endParaRPr lang="en-US" sz="1600" b="0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600" b="0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다음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단계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후보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GJR-GARCH/EGARCH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시도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,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나머지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5개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변수로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맑은 고딕"/>
              </a:rPr>
              <a:t>확장</a:t>
            </a:r>
            <a:r>
              <a:rPr sz="16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0" dirty="0" err="1" smtClean="0">
                <a:solidFill>
                  <a:srgbClr val="172033"/>
                </a:solidFill>
                <a:latin typeface="맑은 고딕"/>
              </a:rPr>
              <a:t>검증</a:t>
            </a:r>
            <a:r>
              <a:rPr lang="en-US" sz="1600" b="0" dirty="0" smtClean="0">
                <a:solidFill>
                  <a:srgbClr val="172033"/>
                </a:solidFill>
                <a:latin typeface="맑은 고딕"/>
              </a:rPr>
              <a:t/>
            </a:r>
            <a:br>
              <a:rPr lang="en-US" sz="1600" b="0" dirty="0" smtClean="0">
                <a:solidFill>
                  <a:srgbClr val="172033"/>
                </a:solidFill>
                <a:latin typeface="맑은 고딕"/>
              </a:rPr>
            </a:br>
            <a:r>
              <a:rPr lang="en-US" sz="1600" b="0" dirty="0" smtClean="0">
                <a:solidFill>
                  <a:srgbClr val="172033"/>
                </a:solidFill>
                <a:latin typeface="맑은 고딕"/>
              </a:rPr>
              <a:t>-  AUTO_ML</a:t>
            </a:r>
            <a:r>
              <a:rPr lang="it-IT" sz="1600" dirty="0" smtClean="0">
                <a:solidFill>
                  <a:srgbClr val="172033"/>
                </a:solidFill>
                <a:latin typeface="맑은 고딕"/>
              </a:rPr>
              <a:t>(</a:t>
            </a:r>
            <a:r>
              <a:rPr lang="it-IT" sz="1600" dirty="0" smtClean="0">
                <a:solidFill>
                  <a:srgbClr val="172033"/>
                </a:solidFill>
                <a:latin typeface="맑은 고딕"/>
              </a:rPr>
              <a:t>PyCaret, Auto-Sklearn, AutoGluon) </a:t>
            </a:r>
            <a:r>
              <a:rPr lang="ko-KR" altLang="en-US" sz="1600" dirty="0" smtClean="0">
                <a:solidFill>
                  <a:srgbClr val="172033"/>
                </a:solidFill>
                <a:latin typeface="맑은 고딕"/>
              </a:rPr>
              <a:t>사용해보기</a:t>
            </a:r>
            <a:endParaRPr sz="1600" b="0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1524</Words>
  <Application>Microsoft Office PowerPoint</Application>
  <PresentationFormat>와이드스크린</PresentationFormat>
  <Paragraphs>263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30</cp:revision>
  <dcterms:created xsi:type="dcterms:W3CDTF">2013-01-27T09:14:16Z</dcterms:created>
  <dcterms:modified xsi:type="dcterms:W3CDTF">2026-09-21T02:00:34Z</dcterms:modified>
  <cp:category/>
</cp:coreProperties>
</file>