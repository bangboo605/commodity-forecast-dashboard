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9509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맑은 고딕"/>
                <a:ea typeface="맑은 고딕"/>
              </a:rPr>
              <a:t>동시최적화 방법론 검증 및 파라미터 확정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ARIMA·GARCH·SV -- 구간생성법·점예측·auto_arima·p,d 그리드서치·로그변환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1864" y="5769864"/>
            <a:ext cx="9966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F9692"/>
                </a:solidFill>
                <a:latin typeface="맑은 고딕"/>
                <a:ea typeface="맑은 고딕"/>
              </a:rPr>
              <a:t>박민수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0.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ARIMA·GARCH·SV 동시최적화 방법론 검증 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0. 전체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33736"/>
            <a:ext cx="10515600" cy="487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1. ARIMA·GARCH·SV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간단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설명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및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비교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라이브러리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기반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(ARIMA·GARCH) vs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직접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(SV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2.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동일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파라미터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기준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리샘플링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vs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자체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구간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비교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모델에서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구간생성법만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바꿨을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때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커버리지·MSE·CRPS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비교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3. ARIMA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파라미터가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같을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때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GARCH·SV를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동시추정하면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점예측이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달라지는가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동시추정하면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점예측이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달라지는지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확인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4.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auto_arima의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d, p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자동선택에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대한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증명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KPSS/ADF/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AIC가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왜 못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미더운지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확인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5.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p,d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그리드서치로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최적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파라미터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확정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9개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비교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후 d=1, p=1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확정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2번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재검증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6.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로그변환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  <a:ea typeface="맑은 고딕"/>
              </a:rPr>
              <a:t>시도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예측오차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정규성과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성능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커버리지·MSE·CRPS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확인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ARIMA와 GARCH -- 라이브러리 기반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모델 설명 및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ARIMA(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p,d,q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): AR(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자기회귀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) + I(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차분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) + MA(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이동평균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오차는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iid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정규분포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가정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--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이후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정규분포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쓰는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근거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GARCH: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분산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(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변동성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)이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시간에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따라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변한다고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보는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모델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평균식과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분산식을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하나의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우도로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동시추정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-- "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동시최적화"의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원형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3017520"/>
          <a:ext cx="1049731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4151376"/>
                <a:gridCol w="4151376"/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ARIMA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GARCH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무엇을 모델링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평균(수준)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분산(변동성)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라이브러리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pmdarima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우도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정확우도 (AIC로 p,q 비교해도 안전)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조건부우도 (AR차수 AIC 비교 무효)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이 프로젝트에서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d,p를 고정한 뒤 직접 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GARCH(1,1) 고정, AR평균과 동시추정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결론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: 둘 다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정규분포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오차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가정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-- (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평균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, σ)를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정규분포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CRPS로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채점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가능</a:t>
            </a:r>
            <a:endParaRPr sz="1300" b="1" dirty="0">
              <a:solidFill>
                <a:srgbClr val="D6272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SV -- 직접 구현한 이유와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모델 설명 및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287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GARCH와의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차이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GARCH는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σ²가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과거값으로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결정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SV는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로그변동성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자기만의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노이즈를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가짐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σ_η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: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변동성의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변동성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왜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직접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구현했나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Python에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표준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SV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라이브러리가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없음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R의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stochvol은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MCMC라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방식이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다름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stochvolmodels는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옵션가격용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연속시간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이라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전제가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달라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사용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불가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구현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방법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QML(1994): log(ε²)를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정규분포로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근사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→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칼만필터로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h_t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필터링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AR계수까지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한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목적함수에서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최적화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동시최적화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ARIMA·GARCH는 라이브러리, SV는 직접 구현 -- 셋 다 (예측, σ)를 내는 정규분포 기반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모델 파라미터는 어떻게 찾나 -- 추정·고정·튜닝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모델 설명 및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계수(φ, ω, α, β, phi, σ_η)는 fit 때 자동 추정 -- origin마다 새로 계산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튜닝(그리드서치)하는 것은 구조 파라미터 d, p 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716055"/>
              </p:ext>
            </p:extLst>
          </p:nvPr>
        </p:nvGraphicFramePr>
        <p:xfrm>
          <a:off x="841248" y="2194560"/>
          <a:ext cx="10497312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4206240"/>
                <a:gridCol w="4096512"/>
              </a:tblGrid>
              <a:tr h="77724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  <a:endParaRPr sz="12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어떻게 정해지나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자동 추정 (계수)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 φ / GARCH: AR계수·ω·α·β / SV: AR계수·phi·σ_η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최대우도추정 (SV는 QML 우도를 Nelder-Mead로 최소화)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사람이 고정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GARCH(1,1)·SV(1) </a:t>
                      </a:r>
                      <a:r>
                        <a:rPr sz="12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차수</a:t>
                      </a:r>
                      <a:r>
                        <a:rPr sz="12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, phi </a:t>
                      </a:r>
                      <a:r>
                        <a:rPr sz="12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상한</a:t>
                      </a:r>
                      <a:r>
                        <a:rPr sz="12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0.97, </a:t>
                      </a:r>
                      <a:r>
                        <a:rPr sz="12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시작점</a:t>
                      </a:r>
                      <a:r>
                        <a:rPr sz="12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1개</a:t>
                      </a:r>
                      <a:r>
                        <a:rPr sz="12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en-US" sz="12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/>
                      </a:r>
                      <a:br>
                        <a:rPr lang="en-US" sz="12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200" b="0" dirty="0" err="1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드리프트</a:t>
                      </a:r>
                      <a:r>
                        <a:rPr sz="12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  <a:endParaRPr sz="1200" b="0" dirty="0">
                        <a:solidFill>
                          <a:srgbClr val="172033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미리 정해둠 -- phi 상한을 바꿔도, 시작점이 1개여도 결과 동일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튜닝 (그리드서치)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d, p (구조 파라미터)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후보 9개를 out-of-sample로 직접 비교 → d=1, p=1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튜닝하는 것은 d,p뿐, 계수는 매 origin 자동 추정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2번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같은 모델에서 구간생성법만 바꿔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2. 동일 파라미터 구간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매 origin에서 auto_arima를 한 번 fit → 같은 점예측 위에서 두 구간 생성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채점: 22개 origin × h=1~4, expanding window</a:t>
            </a:r>
          </a:p>
        </p:txBody>
      </p:sp>
      <p:pic>
        <p:nvPicPr>
          <p:cNvPr id="9" name="Picture 8" descr="8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63946"/>
            <a:ext cx="5833872" cy="42082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4573" y="2367282"/>
            <a:ext cx="4663440" cy="2187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리샘플링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과거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잔차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500개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표본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→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경험적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분포</a:t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자체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(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정규분포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(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예측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, σ)로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만든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정규분포</a:t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그</a:t>
            </a:r>
            <a:r>
              <a:rPr lang="ko-KR" altLang="en-US" sz="1400" b="1" dirty="0" err="1" smtClean="0">
                <a:solidFill>
                  <a:srgbClr val="6F9692"/>
                </a:solidFill>
                <a:latin typeface="맑은 고딕"/>
                <a:ea typeface="맑은 고딕"/>
              </a:rPr>
              <a:t>래프</a:t>
            </a:r>
            <a:r>
              <a:rPr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읽는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법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origin=35, h=4,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점선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= 90%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경계</a:t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2번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결과: 커버리지·MSE·CRPS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2. 동일 파라미터 구간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7</a:t>
            </a:r>
          </a:p>
        </p:txBody>
      </p:sp>
      <p:pic>
        <p:nvPicPr>
          <p:cNvPr id="8" name="Picture 7" descr="8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371600"/>
            <a:ext cx="10058400" cy="34775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937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MSE는 두 방식이 동일 (같은 점예측을 공유)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리샘플링이 커버리지(76.1% vs 51.1%)·CRPS(0.5769 vs 0.6387) 모두 앞섬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9788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결론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: 단, </a:t>
            </a:r>
            <a:r>
              <a:rPr lang="ko-KR" altLang="en-US" sz="1300" b="1" dirty="0" smtClean="0">
                <a:solidFill>
                  <a:srgbClr val="D62728"/>
                </a:solidFill>
                <a:latin typeface="맑은 고딕"/>
                <a:ea typeface="맑은 고딕"/>
              </a:rPr>
              <a:t>최적 </a:t>
            </a:r>
            <a:r>
              <a:rPr lang="ko-KR" altLang="en-US" sz="1300" b="1" dirty="0" err="1" smtClean="0">
                <a:solidFill>
                  <a:srgbClr val="D62728"/>
                </a:solidFill>
                <a:latin typeface="맑은 고딕"/>
                <a:ea typeface="맑은 고딕"/>
              </a:rPr>
              <a:t>파라미터가</a:t>
            </a:r>
            <a:r>
              <a:rPr lang="ko-KR" altLang="en-US" sz="1300" b="1" dirty="0" smtClean="0">
                <a:solidFill>
                  <a:srgbClr val="D62728"/>
                </a:solidFill>
                <a:latin typeface="맑은 고딕"/>
                <a:ea typeface="맑은 고딕"/>
              </a:rPr>
              <a:t> 아니므로 최종결과는</a:t>
            </a:r>
            <a:r>
              <a:rPr sz="1300" b="1" dirty="0" smtClean="0">
                <a:solidFill>
                  <a:srgbClr val="D62728"/>
                </a:solidFill>
                <a:latin typeface="맑은 고딕"/>
                <a:ea typeface="맑은 고딕"/>
              </a:rPr>
              <a:t> 5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번에서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재검증</a:t>
            </a:r>
            <a:endParaRPr sz="1300" b="1" dirty="0">
              <a:solidFill>
                <a:srgbClr val="D6272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3번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ARIMA 구조가 같을 때 계수가 달라지는가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3. 동시추정과 점예측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: 세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모두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ARIMA(1,1,0),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드리프트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없음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--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구조는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통일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계수는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각자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최대우도추정(MLE)으로 fit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동시추정하면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φ가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분산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경로와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얽혀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정해진다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예전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방식</a:t>
            </a:r>
            <a:r>
              <a:rPr lang="ko-KR" altLang="en-US" sz="1400" dirty="0" smtClean="0">
                <a:solidFill>
                  <a:srgbClr val="172033"/>
                </a:solidFill>
                <a:latin typeface="맑은 고딕"/>
                <a:ea typeface="맑은 고딕"/>
              </a:rPr>
              <a:t>은 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AR</a:t>
            </a:r>
            <a: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튜닝 이후에 </a:t>
            </a:r>
            <a:r>
              <a:rPr lang="en-US" altLang="ko-KR" sz="140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garch</a:t>
            </a:r>
            <a:r>
              <a:rPr lang="en-US" altLang="ko-KR" sz="1400" dirty="0" smtClean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lang="en-US" altLang="ko-KR" sz="140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sv</a:t>
            </a:r>
            <a:r>
              <a:rPr lang="en-US" altLang="ko-KR" sz="140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얹었기떄문에</a:t>
            </a:r>
            <a:r>
              <a:rPr lang="ko-KR" altLang="en-US" sz="140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φ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lang="en-US" sz="140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garch</a:t>
            </a:r>
            <a:r>
              <a:rPr lang="en-US" sz="1400" dirty="0" smtClean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lang="en-US" sz="140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sv</a:t>
            </a:r>
            <a:r>
              <a:rPr lang="en-US" sz="140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 smtClean="0">
                <a:solidFill>
                  <a:srgbClr val="172033"/>
                </a:solidFill>
                <a:latin typeface="맑은 고딕"/>
                <a:ea typeface="맑은 고딕"/>
              </a:rPr>
              <a:t>모델과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무관</a:t>
            </a:r>
            <a:r>
              <a:rPr lang="ko-KR" alt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했음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→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점예측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100%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동일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3108960"/>
          <a:ext cx="10497312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3383280"/>
                <a:gridCol w="345643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 (22개 origin 평균±표준편차)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AR계수 (φ)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분산식 계수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0.492 ± 0.055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없음 (등분산 가정)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 동시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0.425 ± 0.077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ω=490.7, α=0.257, β=0.673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 동시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-0.056 ± 0.008 (거의 0)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phi=0.845, σ_η=0.409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같은 틀이어도 φ가 모델마다 다르다 → 점예측도 달라질 수 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3번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세 모델 비교 조건 -- 정확한 σ 계산과 드리프트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3. 동시추정과 점예측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σ 계산: GARCH·SV도 h단계 σ를 정확한 공식으로 계산 (수준 오차가 단계별로 누적되는 것과 자기상관을 반영, AR단독의 pmdarima σ와 같은 방식)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드리프트 없음: 세 모델 모두 상수항·평균 복원을 빼서 평균식 조건을 통일 (AR단독 없음 / GARCH 상수항 제거 / SV 평균 제거 없음)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이유: 랜덤워크에 가까워(자기상관 0.93) 추세 근거가 약하고, 표본이 작아 추정하면 분산만 커짐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이 표본에서는 없는 쪽이 성능이 좋았음(AR단독은 넣으면 CRPS 0.593 -&gt; 0.618, 8-6 참고). 단, d=0은 절편 없는 설정 기준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736215"/>
              </p:ext>
            </p:extLst>
          </p:nvPr>
        </p:nvGraphicFramePr>
        <p:xfrm>
          <a:off x="841248" y="3063240"/>
          <a:ext cx="10497312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5029200"/>
                <a:gridCol w="3364992"/>
              </a:tblGrid>
              <a:tr h="82296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  <a:endParaRPr sz="12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σ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단계별 오차분산의 가중합으로 h단계 σ 계산 (누적합 아님) -&gt; 자기상관 반영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세 </a:t>
                      </a:r>
                      <a:r>
                        <a:rPr sz="12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모델의</a:t>
                      </a:r>
                      <a:r>
                        <a:rPr sz="12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σ가</a:t>
                      </a:r>
                      <a:r>
                        <a:rPr sz="12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같은</a:t>
                      </a:r>
                      <a:r>
                        <a:rPr sz="12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dirty="0" err="1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방식</a:t>
                      </a:r>
                      <a:r>
                        <a:rPr lang="en-US" sz="12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/>
                      </a:r>
                      <a:br>
                        <a:rPr lang="en-US" sz="12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200" b="0" dirty="0" smtClean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2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AR단독은</a:t>
                      </a:r>
                      <a:r>
                        <a:rPr sz="12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pmdarima가</a:t>
                      </a:r>
                      <a:r>
                        <a:rPr sz="12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이미</a:t>
                      </a:r>
                      <a:r>
                        <a:rPr sz="12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정확한</a:t>
                      </a:r>
                      <a:r>
                        <a:rPr sz="12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 σ)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드리프트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 with_intercept=False / GARCH constant=False / SV 평균 제거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평균식 조건 통일, 이 표본에서 없는 쪽이 성능 우수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세 모델을 같은 조건(정확한 σ, 드리프트 없음)에서 비교한다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3번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점예측이 실제로 달라지는가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3. 동시추정과 점예측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10</a:t>
            </a:r>
          </a:p>
        </p:txBody>
      </p:sp>
      <p:pic>
        <p:nvPicPr>
          <p:cNvPr id="8" name="Picture 7" descr="87_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63040"/>
            <a:ext cx="6583680" cy="36247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0" y="1554480"/>
            <a:ext cx="3657600" cy="2716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22개 origin × 4분기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전체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점예측이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동일한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비율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: 0% (세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쌍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모두</a:t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평균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정규화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400" b="1" dirty="0" err="1" smtClean="0">
                <a:solidFill>
                  <a:srgbClr val="6F9692"/>
                </a:solidFill>
                <a:latin typeface="맑은 고딕"/>
                <a:ea typeface="맑은 고딕"/>
              </a:rPr>
              <a:t>차이</a:t>
            </a:r>
            <a:r>
              <a:rPr lang="en-US"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 (</a:t>
            </a:r>
            <a:r>
              <a:rPr lang="ko-KR" altLang="en-US" sz="1400" b="1" dirty="0" err="1" smtClean="0">
                <a:solidFill>
                  <a:srgbClr val="6F9692"/>
                </a:solidFill>
                <a:latin typeface="맑은 고딕"/>
                <a:ea typeface="맑은 고딕"/>
              </a:rPr>
              <a:t>모델별</a:t>
            </a:r>
            <a:r>
              <a:rPr lang="ko-KR" altLang="en-US"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 차이 비교</a:t>
            </a:r>
            <a:r>
              <a:rPr lang="en-US" altLang="ko-KR"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)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AR-GARCH 0.064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AR-SV 0.315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GARCH-SV </a:t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0.254</a:t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대조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예전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방식은</a:t>
            </a:r>
            <a:r>
              <a:rPr lang="en-US"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lang="ko-KR" altLang="en-US"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점예측이</a:t>
            </a:r>
            <a:r>
              <a:rPr lang="en-US"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100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%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동일</a:t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5532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평균식이 같아도 동시추정하면 점예측이 달라진다 = 동시최적화 효과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3번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CRPS를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정규분포로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쓰는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2300" b="1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이유</a:t>
            </a:r>
            <a:endParaRPr sz="2300" b="1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3. 동시추정과 점예측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110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CRPS를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정규분포로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쓰는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이유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세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모두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정규분포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가정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위에서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추정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→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가정의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정규분포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CRPS를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공통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잣대로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사용</a:t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(bootstrap)은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자기상관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있는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시계열에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부적합해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배제</a:t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7분위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보간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차이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약 1~2% →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형태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가정에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둔감</a:t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4번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auto_arima의 d 선택(KPSS/ADF)은 못 미덥다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4. auto_arima d,p 증명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auto_arima(KPSS)가 22개 중 21개에서 d=0 선택 -- 데이터는 랜덤워크에 가까움(자기상관 0.93)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KPSS p-value가 22개 중 20개에서 상한(0.100)에 고정 → 표본이 작아 무정보</a:t>
            </a:r>
          </a:p>
        </p:txBody>
      </p:sp>
      <p:pic>
        <p:nvPicPr>
          <p:cNvPr id="9" name="Picture 8" descr="8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2468880"/>
            <a:ext cx="9509760" cy="3313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d=1 직접 고정이 세 지표 모두 최선 -- ADF는 과차분으로 더 나쁨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4번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GARCH·SV의 p 선택(AIC)도 무효하다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4. auto_arima d,p 증명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13</a:t>
            </a:r>
          </a:p>
        </p:txBody>
      </p:sp>
      <p:pic>
        <p:nvPicPr>
          <p:cNvPr id="8" name="Picture 7" descr="83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63040"/>
            <a:ext cx="6309360" cy="39134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55448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p 상한을 2~6 어느 값으로 둬도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GARCH·SV는 100% 그 상한을 선택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원인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조건부우도 → p가 커지면 유효표본이 줄어 AIC 비교 무효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드리프트를 빼도 동일(8-4)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대조군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AR단독(정확우도)은 쏠리지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669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d,p는 자동선택 대신 그리드서치로 직접 비교해야 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5번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p×d 그리드서치 -- 9개 조합 순위 합산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5. 그리드서치와 최종 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14</a:t>
            </a:r>
          </a:p>
        </p:txBody>
      </p:sp>
      <p:pic>
        <p:nvPicPr>
          <p:cNvPr id="8" name="Picture 7" descr="88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63040"/>
            <a:ext cx="6675120" cy="3675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0" y="155448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설계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d,p ∈ {0,1,2} → 9개 조합 × 3모델 × 22개 origin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순위 합산 (낮을수록 좋음)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1위 d=1,p=0 (24.0)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2위 d=1,p=1 (30.5)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3위 d=1,p=2 (32.5)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4위 d=0,p=1 (37.5)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532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1위를 그대로 믿지 않고 함정을 제외한 뒤 판단한다 (다음 장)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5번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함정 배제 후 최종 확정: d=1, p=1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5. 그리드서치와 최종 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p=0 함정: 세 모델 점예측이 동일(MSE 전부 1.040) → 동시최적화 효과를 볼 수 없어 제외 (정확도가 나빠서가 아님)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d=0 함정: SV 동시가 MSE 8.6~12.1·CRPS 1.63~1.93으로 무너짐 (AR계수≈0)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d=1,p=1 vs p=2: 2점 차이로 근소 + AR단독 AIC가 22개 중 17개에서 p=1 선택 → d=1,p=1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3566160"/>
          <a:ext cx="1049731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1828800"/>
                <a:gridCol w="6291072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순위합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d=1, p=0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제외 (p=0 함정)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d=1, p=1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30.5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최종 확정 (SV 동시최적화)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d=1, p=2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차이 근소 -- p=1의 독립 근거가 우세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d=0, p=1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37.5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제외 (SV 붕괴)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532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최종 방법론 = d=1, p=1, SV(QML) 동시최적화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7386"/>
                </a:solidFill>
                <a:latin typeface="맑은 고딕"/>
                <a:ea typeface="맑은 고딕"/>
              </a:rPr>
              <a:t>※ 한계: 유의성 미검증. origin 46·47이 AR단독 제곱오차의 50.4% → 둘을 빼도 (d,p) 순위는 유지, 모델 순위(SV 최선)는 GARCH와 바뀜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5번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확정 파라미터로 2번 결과 재검증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5. 그리드서치와 최종 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2번은 검증 안 된 기본값(대부분 d=0) 위의 결과 → d=1,p=1로 재실행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자체 구간: 커버리지 51.1% → 65.9%, MSE 1.176 → 1.128, CRPS 0.639 → 0.593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리샘플링과의 격차 축소: 커버리지 22.8%p → 3.4%p, CRPS는 자체가 우위로 역전</a:t>
            </a:r>
          </a:p>
        </p:txBody>
      </p:sp>
      <p:pic>
        <p:nvPicPr>
          <p:cNvPr id="9" name="Picture 8" descr="84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2926080"/>
            <a:ext cx="8595360" cy="29717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모델 자체 구간 + d,p 튜닝으로 성능을 높임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697386"/>
                </a:solidFill>
                <a:latin typeface="맑은 고딕"/>
                <a:ea typeface="맑은 고딕"/>
              </a:rPr>
              <a:t>6번 (</a:t>
            </a:r>
            <a:r>
              <a:rPr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1/</a:t>
            </a:r>
            <a:r>
              <a:rPr lang="en-US"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  <a:r>
              <a:rPr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)</a:t>
            </a:r>
            <a:endParaRPr sz="1200" b="1" dirty="0">
              <a:solidFill>
                <a:srgbClr val="697386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로그변환 시도 -- 예측오차 정규성은 나아지는가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6. 로그변환 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시도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이유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: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통계모델은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대개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오차에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정규분포를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가정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→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로그변환으로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예측오차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z가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정규에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가까워지는지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확인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(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외부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피드백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방법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: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로그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-&gt;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차분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-&gt;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학습·예측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-&gt;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복원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-&gt;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exp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역변환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채점은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원 </a:t>
            </a:r>
            <a:r>
              <a:rPr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스케일</a:t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lang="ko-KR" altLang="en-US" sz="13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lang="en-US" altLang="ko-KR" sz="1300" dirty="0" smtClean="0">
                <a:latin typeface="맑은 고딕"/>
                <a:ea typeface="맑은 고딕"/>
              </a:rPr>
              <a:t>JB p : </a:t>
            </a:r>
            <a:r>
              <a:rPr lang="en-US" altLang="ko-KR" sz="1300" dirty="0" err="1" smtClean="0">
                <a:latin typeface="맑은 고딕"/>
                <a:ea typeface="맑은 고딕"/>
              </a:rPr>
              <a:t>jarque-Bera</a:t>
            </a:r>
            <a:r>
              <a:rPr lang="en-US" altLang="ko-KR" sz="1300" dirty="0" smtClean="0">
                <a:latin typeface="맑은 고딕"/>
                <a:ea typeface="맑은 고딕"/>
              </a:rPr>
              <a:t> </a:t>
            </a:r>
            <a:r>
              <a:rPr lang="ko-KR" altLang="en-US" sz="1300" dirty="0" smtClean="0">
                <a:latin typeface="맑은 고딕"/>
                <a:ea typeface="맑은 고딕"/>
              </a:rPr>
              <a:t>검정의 </a:t>
            </a:r>
            <a:r>
              <a:rPr lang="en-US" altLang="ko-KR" sz="1300" dirty="0" smtClean="0">
                <a:latin typeface="맑은 고딕"/>
                <a:ea typeface="맑은 고딕"/>
              </a:rPr>
              <a:t>p-value </a:t>
            </a:r>
            <a:r>
              <a:rPr lang="en-US" altLang="ko-KR" sz="1300" b="1" dirty="0" smtClean="0">
                <a:latin typeface="맑은 고딕"/>
                <a:ea typeface="맑은 고딕"/>
              </a:rPr>
              <a:t>(</a:t>
            </a:r>
            <a:r>
              <a:rPr lang="en-US" altLang="ko-KR" sz="1400" b="1" dirty="0"/>
              <a:t>0.05 </a:t>
            </a:r>
            <a:r>
              <a:rPr lang="ko-KR" altLang="en-US" sz="1400" b="1" dirty="0"/>
              <a:t>미만이면 정규분포가 아니라는 </a:t>
            </a:r>
            <a:r>
              <a:rPr lang="ko-KR" altLang="en-US" sz="1400" b="1" dirty="0" smtClean="0"/>
              <a:t>증거</a:t>
            </a:r>
            <a:r>
              <a:rPr lang="en-US" altLang="ko-KR" sz="1400" b="1" dirty="0" smtClean="0"/>
              <a:t>)</a:t>
            </a:r>
            <a:endParaRPr sz="1300" b="1" dirty="0">
              <a:latin typeface="맑은 고딕"/>
              <a:ea typeface="맑은 고딕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2606040"/>
          <a:ext cx="10497312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1828800"/>
                <a:gridCol w="1280160"/>
                <a:gridCol w="1463040"/>
                <a:gridCol w="1645920"/>
                <a:gridCol w="2542032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스케일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초과첨도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JB p (전체)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JB p (극단값 2개 제외)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원 스케일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원 스케일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GARCH동시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원 스케일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SV동시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로그 스케일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로그 스케일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GARCH동시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0.132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로그 스케일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SV동시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-0.01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0.796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0.609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로그 스케일에서 정규성은 좋아지지만(SV 기각 안 됨) 정확도(CRPS)는 개선되지 않는다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742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7386"/>
                </a:solidFill>
                <a:latin typeface="맑은 고딕"/>
                <a:ea typeface="맑은 고딕"/>
              </a:rPr>
              <a:t>※ z=(실측-예측)/σ, 88개(겹침). JB p: 정규성 검정 p-value, 0.05 미만이면 정규분포가 아니라는 증거.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035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7386"/>
                </a:solidFill>
                <a:latin typeface="맑은 고딕"/>
                <a:ea typeface="맑은 고딕"/>
              </a:rPr>
              <a:t>※ 극단값 2개 제외: |z|가 가장 큰 2개를 뺀 뒤 다시 계산한 JB 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697386"/>
                </a:solidFill>
                <a:latin typeface="맑은 고딕"/>
                <a:ea typeface="맑은 고딕"/>
              </a:rPr>
              <a:t>6번 (</a:t>
            </a:r>
            <a:r>
              <a:rPr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2/</a:t>
            </a:r>
            <a:r>
              <a:rPr lang="en-US"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  <a:r>
              <a:rPr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)</a:t>
            </a:r>
            <a:endParaRPr sz="1200" b="1" dirty="0">
              <a:solidFill>
                <a:srgbClr val="697386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예측오차 z 분포 비교 -- 원 스케일 vs 로그 스케일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6. 로그변환 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18</a:t>
            </a:r>
          </a:p>
        </p:txBody>
      </p:sp>
      <p:pic>
        <p:nvPicPr>
          <p:cNvPr id="8" name="Picture 7" descr="85_z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680960" cy="44061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5544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로그 스케일(파랑)이 정규분포에 더 가깝고 오른쪽 꼬리가 짧다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Q-Q 기울기도 원 스케일보다 완만 (σ 과소가 줄어듦)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오른쪽 꼬리는 남아 AR단독은 여전히 기각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Q-Q 플롯 읽는 법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점선(y=x)에 붙을수록 정규분포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점선보다 가파르면 σ 과소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오른쪽 끝이 치솟으면 오른쪽 꼬리가 두꺼움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정규성은 로그 스케일에서 개선되지만 오른쪽 꼬리는 남는다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697386"/>
                </a:solidFill>
                <a:latin typeface="맑은 고딕"/>
                <a:ea typeface="맑은 고딕"/>
              </a:rPr>
              <a:t>6번 </a:t>
            </a:r>
            <a:r>
              <a:rPr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(</a:t>
            </a:r>
            <a:r>
              <a:rPr lang="en-US"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  <a:r>
              <a:rPr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/</a:t>
            </a:r>
            <a:r>
              <a:rPr lang="en-US"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  <a:r>
              <a:rPr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)</a:t>
            </a:r>
            <a:endParaRPr sz="1200" b="1" dirty="0">
              <a:solidFill>
                <a:srgbClr val="697386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로그 스케일 성능 비교 (d=1, p=1)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6. 로그변환 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20</a:t>
            </a:r>
          </a:p>
        </p:txBody>
      </p:sp>
      <p:pic>
        <p:nvPicPr>
          <p:cNvPr id="8" name="Picture 7" descr="89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235440" cy="31875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434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CRPS는 세 모델 모두 원 스케일이 낫다 (AR 0.593 -&gt; 0.668, GARCH 0.582 -&gt; 0.678, SV 0.578 -&gt; 0.590)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σ 배율은 모두 내려가고 커버리지는 AR단독 78.4%·SV 73.9%로 오르지만 90% 미달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(d,p)를 다시 돌려도 최적은 d=1, p=1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CRPS를 개선하는 모델이 없어 미채택. 다만 SV동시는 CRPS 차이가 작고 커버리지가 9%p 올라 후속 후보가 될 수 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2038</Words>
  <Application>Microsoft Office PowerPoint</Application>
  <PresentationFormat>와이드스크린</PresentationFormat>
  <Paragraphs>301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25</cp:revision>
  <dcterms:created xsi:type="dcterms:W3CDTF">2013-01-27T09:14:16Z</dcterms:created>
  <dcterms:modified xsi:type="dcterms:W3CDTF">2026-09-30T05:17:47Z</dcterms:modified>
  <cp:category/>
</cp:coreProperties>
</file>