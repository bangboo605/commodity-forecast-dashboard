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83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72033"/>
                </a:solidFill>
                <a:latin typeface="맑은 고딕"/>
              </a:defRPr>
            </a:pPr>
            <a:r>
              <a:t>주요변수 예측모델 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54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7386"/>
                </a:solidFill>
                <a:latin typeface="맑은 고딕"/>
              </a:defRPr>
            </a:pPr>
            <a:r>
              <a:t>연구 흐름 요약  —  계열 선정부터 세부 모델 비교까지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0877" y="5806440"/>
            <a:ext cx="68480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F9692"/>
                </a:solidFill>
                <a:latin typeface="맑은 고딕"/>
              </a:defRPr>
            </a:pPr>
            <a:r>
              <a:rPr lang="ko-KR" altLang="en-US" dirty="0" smtClean="0"/>
              <a:t>박민수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맑은 고딕"/>
              </a:defRPr>
            </a:pPr>
            <a:r>
              <a:t>배경 및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6"/>
                </a:solidFill>
                <a:latin typeface="맑은 고딕"/>
              </a:defRPr>
            </a:pPr>
            <a:r>
              <a:t>모델 선정 연구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10424160" cy="1911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6개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주요변수의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7분기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예측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+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예측구간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(joint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커버리지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)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확보</a:t>
            </a:r>
            <a:endParaRPr sz="1700" b="1" dirty="0">
              <a:solidFill>
                <a:srgbClr val="172033"/>
              </a:solidFill>
              <a:latin typeface="맑은 고딕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확장윈도우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(walk-forward)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백테스트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—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미래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정보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누출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없이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검증</a:t>
            </a:r>
            <a:endParaRPr sz="1700" b="0" dirty="0">
              <a:solidFill>
                <a:srgbClr val="333B4A"/>
              </a:solidFill>
              <a:latin typeface="맑은 고딕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700" b="1" dirty="0" smtClean="0">
                <a:solidFill>
                  <a:srgbClr val="172033"/>
                </a:solidFill>
                <a:latin typeface="맑은 고딕"/>
              </a:rPr>
              <a:t>5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개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계열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대표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모델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중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최적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계열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선정</a:t>
            </a:r>
            <a:endParaRPr sz="1700" b="1" dirty="0">
              <a:solidFill>
                <a:srgbClr val="172033"/>
              </a:solidFill>
              <a:latin typeface="맑은 고딕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700" b="1" dirty="0" err="1" smtClean="0">
                <a:solidFill>
                  <a:srgbClr val="172033"/>
                </a:solidFill>
                <a:latin typeface="맑은 고딕"/>
              </a:rPr>
              <a:t>선정된</a:t>
            </a:r>
            <a:r>
              <a:rPr sz="17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계열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(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시계열·회귀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)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내부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세부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모델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9개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비교</a:t>
            </a:r>
            <a:endParaRPr sz="1700" b="1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맑은 고딕"/>
              </a:defRPr>
            </a:pPr>
            <a:r>
              <a:t>공통 연구 흐름 (노트북 3·4 동일)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6"/>
                </a:solidFill>
                <a:latin typeface="맑은 고딕"/>
              </a:defRPr>
            </a:pPr>
            <a:r>
              <a:t>모델 선정 연구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28800"/>
            <a:ext cx="3931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F9692"/>
                </a:solidFill>
                <a:latin typeface="맑은 고딕"/>
              </a:defRPr>
            </a:pPr>
            <a:r>
              <a:rPr dirty="0"/>
              <a:t>① raw </a:t>
            </a:r>
            <a:r>
              <a:rPr dirty="0" err="1"/>
              <a:t>비교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846320" y="1856231"/>
            <a:ext cx="6492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4A"/>
                </a:solidFill>
                <a:latin typeface="맑은 고딕"/>
              </a:defRPr>
            </a:pPr>
            <a:r>
              <a:rPr dirty="0" err="1"/>
              <a:t>튜닝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커버리지·폭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lang="en-US" dirty="0" smtClean="0"/>
              <a:t>-&gt;</a:t>
            </a:r>
            <a:r>
              <a:rPr dirty="0" smtClean="0"/>
              <a:t> </a:t>
            </a:r>
            <a:r>
              <a:rPr dirty="0" err="1"/>
              <a:t>우연히</a:t>
            </a:r>
            <a:r>
              <a:rPr dirty="0"/>
              <a:t> 잘 </a:t>
            </a:r>
            <a:r>
              <a:rPr dirty="0" err="1"/>
              <a:t>맞은</a:t>
            </a:r>
            <a:r>
              <a:rPr dirty="0"/>
              <a:t>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착각할</a:t>
            </a:r>
            <a:r>
              <a:rPr dirty="0"/>
              <a:t> </a:t>
            </a:r>
            <a:r>
              <a:rPr dirty="0" err="1"/>
              <a:t>위험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1248" y="2880360"/>
            <a:ext cx="3931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F9692"/>
                </a:solidFill>
                <a:latin typeface="맑은 고딕"/>
              </a:defRPr>
            </a:pPr>
            <a:r>
              <a:rPr dirty="0"/>
              <a:t>② 90% </a:t>
            </a:r>
            <a:r>
              <a:rPr dirty="0" err="1"/>
              <a:t>튜닝</a:t>
            </a:r>
            <a:r>
              <a:rPr dirty="0"/>
              <a:t> 후 폭 </a:t>
            </a:r>
            <a:r>
              <a:rPr dirty="0" err="1"/>
              <a:t>비교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846320" y="2907791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4A"/>
                </a:solidFill>
                <a:latin typeface="맑은 고딕"/>
              </a:defRPr>
            </a:pPr>
            <a:r>
              <a:rPr dirty="0"/>
              <a:t>각 </a:t>
            </a:r>
            <a:r>
              <a:rPr dirty="0" err="1"/>
              <a:t>모델을</a:t>
            </a:r>
            <a:r>
              <a:rPr dirty="0"/>
              <a:t> 90% </a:t>
            </a:r>
            <a:r>
              <a:rPr dirty="0" err="1"/>
              <a:t>커버리지에</a:t>
            </a:r>
            <a:r>
              <a:rPr dirty="0"/>
              <a:t> </a:t>
            </a:r>
            <a:r>
              <a:rPr dirty="0" err="1"/>
              <a:t>맞춘</a:t>
            </a:r>
            <a:r>
              <a:rPr dirty="0"/>
              <a:t> 뒤 </a:t>
            </a:r>
            <a:r>
              <a:rPr dirty="0" err="1"/>
              <a:t>폭으로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+ </a:t>
            </a:r>
            <a:r>
              <a:rPr dirty="0" err="1"/>
              <a:t>부트스트랩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41248" y="3931920"/>
            <a:ext cx="3931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F9692"/>
                </a:solidFill>
                <a:latin typeface="맑은 고딕"/>
              </a:defRPr>
            </a:pPr>
            <a:r>
              <a:rPr dirty="0"/>
              <a:t>③ Winkler </a:t>
            </a:r>
            <a:r>
              <a:rPr dirty="0" err="1"/>
              <a:t>score로</a:t>
            </a:r>
            <a:r>
              <a:rPr dirty="0"/>
              <a:t> </a:t>
            </a:r>
            <a:r>
              <a:rPr dirty="0" err="1"/>
              <a:t>교체</a:t>
            </a:r>
            <a:r>
              <a:rPr dirty="0"/>
              <a:t> (</a:t>
            </a:r>
            <a:r>
              <a:rPr dirty="0" err="1"/>
              <a:t>최종</a:t>
            </a:r>
            <a:r>
              <a:rPr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959352"/>
            <a:ext cx="6492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4A"/>
                </a:solidFill>
                <a:latin typeface="맑은 고딕"/>
              </a:defRPr>
            </a:pPr>
            <a:r>
              <a:rPr dirty="0" err="1" smtClean="0"/>
              <a:t>튜닝</a:t>
            </a:r>
            <a:r>
              <a:rPr lang="ko-KR" altLang="en-US" dirty="0" smtClean="0"/>
              <a:t>없이 </a:t>
            </a:r>
            <a:r>
              <a:rPr lang="en-US" altLang="ko-KR" dirty="0" smtClean="0"/>
              <a:t>Winkler score </a:t>
            </a:r>
            <a:r>
              <a:rPr lang="ko-KR" altLang="en-US" dirty="0" smtClean="0"/>
              <a:t>로 평가 기준 수정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41248" y="4983479"/>
            <a:ext cx="3931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F9692"/>
                </a:solidFill>
                <a:latin typeface="맑은 고딕"/>
              </a:defRPr>
            </a:pPr>
            <a:r>
              <a:rPr dirty="0"/>
              <a:t>④ </a:t>
            </a:r>
            <a:r>
              <a:rPr dirty="0" err="1"/>
              <a:t>참고</a:t>
            </a:r>
            <a:r>
              <a:rPr dirty="0"/>
              <a:t>: 80%+95% </a:t>
            </a:r>
            <a:r>
              <a:rPr dirty="0" err="1"/>
              <a:t>이중</a:t>
            </a:r>
            <a:r>
              <a:rPr dirty="0"/>
              <a:t> </a:t>
            </a:r>
            <a:r>
              <a:rPr dirty="0" err="1"/>
              <a:t>밴드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846320" y="5010912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4A"/>
                </a:solidFill>
                <a:latin typeface="맑은 고딕"/>
              </a:defRPr>
            </a:pPr>
            <a:r>
              <a:rPr dirty="0"/>
              <a:t>90%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구간의</a:t>
            </a:r>
            <a:r>
              <a:rPr dirty="0"/>
              <a:t> </a:t>
            </a:r>
            <a:r>
              <a:rPr dirty="0" err="1"/>
              <a:t>실용성</a:t>
            </a:r>
            <a:r>
              <a:rPr dirty="0"/>
              <a:t> </a:t>
            </a:r>
            <a:r>
              <a:rPr dirty="0" err="1"/>
              <a:t>한계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→ </a:t>
            </a:r>
            <a:r>
              <a:rPr dirty="0" err="1"/>
              <a:t>대안으로</a:t>
            </a:r>
            <a:r>
              <a:rPr dirty="0"/>
              <a:t> </a:t>
            </a:r>
            <a:r>
              <a:rPr dirty="0" err="1"/>
              <a:t>참고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14253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r>
              <a:rPr lang="ko-KR" altLang="en-US" dirty="0" smtClean="0"/>
              <a:t>모델 계열 선정 </a:t>
            </a:r>
            <a:r>
              <a:rPr lang="ko-KR" altLang="en-US" dirty="0"/>
              <a:t>①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맑은 고딕"/>
              </a:defRPr>
            </a:pPr>
            <a:r>
              <a:t>90% 튜닝 후 폭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6"/>
                </a:solidFill>
                <a:latin typeface="맑은 고딕"/>
              </a:defRPr>
            </a:pPr>
            <a:r>
              <a:t>모델 선정 연구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맑은 고딕"/>
              </a:defRPr>
            </a:pPr>
            <a: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828800"/>
          <a:ext cx="420624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모델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폭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시계열 (Auto-ARIMA)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1.56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6.61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6.83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naive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6.88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회귀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6.89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7.57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394960" y="1737360"/>
            <a:ext cx="5943600" cy="3454841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pt_tunebar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1847088"/>
            <a:ext cx="5724144" cy="32353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4297680"/>
            <a:ext cx="10424160" cy="72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Auto-ARIMA 1위(폭 6.61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)</a:t>
            </a:r>
            <a:endParaRPr sz="1500" b="1" dirty="0">
              <a:solidFill>
                <a:srgbClr val="172033"/>
              </a:solidFill>
              <a:latin typeface="맑은 고딕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0" dirty="0" err="1">
                <a:solidFill>
                  <a:srgbClr val="333B4A"/>
                </a:solidFill>
                <a:latin typeface="맑은 고딕"/>
              </a:rPr>
              <a:t>중첩+블록</a:t>
            </a:r>
            <a:r>
              <a:rPr sz="15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333B4A"/>
                </a:solidFill>
                <a:latin typeface="맑은 고딕"/>
              </a:rPr>
              <a:t>부트스트랩</a:t>
            </a:r>
            <a:r>
              <a:rPr sz="1500" b="0" dirty="0">
                <a:solidFill>
                  <a:srgbClr val="333B4A"/>
                </a:solidFill>
                <a:latin typeface="맑은 고딕"/>
              </a:rPr>
              <a:t>(500회): 1위 </a:t>
            </a:r>
            <a:r>
              <a:rPr sz="1500" b="0" dirty="0" err="1">
                <a:solidFill>
                  <a:srgbClr val="333B4A"/>
                </a:solidFill>
                <a:latin typeface="맑은 고딕"/>
              </a:rPr>
              <a:t>비율</a:t>
            </a:r>
            <a:r>
              <a:rPr sz="1500" b="0" dirty="0">
                <a:solidFill>
                  <a:srgbClr val="333B4A"/>
                </a:solidFill>
                <a:latin typeface="맑은 고딕"/>
              </a:rPr>
              <a:t> 80.8%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14253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r>
              <a:rPr lang="ko-KR" altLang="en-US" dirty="0"/>
              <a:t>모델 계열 </a:t>
            </a:r>
            <a:r>
              <a:rPr lang="ko-KR" altLang="en-US" dirty="0" smtClean="0"/>
              <a:t>선정 </a:t>
            </a:r>
            <a:r>
              <a:rPr lang="ko-KR" altLang="en-US" dirty="0"/>
              <a:t>②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맑은 고딕"/>
              </a:defRPr>
            </a:pPr>
            <a:r>
              <a:t>Winkler score로 최종 재선정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6"/>
                </a:solidFill>
                <a:latin typeface="맑은 고딕"/>
              </a:defRPr>
            </a:pPr>
            <a:r>
              <a:t>모델 선정 연구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맑은 고딕"/>
              </a:defRPr>
            </a:pPr>
            <a: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828800"/>
          <a:ext cx="64008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모델</a:t>
                      </a:r>
                      <a:endParaRPr dirty="0"/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Winkler@80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Winkler@95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합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시계열 (Auto-ARIMA)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4.742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6.26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11.0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회귀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4.726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6.455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11.18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4.725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6.559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5.429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7.162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naive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rPr dirty="0"/>
                        <a:t>5.404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7.279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12.68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29768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6F9692"/>
                </a:solidFill>
                <a:latin typeface="맑은 고딕"/>
              </a:rPr>
              <a:t>●  </a:t>
            </a:r>
            <a:r>
              <a:rPr sz="1600" b="1">
                <a:solidFill>
                  <a:srgbClr val="172033"/>
                </a:solidFill>
                <a:latin typeface="맑은 고딕"/>
              </a:rPr>
              <a:t>Winkler 기준으로도 Auto-ARIMA 1위(11.00) — 최종 선정 기준으로 채택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6F9692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333B4A"/>
                </a:solidFill>
                <a:latin typeface="맑은 고딕"/>
              </a:rPr>
              <a:t>block bootstrap(500회) 재검증: 1위 비율 82.8% — 두 기준이 같은 결론에 수렴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14253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r>
              <a:rPr lang="ko-KR" altLang="en-US" dirty="0"/>
              <a:t>모델 계열 </a:t>
            </a:r>
            <a:r>
              <a:rPr lang="ko-KR" altLang="en-US" dirty="0" smtClean="0"/>
              <a:t>선정 </a:t>
            </a:r>
            <a:r>
              <a:rPr lang="ko-KR" altLang="en-US" dirty="0"/>
              <a:t>③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맑은 고딕"/>
              </a:defRPr>
            </a:pPr>
            <a:r>
              <a:t>90% 단일 구간의 실용성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6"/>
                </a:solidFill>
                <a:latin typeface="맑은 고딕"/>
              </a:defRPr>
            </a:pPr>
            <a:r>
              <a:t>모델 선정 연구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645920"/>
            <a:ext cx="757568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pt_sixvar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755648"/>
            <a:ext cx="7356226" cy="3895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9436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</a:t>
            </a:r>
            <a:r>
              <a:rPr sz="1400" b="1">
                <a:solidFill>
                  <a:srgbClr val="172033"/>
                </a:solidFill>
                <a:latin typeface="맑은 고딕"/>
              </a:rPr>
              <a:t>X3(음수 불가 물리량)의 90% 하한이 -295 — 구조적으로 불가능한 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14253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r>
              <a:rPr lang="ko-KR" altLang="en-US" dirty="0"/>
              <a:t>모델 계열 </a:t>
            </a:r>
            <a:r>
              <a:rPr lang="ko-KR" altLang="en-US" dirty="0" smtClean="0"/>
              <a:t>선정 </a:t>
            </a:r>
            <a:r>
              <a:rPr lang="ko-KR" altLang="en-US" dirty="0"/>
              <a:t>④</a:t>
            </a:r>
          </a:p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맑은 고딕"/>
              </a:defRPr>
            </a:pPr>
            <a:r>
              <a:t>80%+95% 이중 밴드 대안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6"/>
                </a:solidFill>
                <a:latin typeface="맑은 고딕"/>
              </a:defRPr>
            </a:pPr>
            <a:r>
              <a:t>모델 선정 연구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979054" y="1453712"/>
            <a:ext cx="10713258" cy="47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40" y="1596271"/>
            <a:ext cx="5219943" cy="422287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783" y="1670159"/>
            <a:ext cx="5332887" cy="42374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121700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r>
              <a:rPr lang="ko-KR" altLang="en-US" dirty="0"/>
              <a:t>모델 계열 </a:t>
            </a:r>
            <a:r>
              <a:rPr lang="ko-KR" altLang="en-US" dirty="0" smtClean="0"/>
              <a:t>선정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맑은 고딕"/>
              </a:defRPr>
            </a:pPr>
            <a:r>
              <a:t>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6"/>
                </a:solidFill>
                <a:latin typeface="맑은 고딕"/>
              </a:defRPr>
            </a:pPr>
            <a:r>
              <a:t>모델 선정 연구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10424160" cy="198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800" b="1" dirty="0" err="1">
                <a:solidFill>
                  <a:srgbClr val="172033"/>
                </a:solidFill>
                <a:latin typeface="맑은 고딕"/>
              </a:rPr>
              <a:t>선정</a:t>
            </a:r>
            <a:r>
              <a:rPr sz="18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172033"/>
                </a:solidFill>
                <a:latin typeface="맑은 고딕"/>
              </a:rPr>
              <a:t>모델</a:t>
            </a:r>
            <a:r>
              <a:rPr sz="1800" b="1" dirty="0">
                <a:solidFill>
                  <a:srgbClr val="172033"/>
                </a:solidFill>
                <a:latin typeface="맑은 고딕"/>
              </a:rPr>
              <a:t> — Auto-ARIMA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90% 폭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비교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 · Winkler score 두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기준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모두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일관되게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지지</a:t>
            </a:r>
            <a:endParaRPr sz="1800" b="0" dirty="0">
              <a:solidFill>
                <a:srgbClr val="333B4A"/>
              </a:solidFill>
              <a:latin typeface="맑은 고딕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한계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 — origin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표본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적음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 /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대칭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밴드가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물리적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제약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반영</a:t>
            </a:r>
            <a:r>
              <a:rPr sz="18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333B4A"/>
                </a:solidFill>
                <a:latin typeface="맑은 고딕"/>
              </a:rPr>
              <a:t>못함</a:t>
            </a:r>
            <a:endParaRPr sz="1800" b="0" dirty="0">
              <a:solidFill>
                <a:srgbClr val="333B4A"/>
              </a:solidFill>
              <a:latin typeface="맑은 고딕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800" b="1" dirty="0" smtClean="0">
                <a:solidFill>
                  <a:srgbClr val="172033"/>
                </a:solidFill>
                <a:latin typeface="맑은 고딕"/>
              </a:rPr>
              <a:t>Winkler</a:t>
            </a:r>
            <a:r>
              <a:rPr lang="en-US" sz="1800" b="1" dirty="0" smtClean="0">
                <a:solidFill>
                  <a:srgbClr val="172033"/>
                </a:solidFill>
                <a:latin typeface="맑은 고딕"/>
              </a:rPr>
              <a:t> score</a:t>
            </a:r>
            <a:r>
              <a:rPr sz="18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800" b="1" dirty="0" err="1" smtClean="0">
                <a:solidFill>
                  <a:srgbClr val="172033"/>
                </a:solidFill>
                <a:latin typeface="맑은 고딕"/>
              </a:rPr>
              <a:t>기준으로</a:t>
            </a:r>
            <a:r>
              <a:rPr sz="18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172033"/>
                </a:solidFill>
                <a:latin typeface="맑은 고딕"/>
              </a:rPr>
              <a:t>세부</a:t>
            </a:r>
            <a:r>
              <a:rPr sz="18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172033"/>
                </a:solidFill>
                <a:latin typeface="맑은 고딕"/>
              </a:rPr>
              <a:t>모델</a:t>
            </a:r>
            <a:r>
              <a:rPr sz="18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172033"/>
                </a:solidFill>
                <a:latin typeface="맑은 고딕"/>
              </a:rPr>
              <a:t>비교</a:t>
            </a:r>
            <a:endParaRPr sz="1800" b="1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14253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r>
              <a:rPr lang="ko-KR" altLang="en-US" dirty="0" smtClean="0"/>
              <a:t>세부 모델 선정 </a:t>
            </a:r>
            <a:r>
              <a:rPr lang="ko-KR" altLang="en-US" dirty="0"/>
              <a:t>①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맑은 고딕"/>
              </a:defRPr>
            </a:pPr>
            <a:r>
              <a:t>선정 계열 내부 모델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6"/>
                </a:solidFill>
                <a:latin typeface="맑은 고딕"/>
              </a:defRPr>
            </a:pPr>
            <a:r>
              <a:t>모델 선정 연구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6F9692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333B4A"/>
                </a:solidFill>
                <a:latin typeface="맑은 고딕"/>
              </a:rPr>
              <a:t>시계열 5개 — Auto-ARIMA(AIC/BIC), ETS, Theta, 랜덤워크+drift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6F9692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333B4A"/>
                </a:solidFill>
                <a:latin typeface="맑은 고딕"/>
              </a:rPr>
              <a:t>회귀 4개 — OLS, Ridge, Lasso, ElasticNet (정규화 강도별 변형)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6F9692"/>
                </a:solidFill>
                <a:latin typeface="맑은 고딕"/>
              </a:rPr>
              <a:t>●  </a:t>
            </a:r>
            <a:r>
              <a:rPr sz="1700" b="1">
                <a:solidFill>
                  <a:srgbClr val="172033"/>
                </a:solidFill>
                <a:latin typeface="맑은 고딕"/>
              </a:rPr>
              <a:t>동일한 흐름 적용: 90% 튜닝 → 부트스트랩 → Winkler(최종)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14253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r>
              <a:rPr lang="ko-KR" altLang="en-US" dirty="0"/>
              <a:t>세부 모델 </a:t>
            </a:r>
            <a:r>
              <a:rPr lang="ko-KR" altLang="en-US" dirty="0" smtClean="0"/>
              <a:t>선정 </a:t>
            </a:r>
            <a:r>
              <a:rPr lang="ko-KR" altLang="en-US" dirty="0"/>
              <a:t>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맑은 고딕"/>
              </a:defRPr>
            </a:pPr>
            <a:r>
              <a:t>90% 튜닝 후 폭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6"/>
                </a:solidFill>
                <a:latin typeface="맑은 고딕"/>
              </a:defRPr>
            </a:pPr>
            <a:r>
              <a:t>모델 선정 연구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맑은 고딕"/>
              </a:defRPr>
            </a:pPr>
            <a: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828800"/>
          <a:ext cx="4754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3962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모델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폭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ARIMA(BIC)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1.52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6.52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ARIMA(AIC)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Theta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6.77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회귀-OLS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6.89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회귀-Ridge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6.92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943600" y="1737360"/>
            <a:ext cx="5394960" cy="27781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pt_nb4bar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847088"/>
            <a:ext cx="5175504" cy="25586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448056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>
                <a:solidFill>
                  <a:srgbClr val="172033"/>
                </a:solidFill>
                <a:latin typeface="맑은 고딕"/>
              </a:rPr>
              <a:t>ARIMA(BIC) 1위(폭 6.52) — 부트스트랩 100% 1위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14253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r>
              <a:rPr lang="ko-KR" altLang="en-US" dirty="0"/>
              <a:t>세부 모델 </a:t>
            </a:r>
            <a:r>
              <a:rPr lang="ko-KR" altLang="en-US" dirty="0" smtClean="0"/>
              <a:t>선정 </a:t>
            </a:r>
            <a:r>
              <a:rPr lang="ko-KR" altLang="en-US" dirty="0"/>
              <a:t>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맑은 고딕"/>
              </a:defRPr>
            </a:pPr>
            <a:r>
              <a:t>모델별 90% 구간 시각 비교 (X3)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6"/>
                </a:solidFill>
                <a:latin typeface="맑은 고딕"/>
              </a:defRPr>
            </a:pPr>
            <a:r>
              <a:t>모델 선정 연구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624649" cy="42062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pt_nb4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709928"/>
            <a:ext cx="5405193" cy="39867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14253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r>
              <a:rPr lang="ko-KR" altLang="en-US" dirty="0"/>
              <a:t>세부 모델 </a:t>
            </a:r>
            <a:r>
              <a:rPr lang="ko-KR" altLang="en-US" dirty="0" smtClean="0"/>
              <a:t>선정 </a:t>
            </a:r>
            <a:r>
              <a:rPr lang="ko-KR" altLang="en-US" dirty="0"/>
              <a:t>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맑은 고딕"/>
              </a:defRPr>
            </a:pPr>
            <a:r>
              <a:t>Winkler score → 승자 반전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6"/>
                </a:solidFill>
                <a:latin typeface="맑은 고딕"/>
              </a:defRPr>
            </a:pPr>
            <a:r>
              <a:t>모델 선정 연구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맑은 고딕"/>
              </a:defRPr>
            </a:pPr>
            <a: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828800"/>
          <a:ext cx="60350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모델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Winkler@80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Winkler@95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합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ARIMA(AIC)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4.742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6.26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62728"/>
                          </a:solidFill>
                          <a:latin typeface="맑은 고딕"/>
                        </a:defRPr>
                      </a:pPr>
                      <a:r>
                        <a:t>11.0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회귀-OLS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4.726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6.455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11.18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ARIMA(BIC)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4.827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6.444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회귀-Ridge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4.892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6.763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B4A"/>
                          </a:solidFill>
                          <a:latin typeface="맑은 고딕"/>
                        </a:defRPr>
                      </a:pPr>
                      <a:r>
                        <a:t>11.66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20624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>
                <a:solidFill>
                  <a:srgbClr val="172033"/>
                </a:solidFill>
                <a:latin typeface="맑은 고딕"/>
              </a:rPr>
              <a:t>90% 폭 비교 1위 BIC → Winkler 1위는 AIC로 반전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>
                <a:solidFill>
                  <a:srgbClr val="172033"/>
                </a:solidFill>
                <a:latin typeface="맑은 고딕"/>
              </a:rPr>
              <a:t>최종 기준(Winkler)을 따라 Auto-ARIMA(AIC) 최종 선정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333B4A"/>
                </a:solidFill>
                <a:latin typeface="맑은 고딕"/>
              </a:rPr>
              <a:t>(시계열이 회귀보다 우수하다는 결론 자체는 두 기준 모두 일관)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86"/>
                </a:solidFill>
                <a:latin typeface="맑은 고딕"/>
              </a:defRPr>
            </a:pPr>
            <a:r>
              <a:rPr dirty="0"/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맑은 고딕"/>
              </a:defRPr>
            </a:pPr>
            <a:r>
              <a:t>전체 결론 &amp;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6"/>
                </a:solidFill>
                <a:latin typeface="맑은 고딕"/>
              </a:defRPr>
            </a:pPr>
            <a:r>
              <a:t>모델 선정 연구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10424160" cy="183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700" b="1" dirty="0" smtClean="0">
                <a:solidFill>
                  <a:srgbClr val="172033"/>
                </a:solidFill>
                <a:latin typeface="맑은 고딕"/>
              </a:rPr>
              <a:t>Auto-ARIMA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선정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(두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기준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일치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700" b="1" dirty="0" smtClean="0">
                <a:solidFill>
                  <a:srgbClr val="172033"/>
                </a:solidFill>
                <a:latin typeface="맑은 고딕"/>
              </a:rPr>
              <a:t>Auto-ARIMA(AIC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)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최종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선정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(Winkler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기준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,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BIC에서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반전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공통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교훈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—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목표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커버리지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하나에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튜닝하는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방식은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불안정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→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Winkler가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더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신뢰도</a:t>
            </a:r>
            <a:r>
              <a:rPr sz="1700" b="0" dirty="0">
                <a:solidFill>
                  <a:srgbClr val="333B4A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333B4A"/>
                </a:solidFill>
                <a:latin typeface="맑은 고딕"/>
              </a:rPr>
              <a:t>높음</a:t>
            </a:r>
            <a:endParaRPr sz="1700" b="0" dirty="0">
              <a:solidFill>
                <a:srgbClr val="333B4A"/>
              </a:solidFill>
              <a:latin typeface="맑은 고딕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다음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단계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—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실제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7분기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예측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산출</a:t>
            </a:r>
            <a:r>
              <a:rPr sz="1700" b="1" dirty="0">
                <a:solidFill>
                  <a:srgbClr val="172033"/>
                </a:solidFill>
                <a:latin typeface="맑은 고딕"/>
              </a:rPr>
              <a:t> 후 Adaptive Conformal Inference(ACI) </a:t>
            </a:r>
            <a:r>
              <a:rPr sz="1700" b="1" dirty="0" err="1">
                <a:solidFill>
                  <a:srgbClr val="172033"/>
                </a:solidFill>
                <a:latin typeface="맑은 고딕"/>
              </a:rPr>
              <a:t>추가</a:t>
            </a:r>
            <a:endParaRPr sz="1700" b="1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660</Words>
  <Application>Microsoft Office PowerPoint</Application>
  <PresentationFormat>와이드스크린</PresentationFormat>
  <Paragraphs>163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10</cp:revision>
  <dcterms:created xsi:type="dcterms:W3CDTF">2013-01-27T09:14:16Z</dcterms:created>
  <dcterms:modified xsi:type="dcterms:W3CDTF">2026-09-11T01:17:07Z</dcterms:modified>
  <cp:category/>
</cp:coreProperties>
</file>