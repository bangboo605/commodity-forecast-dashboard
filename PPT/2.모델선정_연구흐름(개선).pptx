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C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65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2514600"/>
            <a:ext cx="109728" cy="822960"/>
          </a:xfrm>
          <a:prstGeom prst="rect">
            <a:avLst/>
          </a:prstGeom>
          <a:solidFill>
            <a:srgbClr val="EF64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2331720"/>
            <a:ext cx="7067640" cy="6155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4000" b="1" dirty="0" err="1">
                <a:solidFill>
                  <a:srgbClr val="172033"/>
                </a:solidFill>
                <a:latin typeface="맑은 고딕"/>
              </a:rPr>
              <a:t>주요변수</a:t>
            </a:r>
            <a:r>
              <a:rPr sz="40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4000" b="1" dirty="0" err="1">
                <a:solidFill>
                  <a:srgbClr val="172033"/>
                </a:solidFill>
                <a:latin typeface="맑은 고딕"/>
              </a:rPr>
              <a:t>예측모델</a:t>
            </a:r>
            <a:r>
              <a:rPr sz="40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4000" b="1" dirty="0" err="1">
                <a:solidFill>
                  <a:srgbClr val="172033"/>
                </a:solidFill>
                <a:latin typeface="맑은 고딕"/>
              </a:rPr>
              <a:t>선정</a:t>
            </a:r>
            <a:r>
              <a:rPr sz="4000" b="1" dirty="0">
                <a:solidFill>
                  <a:srgbClr val="172033"/>
                </a:solidFill>
                <a:latin typeface="맑은 고딕"/>
              </a:rPr>
              <a:t> (</a:t>
            </a:r>
            <a:r>
              <a:rPr sz="4000" b="1" dirty="0" smtClean="0">
                <a:solidFill>
                  <a:srgbClr val="172033"/>
                </a:solidFill>
                <a:latin typeface="맑은 고딕"/>
              </a:rPr>
              <a:t>개</a:t>
            </a:r>
            <a:r>
              <a:rPr lang="ko-KR" altLang="en-US" sz="4000" b="1" dirty="0" smtClean="0">
                <a:solidFill>
                  <a:srgbClr val="172033"/>
                </a:solidFill>
                <a:latin typeface="맑은 고딕"/>
              </a:rPr>
              <a:t>선</a:t>
            </a:r>
            <a:r>
              <a:rPr sz="4000" b="1" dirty="0" smtClean="0">
                <a:solidFill>
                  <a:srgbClr val="172033"/>
                </a:solidFill>
                <a:latin typeface="맑은 고딕"/>
              </a:rPr>
              <a:t>)</a:t>
            </a:r>
            <a:endParaRPr sz="4000" b="1" dirty="0">
              <a:solidFill>
                <a:srgbClr val="172033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97280" y="3154680"/>
            <a:ext cx="100584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0">
                <a:solidFill>
                  <a:srgbClr val="172033"/>
                </a:solidFill>
                <a:latin typeface="맑은 고딕"/>
              </a:rPr>
              <a:t>연구 흐름 요약  —  H=4·변수별 변환·CRPS+Likelihood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0127" y="5767185"/>
            <a:ext cx="615553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ko-KR" altLang="en-US" sz="1600" b="1" dirty="0" smtClean="0">
                <a:solidFill>
                  <a:srgbClr val="6F9692"/>
                </a:solidFill>
                <a:latin typeface="맑은 고딕"/>
              </a:rPr>
              <a:t>박민수</a:t>
            </a:r>
            <a:endParaRPr sz="1600" b="1" dirty="0">
              <a:solidFill>
                <a:srgbClr val="6F9692"/>
              </a:solidFill>
              <a:latin typeface="맑은 고딕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72033"/>
                </a:solidFill>
                <a:latin typeface="맑은 고딕"/>
              </a:rPr>
              <a:t>배경 및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246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</a:rPr>
              <a:t>모델 선정 연구 흐름 (개정)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737360"/>
            <a:ext cx="10424160" cy="29700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 dirty="0">
                <a:solidFill>
                  <a:srgbClr val="6F9692"/>
                </a:solidFill>
                <a:latin typeface="맑은 고딕"/>
              </a:rPr>
              <a:t>●  3번 </a:t>
            </a:r>
            <a:r>
              <a:rPr sz="1700" b="1" dirty="0" err="1">
                <a:solidFill>
                  <a:srgbClr val="6F9692"/>
                </a:solidFill>
                <a:latin typeface="맑은 고딕"/>
              </a:rPr>
              <a:t>노트북</a:t>
            </a:r>
            <a:r>
              <a:rPr sz="1700" b="1" dirty="0">
                <a:solidFill>
                  <a:srgbClr val="6F9692"/>
                </a:solidFill>
                <a:latin typeface="맑은 고딕"/>
              </a:rPr>
              <a:t>(H=7, Winkler 90%)의 </a:t>
            </a:r>
            <a:r>
              <a:rPr sz="1700" b="1" dirty="0" err="1" smtClean="0">
                <a:solidFill>
                  <a:srgbClr val="6F9692"/>
                </a:solidFill>
                <a:latin typeface="맑은 고딕"/>
              </a:rPr>
              <a:t>한계</a:t>
            </a:r>
            <a:r>
              <a:rPr lang="en-US" sz="1700" b="1" dirty="0">
                <a:solidFill>
                  <a:srgbClr val="6F9692"/>
                </a:solidFill>
                <a:latin typeface="맑은 고딕"/>
              </a:rPr>
              <a:t/>
            </a:r>
            <a:br>
              <a:rPr lang="en-US" sz="1700" b="1" dirty="0">
                <a:solidFill>
                  <a:srgbClr val="6F9692"/>
                </a:solidFill>
                <a:latin typeface="맑은 고딕"/>
              </a:rPr>
            </a:br>
            <a:r>
              <a:rPr lang="en-US" sz="1700" b="1" dirty="0" smtClean="0">
                <a:solidFill>
                  <a:srgbClr val="6F9692"/>
                </a:solidFill>
                <a:latin typeface="맑은 고딕"/>
              </a:rPr>
              <a:t>	</a:t>
            </a:r>
            <a:r>
              <a:rPr sz="1700" b="1" dirty="0" smtClean="0">
                <a:solidFill>
                  <a:srgbClr val="6F9692"/>
                </a:solidFill>
                <a:latin typeface="맑은 고딕"/>
              </a:rPr>
              <a:t>— </a:t>
            </a:r>
            <a:r>
              <a:rPr sz="1700" b="1" dirty="0" err="1">
                <a:solidFill>
                  <a:srgbClr val="6F9692"/>
                </a:solidFill>
                <a:latin typeface="맑은 고딕"/>
              </a:rPr>
              <a:t>구간이</a:t>
            </a:r>
            <a:r>
              <a:rPr sz="17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700" b="1" dirty="0" err="1">
                <a:solidFill>
                  <a:srgbClr val="6F9692"/>
                </a:solidFill>
                <a:latin typeface="맑은 고딕"/>
              </a:rPr>
              <a:t>비현실적으로</a:t>
            </a:r>
            <a:r>
              <a:rPr sz="17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700" b="1" dirty="0" err="1">
                <a:solidFill>
                  <a:srgbClr val="6F9692"/>
                </a:solidFill>
                <a:latin typeface="맑은 고딕"/>
              </a:rPr>
              <a:t>넓음</a:t>
            </a:r>
            <a:r>
              <a:rPr sz="1700" b="1" dirty="0">
                <a:solidFill>
                  <a:srgbClr val="6F9692"/>
                </a:solidFill>
                <a:latin typeface="맑은 고딕"/>
              </a:rPr>
              <a:t>(X3 </a:t>
            </a:r>
            <a:r>
              <a:rPr sz="1700" b="1" dirty="0" err="1">
                <a:solidFill>
                  <a:srgbClr val="6F9692"/>
                </a:solidFill>
                <a:latin typeface="맑은 고딕"/>
              </a:rPr>
              <a:t>하한</a:t>
            </a:r>
            <a:r>
              <a:rPr sz="1700" b="1" dirty="0">
                <a:solidFill>
                  <a:srgbClr val="6F9692"/>
                </a:solidFill>
                <a:latin typeface="맑은 고딕"/>
              </a:rPr>
              <a:t> -295, </a:t>
            </a:r>
            <a:r>
              <a:rPr sz="1700" b="1" dirty="0" err="1">
                <a:solidFill>
                  <a:srgbClr val="6F9692"/>
                </a:solidFill>
                <a:latin typeface="맑은 고딕"/>
              </a:rPr>
              <a:t>물리적으로</a:t>
            </a:r>
            <a:r>
              <a:rPr sz="17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700" b="1" dirty="0" err="1">
                <a:solidFill>
                  <a:srgbClr val="6F9692"/>
                </a:solidFill>
                <a:latin typeface="맑은 고딕"/>
              </a:rPr>
              <a:t>불가능</a:t>
            </a:r>
            <a:r>
              <a:rPr sz="1700" b="1" dirty="0" smtClean="0">
                <a:solidFill>
                  <a:srgbClr val="6F9692"/>
                </a:solidFill>
                <a:latin typeface="맑은 고딕"/>
              </a:rPr>
              <a:t>)</a:t>
            </a:r>
            <a:endParaRPr sz="1700" b="1" dirty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1000"/>
              </a:spcAft>
            </a:pPr>
            <a:r>
              <a:rPr sz="1700" b="1" dirty="0">
                <a:solidFill>
                  <a:srgbClr val="6F9692"/>
                </a:solidFill>
                <a:latin typeface="맑은 고딕"/>
              </a:rPr>
              <a:t>●  Winkler </a:t>
            </a:r>
            <a:r>
              <a:rPr sz="1700" b="1" dirty="0" err="1">
                <a:solidFill>
                  <a:srgbClr val="6F9692"/>
                </a:solidFill>
                <a:latin typeface="맑은 고딕"/>
              </a:rPr>
              <a:t>score는</a:t>
            </a:r>
            <a:r>
              <a:rPr sz="1700" b="1" dirty="0">
                <a:solidFill>
                  <a:srgbClr val="6F9692"/>
                </a:solidFill>
                <a:latin typeface="맑은 고딕"/>
              </a:rPr>
              <a:t> 90% 한 </a:t>
            </a:r>
            <a:r>
              <a:rPr sz="1700" b="1" dirty="0" err="1">
                <a:solidFill>
                  <a:srgbClr val="6F9692"/>
                </a:solidFill>
                <a:latin typeface="맑은 고딕"/>
              </a:rPr>
              <a:t>수준만</a:t>
            </a:r>
            <a:r>
              <a:rPr sz="17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700" b="1" dirty="0" err="1" smtClean="0">
                <a:solidFill>
                  <a:srgbClr val="6F9692"/>
                </a:solidFill>
                <a:latin typeface="맑은 고딕"/>
              </a:rPr>
              <a:t>반영</a:t>
            </a:r>
            <a:r>
              <a:rPr lang="en-US" sz="1700" b="1" dirty="0">
                <a:solidFill>
                  <a:srgbClr val="6F9692"/>
                </a:solidFill>
                <a:latin typeface="맑은 고딕"/>
              </a:rPr>
              <a:t/>
            </a:r>
            <a:br>
              <a:rPr lang="en-US" sz="1700" b="1" dirty="0">
                <a:solidFill>
                  <a:srgbClr val="6F9692"/>
                </a:solidFill>
                <a:latin typeface="맑은 고딕"/>
              </a:rPr>
            </a:br>
            <a:r>
              <a:rPr lang="en-US" sz="1700" b="1" dirty="0" smtClean="0">
                <a:solidFill>
                  <a:srgbClr val="6F9692"/>
                </a:solidFill>
                <a:latin typeface="맑은 고딕"/>
              </a:rPr>
              <a:t>	</a:t>
            </a:r>
            <a:r>
              <a:rPr sz="1700" b="1" dirty="0" smtClean="0">
                <a:solidFill>
                  <a:srgbClr val="6F9692"/>
                </a:solidFill>
                <a:latin typeface="맑은 고딕"/>
              </a:rPr>
              <a:t>— </a:t>
            </a:r>
            <a:r>
              <a:rPr sz="1700" b="1" dirty="0" err="1">
                <a:solidFill>
                  <a:srgbClr val="6F9692"/>
                </a:solidFill>
                <a:latin typeface="맑은 고딕"/>
              </a:rPr>
              <a:t>분포</a:t>
            </a:r>
            <a:r>
              <a:rPr sz="17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700" b="1" dirty="0" err="1">
                <a:solidFill>
                  <a:srgbClr val="6F9692"/>
                </a:solidFill>
                <a:latin typeface="맑은 고딕"/>
              </a:rPr>
              <a:t>전체</a:t>
            </a:r>
            <a:r>
              <a:rPr sz="1700" b="1" dirty="0">
                <a:solidFill>
                  <a:srgbClr val="6F9692"/>
                </a:solidFill>
                <a:latin typeface="맑은 고딕"/>
              </a:rPr>
              <a:t>(</a:t>
            </a:r>
            <a:r>
              <a:rPr sz="1700" b="1" dirty="0" err="1">
                <a:solidFill>
                  <a:srgbClr val="6F9692"/>
                </a:solidFill>
                <a:latin typeface="맑은 고딕"/>
              </a:rPr>
              <a:t>꼬리</a:t>
            </a:r>
            <a:r>
              <a:rPr sz="17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700" b="1" dirty="0" err="1">
                <a:solidFill>
                  <a:srgbClr val="6F9692"/>
                </a:solidFill>
                <a:latin typeface="맑은 고딕"/>
              </a:rPr>
              <a:t>포함</a:t>
            </a:r>
            <a:r>
              <a:rPr sz="1700" b="1" dirty="0">
                <a:solidFill>
                  <a:srgbClr val="6F9692"/>
                </a:solidFill>
                <a:latin typeface="맑은 고딕"/>
              </a:rPr>
              <a:t>)를 못 </a:t>
            </a:r>
            <a:r>
              <a:rPr sz="1700" b="1" dirty="0" smtClean="0">
                <a:solidFill>
                  <a:srgbClr val="6F9692"/>
                </a:solidFill>
                <a:latin typeface="맑은 고딕"/>
              </a:rPr>
              <a:t>봄</a:t>
            </a:r>
            <a:endParaRPr sz="1700" b="1" dirty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1000"/>
              </a:spcAft>
            </a:pPr>
            <a:r>
              <a:rPr sz="1700" b="1" dirty="0">
                <a:solidFill>
                  <a:srgbClr val="6F9692"/>
                </a:solidFill>
                <a:latin typeface="맑은 고딕"/>
              </a:rPr>
              <a:t>●  Auto-</a:t>
            </a:r>
            <a:r>
              <a:rPr sz="1700" b="1" dirty="0" err="1">
                <a:solidFill>
                  <a:srgbClr val="6F9692"/>
                </a:solidFill>
                <a:latin typeface="맑은 고딕"/>
              </a:rPr>
              <a:t>ARIMA의</a:t>
            </a:r>
            <a:r>
              <a:rPr sz="17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700" b="1" dirty="0" err="1">
                <a:solidFill>
                  <a:srgbClr val="6F9692"/>
                </a:solidFill>
                <a:latin typeface="맑은 고딕"/>
              </a:rPr>
              <a:t>오차폭이</a:t>
            </a:r>
            <a:r>
              <a:rPr sz="17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700" b="1" dirty="0" err="1">
                <a:solidFill>
                  <a:srgbClr val="6F9692"/>
                </a:solidFill>
                <a:latin typeface="맑은 고딕"/>
              </a:rPr>
              <a:t>시간에</a:t>
            </a:r>
            <a:r>
              <a:rPr sz="17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700" b="1" dirty="0" err="1">
                <a:solidFill>
                  <a:srgbClr val="6F9692"/>
                </a:solidFill>
                <a:latin typeface="맑은 고딕"/>
              </a:rPr>
              <a:t>따라</a:t>
            </a:r>
            <a:r>
              <a:rPr sz="17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700" b="1" dirty="0" err="1">
                <a:solidFill>
                  <a:srgbClr val="6F9692"/>
                </a:solidFill>
                <a:latin typeface="맑은 고딕"/>
              </a:rPr>
              <a:t>거의</a:t>
            </a:r>
            <a:r>
              <a:rPr sz="1700" b="1" dirty="0">
                <a:solidFill>
                  <a:srgbClr val="6F9692"/>
                </a:solidFill>
                <a:latin typeface="맑은 고딕"/>
              </a:rPr>
              <a:t> 안 </a:t>
            </a:r>
            <a:r>
              <a:rPr sz="1700" b="1" dirty="0" err="1" smtClean="0">
                <a:solidFill>
                  <a:srgbClr val="6F9692"/>
                </a:solidFill>
                <a:latin typeface="맑은 고딕"/>
              </a:rPr>
              <a:t>움직임</a:t>
            </a:r>
            <a:r>
              <a:rPr lang="en-US" sz="1700" b="1" dirty="0">
                <a:solidFill>
                  <a:srgbClr val="6F9692"/>
                </a:solidFill>
                <a:latin typeface="맑은 고딕"/>
              </a:rPr>
              <a:t/>
            </a:r>
            <a:br>
              <a:rPr lang="en-US" sz="1700" b="1" dirty="0">
                <a:solidFill>
                  <a:srgbClr val="6F9692"/>
                </a:solidFill>
                <a:latin typeface="맑은 고딕"/>
              </a:rPr>
            </a:br>
            <a:r>
              <a:rPr lang="en-US" sz="1700" b="1" dirty="0" smtClean="0">
                <a:solidFill>
                  <a:srgbClr val="6F9692"/>
                </a:solidFill>
                <a:latin typeface="맑은 고딕"/>
              </a:rPr>
              <a:t>	</a:t>
            </a:r>
            <a:r>
              <a:rPr sz="1700" b="1" dirty="0" smtClean="0">
                <a:solidFill>
                  <a:srgbClr val="6F9692"/>
                </a:solidFill>
                <a:latin typeface="맑은 고딕"/>
              </a:rPr>
              <a:t>— </a:t>
            </a:r>
            <a:r>
              <a:rPr sz="1700" b="1" dirty="0" err="1">
                <a:solidFill>
                  <a:srgbClr val="6F9692"/>
                </a:solidFill>
                <a:latin typeface="맑은 고딕"/>
              </a:rPr>
              <a:t>변동성</a:t>
            </a:r>
            <a:r>
              <a:rPr sz="1700" b="1" dirty="0">
                <a:solidFill>
                  <a:srgbClr val="6F9692"/>
                </a:solidFill>
                <a:latin typeface="맑은 고딕"/>
              </a:rPr>
              <a:t> 큰 </a:t>
            </a:r>
            <a:r>
              <a:rPr sz="1700" b="1" dirty="0" err="1">
                <a:solidFill>
                  <a:srgbClr val="6F9692"/>
                </a:solidFill>
                <a:latin typeface="맑은 고딕"/>
              </a:rPr>
              <a:t>시기에도</a:t>
            </a:r>
            <a:r>
              <a:rPr sz="17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700" b="1" dirty="0" err="1">
                <a:solidFill>
                  <a:srgbClr val="6F9692"/>
                </a:solidFill>
                <a:latin typeface="맑은 고딕"/>
              </a:rPr>
              <a:t>구간이</a:t>
            </a:r>
            <a:r>
              <a:rPr sz="1700" b="1" dirty="0">
                <a:solidFill>
                  <a:srgbClr val="6F9692"/>
                </a:solidFill>
                <a:latin typeface="맑은 고딕"/>
              </a:rPr>
              <a:t> 안 </a:t>
            </a:r>
            <a:r>
              <a:rPr sz="1700" b="1" dirty="0" err="1" smtClean="0">
                <a:solidFill>
                  <a:srgbClr val="6F9692"/>
                </a:solidFill>
                <a:latin typeface="맑은 고딕"/>
              </a:rPr>
              <a:t>넓어짐</a:t>
            </a:r>
            <a:r>
              <a:rPr lang="en-US" sz="1700" b="1" dirty="0" smtClean="0">
                <a:solidFill>
                  <a:srgbClr val="6F9692"/>
                </a:solidFill>
                <a:latin typeface="맑은 고딕"/>
              </a:rPr>
              <a:t/>
            </a:r>
            <a:br>
              <a:rPr lang="en-US" sz="1700" b="1" dirty="0" smtClean="0">
                <a:solidFill>
                  <a:srgbClr val="6F9692"/>
                </a:solidFill>
                <a:latin typeface="맑은 고딕"/>
              </a:rPr>
            </a:br>
            <a:endParaRPr sz="1700" b="1" dirty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1000"/>
              </a:spcAft>
            </a:pPr>
            <a:r>
              <a:rPr lang="en-US" sz="1700" b="1" dirty="0">
                <a:solidFill>
                  <a:srgbClr val="6F9692"/>
                </a:solidFill>
                <a:latin typeface="맑은 고딕"/>
              </a:rPr>
              <a:t/>
            </a:r>
            <a:br>
              <a:rPr lang="en-US" sz="1700" b="1" dirty="0">
                <a:solidFill>
                  <a:srgbClr val="6F9692"/>
                </a:solidFill>
                <a:latin typeface="맑은 고딕"/>
              </a:rPr>
            </a:br>
            <a:r>
              <a:rPr sz="1600" b="1" dirty="0">
                <a:solidFill>
                  <a:srgbClr val="6F9692"/>
                </a:solidFill>
                <a:latin typeface="맑은 고딕"/>
              </a:rPr>
              <a:t>→  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개선</a:t>
            </a:r>
            <a:r>
              <a:rPr sz="16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600" b="1" dirty="0" err="1" smtClean="0">
                <a:solidFill>
                  <a:srgbClr val="6F9692"/>
                </a:solidFill>
                <a:latin typeface="맑은 고딕"/>
              </a:rPr>
              <a:t>방향</a:t>
            </a:r>
            <a:r>
              <a:rPr lang="en-US" sz="16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600" b="1" dirty="0" smtClean="0">
                <a:solidFill>
                  <a:srgbClr val="6F9692"/>
                </a:solidFill>
                <a:latin typeface="맑은 고딕"/>
              </a:rPr>
              <a:t>: 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변수별</a:t>
            </a:r>
            <a:r>
              <a:rPr sz="16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변환</a:t>
            </a:r>
            <a:r>
              <a:rPr sz="1600" b="1" dirty="0">
                <a:solidFill>
                  <a:srgbClr val="6F9692"/>
                </a:solidFill>
                <a:latin typeface="맑은 고딕"/>
              </a:rPr>
              <a:t>(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로그·로짓</a:t>
            </a:r>
            <a:r>
              <a:rPr sz="1600" b="1" dirty="0">
                <a:solidFill>
                  <a:srgbClr val="6F9692"/>
                </a:solidFill>
                <a:latin typeface="맑은 고딕"/>
              </a:rPr>
              <a:t>) + H 7→4 + 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CRPS+Predictive</a:t>
            </a:r>
            <a:r>
              <a:rPr sz="1600" b="1" dirty="0">
                <a:solidFill>
                  <a:srgbClr val="6F9692"/>
                </a:solidFill>
                <a:latin typeface="맑은 고딕"/>
              </a:rPr>
              <a:t> Likelihood(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결합순위</a:t>
            </a:r>
            <a:r>
              <a:rPr sz="1600" b="1" dirty="0">
                <a:solidFill>
                  <a:srgbClr val="6F9692"/>
                </a:solidFill>
                <a:latin typeface="맑은 고딕"/>
              </a:rPr>
              <a:t>) + 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표본</a:t>
            </a:r>
            <a:r>
              <a:rPr sz="16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규모</a:t>
            </a:r>
            <a:r>
              <a:rPr sz="16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사전</a:t>
            </a:r>
            <a:r>
              <a:rPr sz="16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점검</a:t>
            </a:r>
            <a:endParaRPr sz="1700" b="1" dirty="0">
              <a:solidFill>
                <a:srgbClr val="6F9692"/>
              </a:solidFill>
              <a:latin typeface="맑은 고딕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</a:rPr>
              <a:t>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72033"/>
                </a:solidFill>
                <a:latin typeface="맑은 고딕"/>
              </a:rPr>
              <a:t>공통 연구 흐름 (3-1·4-1 동일)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246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</a:rPr>
              <a:t>모델 선정 연구 흐름 (개정)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828800"/>
            <a:ext cx="3931920" cy="48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 dirty="0">
                <a:solidFill>
                  <a:srgbClr val="172033"/>
                </a:solidFill>
                <a:latin typeface="맑은 고딕"/>
              </a:rPr>
              <a:t>① </a:t>
            </a:r>
            <a:r>
              <a:rPr sz="1600" b="1" dirty="0" err="1">
                <a:solidFill>
                  <a:srgbClr val="172033"/>
                </a:solidFill>
                <a:latin typeface="맑은 고딕"/>
              </a:rPr>
              <a:t>변환</a:t>
            </a:r>
            <a:r>
              <a:rPr sz="16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172033"/>
                </a:solidFill>
                <a:latin typeface="맑은 고딕"/>
              </a:rPr>
              <a:t>확정</a:t>
            </a:r>
            <a:endParaRPr sz="1600" b="1" dirty="0">
              <a:solidFill>
                <a:srgbClr val="172033"/>
              </a:solidFill>
              <a:latin typeface="맑은 고딕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46320" y="1856231"/>
            <a:ext cx="6492240" cy="4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697386"/>
                </a:solidFill>
                <a:latin typeface="맑은 고딕"/>
              </a:rPr>
              <a:t>물리적으로 음수 불가능한 변수(로그)·비율 변수(로짓)만 선별 변환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778800"/>
            <a:ext cx="3931920" cy="48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 dirty="0">
                <a:solidFill>
                  <a:srgbClr val="172033"/>
                </a:solidFill>
                <a:latin typeface="맑은 고딕"/>
              </a:rPr>
              <a:t>② H=4 </a:t>
            </a:r>
            <a:r>
              <a:rPr sz="1600" b="1" dirty="0" err="1">
                <a:solidFill>
                  <a:srgbClr val="172033"/>
                </a:solidFill>
                <a:latin typeface="맑은 고딕"/>
              </a:rPr>
              <a:t>백테스트</a:t>
            </a:r>
            <a:endParaRPr sz="1600" b="1" dirty="0">
              <a:solidFill>
                <a:srgbClr val="172033"/>
              </a:solidFill>
              <a:latin typeface="맑은 고딕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846320" y="2806231"/>
            <a:ext cx="6492240" cy="4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697386"/>
                </a:solidFill>
                <a:latin typeface="맑은 고딕"/>
              </a:rPr>
              <a:t>오차가 급격히 커지는 h=5~7 제외, origin 수 확보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728800"/>
            <a:ext cx="1728037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 dirty="0">
                <a:solidFill>
                  <a:srgbClr val="172033"/>
                </a:solidFill>
                <a:latin typeface="맑은 고딕"/>
              </a:rPr>
              <a:t>③ </a:t>
            </a:r>
            <a:r>
              <a:rPr sz="1600" b="1" dirty="0" err="1">
                <a:solidFill>
                  <a:srgbClr val="172033"/>
                </a:solidFill>
                <a:latin typeface="맑은 고딕"/>
              </a:rPr>
              <a:t>파워체크</a:t>
            </a:r>
            <a:r>
              <a:rPr sz="16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600" b="1" dirty="0">
                <a:solidFill>
                  <a:srgbClr val="FF0000"/>
                </a:solidFill>
                <a:latin typeface="맑은 고딕"/>
              </a:rPr>
              <a:t>(</a:t>
            </a:r>
            <a:r>
              <a:rPr sz="1600" b="1" dirty="0" err="1">
                <a:solidFill>
                  <a:srgbClr val="FF0000"/>
                </a:solidFill>
                <a:latin typeface="맑은 고딕"/>
              </a:rPr>
              <a:t>신규</a:t>
            </a:r>
            <a:r>
              <a:rPr sz="1600" b="1" dirty="0">
                <a:solidFill>
                  <a:srgbClr val="FF0000"/>
                </a:solidFill>
                <a:latin typeface="맑은 고딕"/>
              </a:rPr>
              <a:t>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756231"/>
            <a:ext cx="6492240" cy="4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697386"/>
                </a:solidFill>
                <a:latin typeface="맑은 고딕"/>
              </a:rPr>
              <a:t>이 표본 규모로 모델 간 우열을 가릴 수 있는지 먼저 검증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4678800"/>
            <a:ext cx="3931920" cy="48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>
                <a:solidFill>
                  <a:srgbClr val="172033"/>
                </a:solidFill>
                <a:latin typeface="맑은 고딕"/>
              </a:rPr>
              <a:t>④ CRPS+Likelihood 비교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4706231"/>
            <a:ext cx="6492240" cy="4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697386"/>
                </a:solidFill>
                <a:latin typeface="맑은 고딕"/>
              </a:rPr>
              <a:t>정규성 기각 → 경험적 CRPS + 예측 로그가능도 병행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5628800"/>
            <a:ext cx="3931920" cy="48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>
                <a:solidFill>
                  <a:srgbClr val="172033"/>
                </a:solidFill>
                <a:latin typeface="맑은 고딕"/>
              </a:rPr>
              <a:t>⑤ 결합순위(Borda)로 최종 선정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5656231"/>
            <a:ext cx="6492240" cy="4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697386"/>
                </a:solidFill>
                <a:latin typeface="맑은 고딕"/>
              </a:rPr>
              <a:t>두 지표를 순위 평균해 어느 한쪽에만 강한 모델을 배제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</a:rPr>
              <a:t>계열 선정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72033"/>
                </a:solidFill>
                <a:latin typeface="맑은 고딕"/>
              </a:rPr>
              <a:t>H=4+변환 · CRPS+Likelihood 계열 비교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246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</a:rPr>
              <a:t>모델 선정 연구 흐름 (개정)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480560"/>
            <a:ext cx="10424160" cy="18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6F9692"/>
                </a:solidFill>
                <a:latin typeface="맑은 고딕"/>
              </a:rPr>
              <a:t>●  CRPS 1위: 회귀(0.5793) — Auto-ARIMA·GP 근소(격차 2%p 이내)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6F9692"/>
                </a:solidFill>
                <a:latin typeface="맑은 고딕"/>
              </a:rPr>
              <a:t>●  Likelihood는 반대로 Auto-ARIMA 1위 — 상위 3개 계열이 뭉쳐있다는 큰 그림은 동일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6F9692"/>
                </a:solidFill>
                <a:latin typeface="맑은 고딕"/>
              </a:rPr>
              <a:t>●  block bootstrap: 회귀 56.8% · GP 29.8% · Auto-ARIMA 13.4%(naive·GBM은 0%로 열세)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41248" y="1828800"/>
          <a:ext cx="8000000" cy="231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6666"/>
                <a:gridCol w="2666666"/>
                <a:gridCol w="2666668"/>
              </a:tblGrid>
              <a:tr h="3860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계열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CRPS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Predictive Likelihood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62728"/>
                          </a:solidFill>
                          <a:latin typeface="맑은 고딕"/>
                        </a:rPr>
                        <a:t>회귀 (선형회귀)</a:t>
                      </a:r>
                    </a:p>
                  </a:txBody>
                  <a:tcPr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62728"/>
                          </a:solidFill>
                          <a:latin typeface="맑은 고딕"/>
                        </a:rPr>
                        <a:t>0.5793</a:t>
                      </a:r>
                    </a:p>
                  </a:txBody>
                  <a:tcPr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62728"/>
                          </a:solidFill>
                          <a:latin typeface="맑은 고딕"/>
                        </a:rPr>
                        <a:t>-0.783</a:t>
                      </a:r>
                    </a:p>
                  </a:txBody>
                  <a:tcPr>
                    <a:solidFill>
                      <a:srgbClr val="FFECEB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시계열 (Auto-ARIMA)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0.5908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-0.755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커널/비모수 (GP)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0.5912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-0.759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baseline (naive)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0.6655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-0.856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트리기반 (GBM)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0.6885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-0.994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</a:rPr>
              <a:t>계열 선정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72033"/>
                </a:solidFill>
                <a:latin typeface="맑은 고딕"/>
              </a:rPr>
              <a:t>왜 3번 노트북과 결과가 다른가 (어블레이션)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246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</a:rPr>
              <a:t>모델 선정 연구 흐름 (개정)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8268716"/>
              </p:ext>
            </p:extLst>
          </p:nvPr>
        </p:nvGraphicFramePr>
        <p:xfrm>
          <a:off x="841248" y="1828800"/>
          <a:ext cx="9500000" cy="25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0"/>
                <a:gridCol w="2300000"/>
              </a:tblGrid>
              <a:tr h="512000">
                <a:tc>
                  <a:txBody>
                    <a:bodyPr/>
                    <a:lstStyle/>
                    <a:p>
                      <a:r>
                        <a:rPr sz="1300" b="1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조건</a:t>
                      </a:r>
                      <a:endParaRPr sz="1300" b="1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1위 모델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</a:tr>
              <a:tr h="512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H=7 · 변환없음 · Winkler (3번 원본)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Auto-ARIMA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H=7 · 변환없음 · CRPS (지표만 교체)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GP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00"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333B4A"/>
                          </a:solidFill>
                          <a:latin typeface="맑은 고딕"/>
                        </a:rPr>
                        <a:t>H=4 · </a:t>
                      </a:r>
                      <a:r>
                        <a:rPr sz="1300" b="0" dirty="0" err="1">
                          <a:solidFill>
                            <a:srgbClr val="333B4A"/>
                          </a:solidFill>
                          <a:latin typeface="맑은 고딕"/>
                        </a:rPr>
                        <a:t>변환없음</a:t>
                      </a:r>
                      <a:r>
                        <a:rPr sz="1300" b="0" dirty="0">
                          <a:solidFill>
                            <a:srgbClr val="333B4A"/>
                          </a:solidFill>
                          <a:latin typeface="맑은 고딕"/>
                        </a:rPr>
                        <a:t> · CRPS (</a:t>
                      </a:r>
                      <a:r>
                        <a:rPr sz="1300" b="0" dirty="0" err="1">
                          <a:solidFill>
                            <a:srgbClr val="333B4A"/>
                          </a:solidFill>
                          <a:latin typeface="맑은 고딕"/>
                        </a:rPr>
                        <a:t>H까지</a:t>
                      </a:r>
                      <a:r>
                        <a:rPr sz="1300" b="0" dirty="0">
                          <a:solidFill>
                            <a:srgbClr val="333B4A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B4A"/>
                          </a:solidFill>
                          <a:latin typeface="맑은 고딕"/>
                        </a:rPr>
                        <a:t>축소</a:t>
                      </a:r>
                      <a:r>
                        <a:rPr sz="1300" b="0" dirty="0">
                          <a:solidFill>
                            <a:srgbClr val="333B4A"/>
                          </a:solidFill>
                          <a:latin typeface="맑은 고딕"/>
                        </a:rPr>
                        <a:t>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B4A"/>
                          </a:solidFill>
                          <a:latin typeface="맑은 고딕"/>
                        </a:rPr>
                        <a:t>Auto-ARIMA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00">
                <a:tc>
                  <a:txBody>
                    <a:bodyPr/>
                    <a:lstStyle/>
                    <a:p>
                      <a:r>
                        <a:rPr sz="1300" b="1" dirty="0">
                          <a:solidFill>
                            <a:srgbClr val="D62728"/>
                          </a:solidFill>
                          <a:latin typeface="맑은 고딕"/>
                        </a:rPr>
                        <a:t>H=4 · </a:t>
                      </a:r>
                      <a:r>
                        <a:rPr sz="1300" b="1" dirty="0" err="1">
                          <a:solidFill>
                            <a:srgbClr val="D62728"/>
                          </a:solidFill>
                          <a:latin typeface="맑은 고딕"/>
                        </a:rPr>
                        <a:t>변환</a:t>
                      </a:r>
                      <a:r>
                        <a:rPr sz="1300" b="1" dirty="0">
                          <a:solidFill>
                            <a:srgbClr val="D62728"/>
                          </a:solidFill>
                          <a:latin typeface="맑은 고딕"/>
                        </a:rPr>
                        <a:t> · CRPS (</a:t>
                      </a:r>
                      <a:r>
                        <a:rPr sz="1300" b="1" dirty="0" err="1">
                          <a:solidFill>
                            <a:srgbClr val="D62728"/>
                          </a:solidFill>
                          <a:latin typeface="맑은 고딕"/>
                        </a:rPr>
                        <a:t>최종</a:t>
                      </a:r>
                      <a:r>
                        <a:rPr sz="1300" b="1" dirty="0">
                          <a:solidFill>
                            <a:srgbClr val="D62728"/>
                          </a:solidFill>
                          <a:latin typeface="맑은 고딕"/>
                        </a:rPr>
                        <a:t>, 3-1)</a:t>
                      </a:r>
                    </a:p>
                  </a:txBody>
                  <a:tcPr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62728"/>
                          </a:solidFill>
                          <a:latin typeface="맑은 고딕"/>
                        </a:rPr>
                        <a:t>회귀</a:t>
                      </a:r>
                    </a:p>
                  </a:txBody>
                  <a:tcPr>
                    <a:solidFill>
                      <a:srgbClr val="FFECE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41248" y="4900000"/>
            <a:ext cx="10424160" cy="18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6F9692"/>
                </a:solidFill>
                <a:latin typeface="맑은 고딕"/>
              </a:rPr>
              <a:t>●  지표(Winkler→CRPS)만 바꿔도, H만 줄여도 승자가 계속 바뀜 — 회귀가 최종 승자가 된 결정적 요인은 변환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6F9692"/>
                </a:solidFill>
                <a:latin typeface="맑은 고딕"/>
              </a:rPr>
              <a:t>●  변수별로 뜯어보니 회귀의 우위는 정확히 변환된 두 변수(X3·X6)에 집중 — 확인된 사실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</a:rPr>
              <a:t>계열 선정 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72033"/>
                </a:solidFill>
                <a:latin typeface="맑은 고딕"/>
              </a:rPr>
              <a:t>파워체크 — 표본 규모로 모델을 구분할 수 있는가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246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</a:rPr>
              <a:t>모델 선정 연구 흐름 (개정)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737360"/>
            <a:ext cx="10424160" cy="11285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</a:rPr>
              <a:t>● 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본격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비교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전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점검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: Auto-ARIMA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결과를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무작위로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반씩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나눠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자기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자신과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비교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(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귀무분포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, 2,000회)</a:t>
            </a:r>
            <a:endParaRPr lang="en-US" sz="1400" b="1" dirty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</a:rPr>
              <a:t>●  CRPS 90.0%, Likelihood 97.5%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확률로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실제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격차가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우연히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나옴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— 둘 다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확정적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1위를 못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가림</a:t>
            </a:r>
            <a:endParaRPr sz="1500" b="1" dirty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lang="en-US" sz="1500" b="1" dirty="0">
                <a:solidFill>
                  <a:srgbClr val="6F9692"/>
                </a:solidFill>
                <a:latin typeface="맑은 고딕"/>
              </a:rPr>
              <a:t/>
            </a:r>
            <a:br>
              <a:rPr lang="en-US" sz="1500" b="1" dirty="0">
                <a:solidFill>
                  <a:srgbClr val="6F9692"/>
                </a:solidFill>
                <a:latin typeface="맑은 고딕"/>
              </a:rPr>
            </a:br>
            <a:r>
              <a:rPr lang="en-US" sz="1500" b="1" dirty="0" smtClean="0">
                <a:solidFill>
                  <a:schemeClr val="bg1">
                    <a:lumMod val="75000"/>
                  </a:schemeClr>
                </a:solidFill>
                <a:latin typeface="맑은 고딕"/>
              </a:rPr>
              <a:t>- </a:t>
            </a:r>
            <a:r>
              <a:rPr sz="1500" b="1" dirty="0" err="1" smtClean="0">
                <a:solidFill>
                  <a:schemeClr val="bg1">
                    <a:lumMod val="75000"/>
                  </a:schemeClr>
                </a:solidFill>
                <a:latin typeface="맑은 고딕"/>
              </a:rPr>
              <a:t>빨간</a:t>
            </a:r>
            <a:r>
              <a:rPr sz="1500" b="1" dirty="0" smtClean="0">
                <a:solidFill>
                  <a:schemeClr val="bg1">
                    <a:lumMod val="75000"/>
                  </a:schemeClr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chemeClr val="bg1">
                    <a:lumMod val="75000"/>
                  </a:schemeClr>
                </a:solidFill>
                <a:latin typeface="맑은 고딕"/>
              </a:rPr>
              <a:t>선이</a:t>
            </a:r>
            <a:r>
              <a:rPr sz="1500" b="1" dirty="0">
                <a:solidFill>
                  <a:schemeClr val="bg1">
                    <a:lumMod val="75000"/>
                  </a:schemeClr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chemeClr val="bg1">
                    <a:lumMod val="75000"/>
                  </a:schemeClr>
                </a:solidFill>
                <a:latin typeface="맑은 고딕"/>
              </a:rPr>
              <a:t>막대</a:t>
            </a:r>
            <a:r>
              <a:rPr sz="1500" b="1" dirty="0">
                <a:solidFill>
                  <a:schemeClr val="bg1">
                    <a:lumMod val="75000"/>
                  </a:schemeClr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chemeClr val="bg1">
                    <a:lumMod val="75000"/>
                  </a:schemeClr>
                </a:solidFill>
                <a:latin typeface="맑은 고딕"/>
              </a:rPr>
              <a:t>더미보다</a:t>
            </a:r>
            <a:r>
              <a:rPr sz="1500" b="1" dirty="0">
                <a:solidFill>
                  <a:schemeClr val="bg1">
                    <a:lumMod val="75000"/>
                  </a:schemeClr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chemeClr val="bg1">
                    <a:lumMod val="75000"/>
                  </a:schemeClr>
                </a:solidFill>
                <a:latin typeface="맑은 고딕"/>
              </a:rPr>
              <a:t>오른쪽</a:t>
            </a:r>
            <a:r>
              <a:rPr sz="1500" b="1" dirty="0">
                <a:solidFill>
                  <a:schemeClr val="bg1">
                    <a:lumMod val="75000"/>
                  </a:schemeClr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chemeClr val="bg1">
                    <a:lumMod val="75000"/>
                  </a:schemeClr>
                </a:solidFill>
                <a:latin typeface="맑은 고딕"/>
              </a:rPr>
              <a:t>꼬리로</a:t>
            </a:r>
            <a:r>
              <a:rPr sz="1500" b="1" dirty="0">
                <a:solidFill>
                  <a:schemeClr val="bg1">
                    <a:lumMod val="75000"/>
                  </a:schemeClr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chemeClr val="bg1">
                    <a:lumMod val="75000"/>
                  </a:schemeClr>
                </a:solidFill>
                <a:latin typeface="맑은 고딕"/>
              </a:rPr>
              <a:t>멀수록</a:t>
            </a:r>
            <a:r>
              <a:rPr sz="1500" b="1" dirty="0">
                <a:solidFill>
                  <a:schemeClr val="bg1">
                    <a:lumMod val="75000"/>
                  </a:schemeClr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chemeClr val="bg1">
                    <a:lumMod val="75000"/>
                  </a:schemeClr>
                </a:solidFill>
                <a:latin typeface="맑은 고딕"/>
              </a:rPr>
              <a:t>신뢰</a:t>
            </a:r>
            <a:r>
              <a:rPr sz="1500" b="1" dirty="0">
                <a:solidFill>
                  <a:schemeClr val="bg1">
                    <a:lumMod val="75000"/>
                  </a:schemeClr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chemeClr val="bg1">
                    <a:lumMod val="75000"/>
                  </a:schemeClr>
                </a:solidFill>
                <a:latin typeface="맑은 고딕"/>
              </a:rPr>
              <a:t>가능</a:t>
            </a:r>
            <a:r>
              <a:rPr sz="1500" b="1" dirty="0">
                <a:solidFill>
                  <a:schemeClr val="bg1">
                    <a:lumMod val="75000"/>
                  </a:schemeClr>
                </a:solidFill>
                <a:latin typeface="맑은 고딕"/>
              </a:rPr>
              <a:t>, </a:t>
            </a:r>
            <a:r>
              <a:rPr sz="1500" b="1" dirty="0" err="1">
                <a:solidFill>
                  <a:schemeClr val="bg1">
                    <a:lumMod val="75000"/>
                  </a:schemeClr>
                </a:solidFill>
                <a:latin typeface="맑은 고딕"/>
              </a:rPr>
              <a:t>봉우리</a:t>
            </a:r>
            <a:r>
              <a:rPr sz="1500" b="1" dirty="0">
                <a:solidFill>
                  <a:schemeClr val="bg1">
                    <a:lumMod val="75000"/>
                  </a:schemeClr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chemeClr val="bg1">
                    <a:lumMod val="75000"/>
                  </a:schemeClr>
                </a:solidFill>
                <a:latin typeface="맑은 고딕"/>
              </a:rPr>
              <a:t>안이면</a:t>
            </a:r>
            <a:r>
              <a:rPr sz="1500" b="1" dirty="0">
                <a:solidFill>
                  <a:schemeClr val="bg1">
                    <a:lumMod val="75000"/>
                  </a:schemeClr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chemeClr val="bg1">
                    <a:lumMod val="75000"/>
                  </a:schemeClr>
                </a:solidFill>
                <a:latin typeface="맑은 고딕"/>
              </a:rPr>
              <a:t>노이즈</a:t>
            </a:r>
            <a:endParaRPr sz="1500" b="1" dirty="0">
              <a:solidFill>
                <a:schemeClr val="bg1">
                  <a:lumMod val="75000"/>
                </a:schemeClr>
              </a:solidFill>
              <a:latin typeface="맑은 고딕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440127" y="3354280"/>
            <a:ext cx="5311440" cy="29914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power_check_v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5847" y="3400000"/>
            <a:ext cx="5220000" cy="290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</a:rPr>
              <a:t>계열 선정 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72033"/>
                </a:solidFill>
                <a:latin typeface="맑은 고딕"/>
              </a:rPr>
              <a:t>변동성모델(GARCH/SV) — ARCH-LM 사전점검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246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</a:rPr>
              <a:t>모델 선정 연구 흐름 (개정)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931785"/>
            <a:ext cx="10424160" cy="15901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</a:rPr>
              <a:t>●  "Auto-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ARIMA는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오차폭이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시간에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따라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안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움직인다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"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진단은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 smtClean="0">
                <a:solidFill>
                  <a:srgbClr val="6F9692"/>
                </a:solidFill>
                <a:latin typeface="맑은 고딕"/>
              </a:rPr>
              <a:t>정확</a:t>
            </a:r>
            <a:r>
              <a:rPr lang="en-US" sz="1500" b="1" dirty="0">
                <a:solidFill>
                  <a:srgbClr val="6F9692"/>
                </a:solidFill>
                <a:latin typeface="맑은 고딕"/>
              </a:rPr>
              <a:t/>
            </a:r>
            <a:br>
              <a:rPr lang="en-US" sz="1500" b="1" dirty="0">
                <a:solidFill>
                  <a:srgbClr val="6F9692"/>
                </a:solidFill>
                <a:latin typeface="맑은 고딕"/>
              </a:rPr>
            </a:br>
            <a:r>
              <a:rPr lang="en-US" sz="1500" b="1" dirty="0" smtClean="0">
                <a:solidFill>
                  <a:srgbClr val="6F9692"/>
                </a:solidFill>
                <a:latin typeface="맑은 고딕"/>
              </a:rPr>
              <a:t>	</a:t>
            </a:r>
            <a:r>
              <a:rPr sz="1500" b="1" dirty="0" smtClean="0">
                <a:solidFill>
                  <a:srgbClr val="6F9692"/>
                </a:solidFill>
                <a:latin typeface="맑은 고딕"/>
              </a:rPr>
              <a:t>— 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GARCH/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SV로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개선되는지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통계적으로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먼저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점검</a:t>
            </a:r>
            <a:endParaRPr sz="1700" b="1" dirty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</a:rPr>
              <a:t>●  ARCH-LM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검정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: 6개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변수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전부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조건부이분산의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통계적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근거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없음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(p = 0.22 ~ 0.999)</a:t>
            </a:r>
          </a:p>
          <a:p>
            <a:pPr>
              <a:spcAft>
                <a:spcPts val="800"/>
              </a:spcAft>
            </a:pPr>
            <a:r>
              <a:rPr lang="en-US" sz="1500" b="1" dirty="0">
                <a:solidFill>
                  <a:srgbClr val="6F9692"/>
                </a:solidFill>
                <a:latin typeface="맑은 고딕"/>
              </a:rPr>
              <a:t/>
            </a:r>
            <a:br>
              <a:rPr lang="en-US" sz="1500" b="1" dirty="0">
                <a:solidFill>
                  <a:srgbClr val="6F9692"/>
                </a:solidFill>
                <a:latin typeface="맑은 고딕"/>
              </a:rPr>
            </a:br>
            <a:r>
              <a:rPr sz="1500" b="1" dirty="0" smtClean="0">
                <a:solidFill>
                  <a:srgbClr val="6F9692"/>
                </a:solidFill>
                <a:latin typeface="맑은 고딕"/>
              </a:rPr>
              <a:t>→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실제로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GARCH(1,1)/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SV를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결합했을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때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개선되는지는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4-1에서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시계열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정식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후보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(5개 중 2개)로 </a:t>
            </a:r>
            <a:r>
              <a:rPr sz="1500" b="1" dirty="0" err="1" smtClean="0">
                <a:solidFill>
                  <a:srgbClr val="6F9692"/>
                </a:solidFill>
                <a:latin typeface="맑은 고딕"/>
              </a:rPr>
              <a:t>편입해</a:t>
            </a:r>
            <a:r>
              <a:rPr lang="en-US" sz="1500" b="1" dirty="0">
                <a:solidFill>
                  <a:srgbClr val="6F9692"/>
                </a:solidFill>
                <a:latin typeface="맑은 고딕"/>
              </a:rPr>
              <a:t/>
            </a:r>
            <a:br>
              <a:rPr lang="en-US" sz="1500" b="1" dirty="0">
                <a:solidFill>
                  <a:srgbClr val="6F9692"/>
                </a:solidFill>
                <a:latin typeface="맑은 고딕"/>
              </a:rPr>
            </a:br>
            <a:r>
              <a:rPr lang="en-US" sz="1500" b="1" dirty="0" smtClean="0">
                <a:solidFill>
                  <a:srgbClr val="6F9692"/>
                </a:solidFill>
                <a:latin typeface="맑은 고딕"/>
              </a:rPr>
              <a:t>	</a:t>
            </a:r>
            <a:r>
              <a:rPr sz="1500" b="1" dirty="0" err="1" smtClean="0">
                <a:solidFill>
                  <a:srgbClr val="6F9692"/>
                </a:solidFill>
                <a:latin typeface="맑은 고딕"/>
              </a:rPr>
              <a:t>다른</a:t>
            </a:r>
            <a:r>
              <a:rPr sz="1500" b="1" dirty="0" smtClean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11개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모델과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완전히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같은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기준으로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검증한다</a:t>
            </a:r>
            <a:endParaRPr sz="1500" b="1" dirty="0">
              <a:solidFill>
                <a:srgbClr val="6F9692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</a:rPr>
              <a:t>세부 모델 선정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72033"/>
                </a:solidFill>
                <a:latin typeface="맑은 고딕"/>
              </a:rPr>
              <a:t>13개 세부 모델 비교 (회귀 4·시계열 5·GP 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246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</a:rPr>
              <a:t>모델 선정 연구 흐름 (개정)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100000"/>
            <a:ext cx="10424160" cy="7489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 dirty="0">
                <a:solidFill>
                  <a:srgbClr val="6F9692"/>
                </a:solidFill>
                <a:latin typeface="맑은 고딕"/>
              </a:rPr>
              <a:t>●  CRPS 1위: GP-Matern(0.5759), 회귀-OLS(0.5807)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/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/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/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근접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 / Likelihood 1위: Auto-ARIMA(AIC)(-0.755</a:t>
            </a:r>
            <a:r>
              <a:rPr sz="1400" b="1" dirty="0" smtClean="0">
                <a:solidFill>
                  <a:srgbClr val="6F9692"/>
                </a:solidFill>
                <a:latin typeface="맑은 고딕"/>
              </a:rPr>
              <a:t>)</a:t>
            </a:r>
            <a:r>
              <a:rPr lang="en-US" sz="1400" b="1" dirty="0" smtClean="0">
                <a:solidFill>
                  <a:srgbClr val="6F9692"/>
                </a:solidFill>
                <a:latin typeface="맑은 고딕"/>
              </a:rPr>
              <a:t/>
            </a:r>
            <a:br>
              <a:rPr lang="en-US" sz="1400" b="1" dirty="0" smtClean="0">
                <a:solidFill>
                  <a:srgbClr val="6F9692"/>
                </a:solidFill>
                <a:latin typeface="맑은 고딕"/>
              </a:rPr>
            </a:br>
            <a:r>
              <a:rPr lang="en-US" sz="1400" b="1" dirty="0" smtClean="0">
                <a:solidFill>
                  <a:srgbClr val="6F9692"/>
                </a:solidFill>
                <a:latin typeface="맑은 고딕"/>
              </a:rPr>
              <a:t>	</a:t>
            </a:r>
            <a:r>
              <a:rPr sz="1400" b="1" dirty="0" smtClean="0">
                <a:solidFill>
                  <a:srgbClr val="6F9692"/>
                </a:solidFill>
                <a:latin typeface="맑은 고딕"/>
              </a:rPr>
              <a:t>— 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두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지표의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승자가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다름</a:t>
            </a:r>
            <a:endParaRPr sz="1400" b="1" dirty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6F9692"/>
                </a:solidFill>
                <a:latin typeface="맑은 고딕"/>
              </a:rPr>
              <a:t>● 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시계열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 5개 = ARIMA(AIC/BIC)·Theta·+GARCH(1,1)·+SV —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ETS·RW+drift는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계속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하위권이라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 GARCH/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SV로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교체</a:t>
            </a:r>
            <a:endParaRPr sz="1400" b="1" dirty="0">
              <a:solidFill>
                <a:srgbClr val="6F9692"/>
              </a:solidFill>
              <a:latin typeface="맑은 고딕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41248" y="1828800"/>
          <a:ext cx="9500000" cy="2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6666"/>
                <a:gridCol w="3166666"/>
                <a:gridCol w="3166668"/>
              </a:tblGrid>
              <a:tr h="48333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모델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CRPS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Predictive Likelihood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</a:tr>
              <a:tr h="48333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GP-Matern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0.5759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-0.795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333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회귀-OLS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0.5807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-0.783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333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회귀-Ridge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0.5901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-0.811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333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GP-RQ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0.5901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-0.799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333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시계열-ARIMA(AIC)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0.5910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-0.755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697386"/>
                </a:solidFill>
                <a:latin typeface="맑은 고딕"/>
              </a:rPr>
              <a:t>세부 모델 선정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600" b="1">
                <a:solidFill>
                  <a:srgbClr val="172033"/>
                </a:solidFill>
                <a:latin typeface="맑은 고딕"/>
              </a:rPr>
              <a:t>13개 모델 선정 이유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246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0">
                <a:solidFill>
                  <a:srgbClr val="697386"/>
                </a:solidFill>
                <a:latin typeface="맑은 고딕"/>
              </a:rPr>
              <a:t>모델 선정 연구 흐름 (개정)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0">
                <a:solidFill>
                  <a:srgbClr val="697386"/>
                </a:solidFill>
                <a:latin typeface="맑은 고딕"/>
              </a:rPr>
              <a:t>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737360"/>
          <a:ext cx="10424160" cy="4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000"/>
                <a:gridCol w="2800000"/>
                <a:gridCol w="6024160"/>
              </a:tblGrid>
              <a:tr h="31428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계열</a:t>
                      </a:r>
                    </a:p>
                  </a:txBody>
                  <a:tcPr marT="18288" marB="18288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모델</a:t>
                      </a:r>
                    </a:p>
                  </a:txBody>
                  <a:tcPr marT="18288" marB="18288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선정 이유</a:t>
                      </a:r>
                    </a:p>
                  </a:txBody>
                  <a:tcPr marT="18288" marB="18288">
                    <a:solidFill>
                      <a:srgbClr val="172033"/>
                    </a:solidFill>
                  </a:tcPr>
                </a:tc>
              </a:tr>
              <a:tr h="31428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F9692"/>
                          </a:solidFill>
                          <a:latin typeface="맑은 고딕"/>
                        </a:rPr>
                        <a:t>회귀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OLS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정규화 없는 기준선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</a:tr>
              <a:tr h="31428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F9692"/>
                          </a:solidFill>
                          <a:latin typeface="맑은 고딕"/>
                        </a:rPr>
                        <a:t>회귀</a:t>
                      </a:r>
                    </a:p>
                  </a:txBody>
                  <a:tcPr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Ridge</a:t>
                      </a:r>
                    </a:p>
                  </a:txBody>
                  <a:tcPr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L2 정규화 — 다중공선성 완화</a:t>
                      </a:r>
                    </a:p>
                  </a:txBody>
                  <a:tcPr marT="9144" marB="9144">
                    <a:solidFill>
                      <a:srgbClr val="F7F8FA"/>
                    </a:solidFill>
                  </a:tcPr>
                </a:tc>
              </a:tr>
              <a:tr h="31428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F9692"/>
                          </a:solidFill>
                          <a:latin typeface="맑은 고딕"/>
                        </a:rPr>
                        <a:t>회귀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Lasso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L1 정규화 — 변수 선택/희소성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</a:tr>
              <a:tr h="31428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F9692"/>
                          </a:solidFill>
                          <a:latin typeface="맑은 고딕"/>
                        </a:rPr>
                        <a:t>회귀</a:t>
                      </a:r>
                    </a:p>
                  </a:txBody>
                  <a:tcPr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ElasticNet</a:t>
                      </a:r>
                    </a:p>
                  </a:txBody>
                  <a:tcPr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L1+L2 혼합 — Lasso·Ridge 절충</a:t>
                      </a:r>
                    </a:p>
                  </a:txBody>
                  <a:tcPr marT="9144" marB="9144">
                    <a:solidFill>
                      <a:srgbClr val="F7F8FA"/>
                    </a:solidFill>
                  </a:tcPr>
                </a:tc>
              </a:tr>
              <a:tr h="31428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F9692"/>
                          </a:solidFill>
                          <a:latin typeface="맑은 고딕"/>
                        </a:rPr>
                        <a:t>시계열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ARIMA(AIC)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AIC 자동 차수 선택 — 예측력 중심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</a:tr>
              <a:tr h="31428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F9692"/>
                          </a:solidFill>
                          <a:latin typeface="맑은 고딕"/>
                        </a:rPr>
                        <a:t>시계열</a:t>
                      </a:r>
                    </a:p>
                  </a:txBody>
                  <a:tcPr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ARIMA(BIC)</a:t>
                      </a:r>
                    </a:p>
                  </a:txBody>
                  <a:tcPr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BIC 자동 차수 선택 — 복잡도 페널티, 소량 데이터 유리</a:t>
                      </a:r>
                    </a:p>
                  </a:txBody>
                  <a:tcPr marT="9144" marB="9144">
                    <a:solidFill>
                      <a:srgbClr val="F7F8FA"/>
                    </a:solidFill>
                  </a:tcPr>
                </a:tc>
              </a:tr>
              <a:tr h="31428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F9692"/>
                          </a:solidFill>
                          <a:latin typeface="맑은 고딕"/>
                        </a:rPr>
                        <a:t>시계열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Theta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지수평활+선형추세 — 단순·강건한 벤치마크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</a:tr>
              <a:tr h="31428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F9692"/>
                          </a:solidFill>
                          <a:latin typeface="맑은 고딕"/>
                        </a:rPr>
                        <a:t>시계열</a:t>
                      </a:r>
                    </a:p>
                  </a:txBody>
                  <a:tcPr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+GARCH(1,1)</a:t>
                      </a:r>
                    </a:p>
                  </a:txBody>
                  <a:tcPr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시간에 따라 변동성 변화 반영 가능한 모델 탐색 — GARCH 방식</a:t>
                      </a:r>
                    </a:p>
                  </a:txBody>
                  <a:tcPr marT="9144" marB="9144">
                    <a:solidFill>
                      <a:srgbClr val="F7F8FA"/>
                    </a:solidFill>
                  </a:tcPr>
                </a:tc>
              </a:tr>
              <a:tr h="31428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F9692"/>
                          </a:solidFill>
                          <a:latin typeface="맑은 고딕"/>
                        </a:rPr>
                        <a:t>시계열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+SV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시간에 따라 변동성 변화 반영 가능한 모델 탐색 — SV 방식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</a:tr>
              <a:tr h="31428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F9692"/>
                          </a:solidFill>
                          <a:latin typeface="맑은 고딕"/>
                        </a:rPr>
                        <a:t>GP</a:t>
                      </a:r>
                    </a:p>
                  </a:txBody>
                  <a:tcPr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RBF</a:t>
                      </a:r>
                    </a:p>
                  </a:txBody>
                  <a:tcPr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매끄러운 함수 가정 — 가장 표준적인 커널</a:t>
                      </a:r>
                    </a:p>
                  </a:txBody>
                  <a:tcPr marT="9144" marB="9144">
                    <a:solidFill>
                      <a:srgbClr val="F7F8FA"/>
                    </a:solidFill>
                  </a:tcPr>
                </a:tc>
              </a:tr>
              <a:tr h="31428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F9692"/>
                          </a:solidFill>
                          <a:latin typeface="맑은 고딕"/>
                        </a:rPr>
                        <a:t>GP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Matern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RBF보다 거친 변동 허용(nu=1.5)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</a:tr>
              <a:tr h="31428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F9692"/>
                          </a:solidFill>
                          <a:latin typeface="맑은 고딕"/>
                        </a:rPr>
                        <a:t>GP</a:t>
                      </a:r>
                    </a:p>
                  </a:txBody>
                  <a:tcPr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RQ</a:t>
                      </a:r>
                    </a:p>
                  </a:txBody>
                  <a:tcPr marT="9144" marB="9144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여러 길이스케일을 혼합한 효과</a:t>
                      </a:r>
                    </a:p>
                  </a:txBody>
                  <a:tcPr marT="9144" marB="9144">
                    <a:solidFill>
                      <a:srgbClr val="F7F8FA"/>
                    </a:solidFill>
                  </a:tcPr>
                </a:tc>
              </a:tr>
              <a:tr h="31429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F9692"/>
                          </a:solidFill>
                          <a:latin typeface="맑은 고딕"/>
                        </a:rPr>
                        <a:t>GP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RBF+Linear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RBF + 장기 선형추세항 보강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</a:rPr>
              <a:t>세부 모델 선정 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72033"/>
                </a:solidFill>
                <a:latin typeface="맑은 고딕"/>
              </a:rPr>
              <a:t>GP-Matern의 우위, 왜 미덥지 않은가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246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</a:rPr>
              <a:t>모델 선정 연구 흐름 (개정)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737360"/>
            <a:ext cx="10424160" cy="11695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 dirty="0">
                <a:solidFill>
                  <a:srgbClr val="6F9692"/>
                </a:solidFill>
                <a:latin typeface="맑은 고딕"/>
              </a:rPr>
              <a:t>● 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변수별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 CRPS: GP-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Matern은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변환된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 두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변수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(X3·X6)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에서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회귀-OLS에게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 짐(+0.02~0.05)</a:t>
            </a:r>
            <a:endParaRPr sz="1700" b="1" dirty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6F9692"/>
                </a:solidFill>
                <a:latin typeface="맑은 고딕"/>
              </a:rPr>
              <a:t>●  GP-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Matern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전체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우위는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미국X5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 한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변수의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압도적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우세가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견인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(-0.065)</a:t>
            </a:r>
          </a:p>
          <a:p>
            <a:pPr>
              <a:spcAft>
                <a:spcPts val="800"/>
              </a:spcAft>
            </a:pPr>
            <a:endParaRPr lang="en-US" sz="1400" b="1" dirty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lang="en-US" sz="1400" b="1" dirty="0" smtClean="0">
                <a:solidFill>
                  <a:schemeClr val="bg1">
                    <a:lumMod val="75000"/>
                  </a:schemeClr>
                </a:solidFill>
                <a:latin typeface="맑은 고딕"/>
              </a:rPr>
              <a:t>- </a:t>
            </a:r>
            <a:r>
              <a:rPr sz="1400" b="1" dirty="0" err="1" smtClean="0">
                <a:solidFill>
                  <a:schemeClr val="bg1">
                    <a:lumMod val="75000"/>
                  </a:schemeClr>
                </a:solidFill>
                <a:latin typeface="맑은 고딕"/>
              </a:rPr>
              <a:t>막대가</a:t>
            </a:r>
            <a:r>
              <a:rPr sz="1400" b="1" dirty="0" smtClean="0">
                <a:solidFill>
                  <a:schemeClr val="bg1">
                    <a:lumMod val="75000"/>
                  </a:schemeClr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chemeClr val="bg1">
                    <a:lumMod val="75000"/>
                  </a:schemeClr>
                </a:solidFill>
                <a:latin typeface="맑은 고딕"/>
              </a:rPr>
              <a:t>낮을수록</a:t>
            </a:r>
            <a:r>
              <a:rPr sz="1400" b="1" dirty="0">
                <a:solidFill>
                  <a:schemeClr val="bg1">
                    <a:lumMod val="75000"/>
                  </a:schemeClr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chemeClr val="bg1">
                    <a:lumMod val="75000"/>
                  </a:schemeClr>
                </a:solidFill>
                <a:latin typeface="맑은 고딕"/>
              </a:rPr>
              <a:t>좋음</a:t>
            </a:r>
            <a:r>
              <a:rPr sz="1400" b="1" dirty="0">
                <a:solidFill>
                  <a:schemeClr val="bg1">
                    <a:lumMod val="75000"/>
                  </a:schemeClr>
                </a:solidFill>
                <a:latin typeface="맑은 고딕"/>
              </a:rPr>
              <a:t> — </a:t>
            </a:r>
            <a:r>
              <a:rPr sz="1400" b="1" dirty="0" err="1">
                <a:solidFill>
                  <a:schemeClr val="bg1">
                    <a:lumMod val="75000"/>
                  </a:schemeClr>
                </a:solidFill>
                <a:latin typeface="맑은 고딕"/>
              </a:rPr>
              <a:t>코랄</a:t>
            </a:r>
            <a:r>
              <a:rPr sz="1400" b="1" dirty="0">
                <a:solidFill>
                  <a:schemeClr val="bg1">
                    <a:lumMod val="75000"/>
                  </a:schemeClr>
                </a:solidFill>
                <a:latin typeface="맑은 고딕"/>
              </a:rPr>
              <a:t>(GP-</a:t>
            </a:r>
            <a:r>
              <a:rPr sz="1400" b="1" dirty="0" err="1">
                <a:solidFill>
                  <a:schemeClr val="bg1">
                    <a:lumMod val="75000"/>
                  </a:schemeClr>
                </a:solidFill>
                <a:latin typeface="맑은 고딕"/>
              </a:rPr>
              <a:t>Matern</a:t>
            </a:r>
            <a:r>
              <a:rPr sz="1400" b="1" dirty="0">
                <a:solidFill>
                  <a:schemeClr val="bg1">
                    <a:lumMod val="75000"/>
                  </a:schemeClr>
                </a:solidFill>
                <a:latin typeface="맑은 고딕"/>
              </a:rPr>
              <a:t>)이 </a:t>
            </a:r>
            <a:r>
              <a:rPr sz="1400" b="1" dirty="0" err="1">
                <a:solidFill>
                  <a:schemeClr val="bg1">
                    <a:lumMod val="75000"/>
                  </a:schemeClr>
                </a:solidFill>
                <a:latin typeface="맑은 고딕"/>
              </a:rPr>
              <a:t>낮은</a:t>
            </a:r>
            <a:r>
              <a:rPr sz="1400" b="1" dirty="0">
                <a:solidFill>
                  <a:schemeClr val="bg1">
                    <a:lumMod val="75000"/>
                  </a:schemeClr>
                </a:solidFill>
                <a:latin typeface="맑은 고딕"/>
              </a:rPr>
              <a:t> 건 </a:t>
            </a:r>
            <a:r>
              <a:rPr sz="1400" b="1" dirty="0" err="1">
                <a:solidFill>
                  <a:schemeClr val="bg1">
                    <a:lumMod val="75000"/>
                  </a:schemeClr>
                </a:solidFill>
                <a:latin typeface="맑은 고딕"/>
              </a:rPr>
              <a:t>미국X5뿐</a:t>
            </a:r>
            <a:endParaRPr sz="1400" b="1" dirty="0">
              <a:solidFill>
                <a:schemeClr val="bg1">
                  <a:lumMod val="75000"/>
                </a:schemeClr>
              </a:solidFill>
              <a:latin typeface="맑은 고딕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388994" y="3204280"/>
            <a:ext cx="5413707" cy="31414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gpmatern_pervar_v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4714" y="3250000"/>
            <a:ext cx="5322267" cy="305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</a:rPr>
              <a:t>세부 모델 선정 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72033"/>
                </a:solidFill>
                <a:latin typeface="맑은 고딕"/>
              </a:rPr>
              <a:t>CRPS+Likelihood 결합순위 — 3자 동점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246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</a:rPr>
              <a:t>모델 선정 연구 흐름 (개정)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100000"/>
            <a:ext cx="10424160" cy="1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6F9692"/>
                </a:solidFill>
                <a:latin typeface="맑은 고딕"/>
              </a:rPr>
              <a:t>●  GP-Matern·Auto-ARIMA(AIC)·회귀-OLS 3자 동점(평균순위 3.0) — CRPS 값 자체가 파워체크의 노이즈 수준 안에 몰려 있어 통계적으로 갈리지 않음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6F9692"/>
                </a:solidFill>
                <a:latin typeface="맑은 고딕"/>
              </a:rPr>
              <a:t>●  → GP-Matern 변수 편중 + 3-1 계열비교와의 교차검증 + 파시모니로 Auto-ARIMA(AIC) 최종 선정(다음 페이지)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41248" y="1828800"/>
          <a:ext cx="9500000" cy="2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5000"/>
                <a:gridCol w="2375000"/>
                <a:gridCol w="2375000"/>
                <a:gridCol w="2375000"/>
              </a:tblGrid>
              <a:tr h="58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모델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CRPS 순위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Likelihood 순위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평균 순위</a:t>
                      </a:r>
                    </a:p>
                  </a:txBody>
                  <a:tcPr>
                    <a:solidFill>
                      <a:srgbClr val="172033"/>
                    </a:solidFill>
                  </a:tcPr>
                </a:tc>
              </a:tr>
              <a:tr h="58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62728"/>
                          </a:solidFill>
                          <a:latin typeface="맑은 고딕"/>
                        </a:rPr>
                        <a:t>GP-Matern</a:t>
                      </a:r>
                    </a:p>
                  </a:txBody>
                  <a:tcPr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62728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62728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62728"/>
                          </a:solidFill>
                          <a:latin typeface="맑은 고딕"/>
                        </a:rPr>
                        <a:t>3.0</a:t>
                      </a:r>
                    </a:p>
                  </a:txBody>
                  <a:tcPr>
                    <a:solidFill>
                      <a:srgbClr val="FFECEB"/>
                    </a:solidFill>
                  </a:tcPr>
                </a:tc>
              </a:tr>
              <a:tr h="58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62728"/>
                          </a:solidFill>
                          <a:latin typeface="맑은 고딕"/>
                        </a:rPr>
                        <a:t>시계열-ARIMA(AIC)</a:t>
                      </a:r>
                    </a:p>
                  </a:txBody>
                  <a:tcPr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62728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62728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62728"/>
                          </a:solidFill>
                          <a:latin typeface="맑은 고딕"/>
                        </a:rPr>
                        <a:t>3.0</a:t>
                      </a:r>
                    </a:p>
                  </a:txBody>
                  <a:tcPr>
                    <a:solidFill>
                      <a:srgbClr val="FFECEB"/>
                    </a:solidFill>
                  </a:tcPr>
                </a:tc>
              </a:tr>
              <a:tr h="58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62728"/>
                          </a:solidFill>
                          <a:latin typeface="맑은 고딕"/>
                        </a:rPr>
                        <a:t>회귀-OLS</a:t>
                      </a:r>
                    </a:p>
                  </a:txBody>
                  <a:tcPr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62728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62728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62728"/>
                          </a:solidFill>
                          <a:latin typeface="맑은 고딕"/>
                        </a:rPr>
                        <a:t>3.0</a:t>
                      </a:r>
                    </a:p>
                  </a:txBody>
                  <a:tcPr>
                    <a:solidFill>
                      <a:srgbClr val="FFECEB"/>
                    </a:solidFill>
                  </a:tcPr>
                </a:tc>
              </a:tr>
              <a:tr h="58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GP-RBF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</a:rPr>
              <a:t>세부 모델 선정 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3601242" cy="4001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sz="2600" b="1" dirty="0" smtClean="0">
                <a:solidFill>
                  <a:srgbClr val="172033"/>
                </a:solidFill>
                <a:latin typeface="맑은 고딕"/>
              </a:rPr>
              <a:t>“</a:t>
            </a:r>
            <a:r>
              <a:rPr sz="2600" b="1" dirty="0" smtClean="0">
                <a:solidFill>
                  <a:srgbClr val="172033"/>
                </a:solidFill>
                <a:latin typeface="맑은 고딕"/>
              </a:rPr>
              <a:t>GARCH/SV</a:t>
            </a:r>
            <a:r>
              <a:rPr lang="en-US" sz="2600" b="1" dirty="0">
                <a:solidFill>
                  <a:srgbClr val="172033"/>
                </a:solidFill>
                <a:latin typeface="맑은 고딕"/>
              </a:rPr>
              <a:t>"</a:t>
            </a:r>
            <a:r>
              <a:rPr sz="2600" b="1" dirty="0" smtClean="0">
                <a:solidFill>
                  <a:srgbClr val="172033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172033"/>
                </a:solidFill>
                <a:latin typeface="맑은 고딕"/>
              </a:rPr>
              <a:t>최종</a:t>
            </a:r>
            <a:r>
              <a:rPr sz="26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172033"/>
                </a:solidFill>
                <a:latin typeface="맑은 고딕"/>
              </a:rPr>
              <a:t>기각</a:t>
            </a:r>
            <a:endParaRPr sz="2600" b="1" dirty="0">
              <a:solidFill>
                <a:srgbClr val="172033"/>
              </a:solidFill>
              <a:latin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246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</a:rPr>
              <a:t>모델 선정 연구 흐름 (개정)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737360"/>
            <a:ext cx="10424160" cy="11695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 dirty="0">
                <a:solidFill>
                  <a:srgbClr val="6F9692"/>
                </a:solidFill>
                <a:latin typeface="맑은 고딕"/>
              </a:rPr>
              <a:t>●  GARCH(1,1)/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SV를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시계열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정식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후보로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편입해도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 CRPS 더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나쁨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(13개 중 8·9위)</a:t>
            </a:r>
            <a:endParaRPr sz="1600" b="1" dirty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6F9692"/>
                </a:solidFill>
                <a:latin typeface="맑은 고딕"/>
              </a:rPr>
              <a:t>●  Predictive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Likelihood도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하위권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(10·13위) —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SV는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이상치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취약성이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실제로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드러난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사례</a:t>
            </a:r>
            <a:endParaRPr sz="1400" b="1" dirty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endParaRPr lang="en-US" sz="1400" b="1" dirty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lang="en-US" sz="1400" b="1" dirty="0" smtClean="0">
                <a:solidFill>
                  <a:schemeClr val="bg1">
                    <a:lumMod val="75000"/>
                  </a:schemeClr>
                </a:solidFill>
                <a:latin typeface="맑은 고딕"/>
              </a:rPr>
              <a:t>- </a:t>
            </a:r>
            <a:r>
              <a:rPr sz="1400" b="1" dirty="0" err="1" smtClean="0">
                <a:solidFill>
                  <a:schemeClr val="bg1">
                    <a:lumMod val="75000"/>
                  </a:schemeClr>
                </a:solidFill>
                <a:latin typeface="맑은 고딕"/>
              </a:rPr>
              <a:t>빨간</a:t>
            </a:r>
            <a:r>
              <a:rPr sz="1400" b="1" dirty="0" smtClean="0">
                <a:solidFill>
                  <a:schemeClr val="bg1">
                    <a:lumMod val="75000"/>
                  </a:schemeClr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chemeClr val="bg1">
                    <a:lumMod val="75000"/>
                  </a:schemeClr>
                </a:solidFill>
                <a:latin typeface="맑은 고딕"/>
              </a:rPr>
              <a:t>점선</a:t>
            </a:r>
            <a:r>
              <a:rPr sz="1400" b="1" dirty="0">
                <a:solidFill>
                  <a:schemeClr val="bg1">
                    <a:lumMod val="75000"/>
                  </a:schemeClr>
                </a:solidFill>
                <a:latin typeface="맑은 고딕"/>
              </a:rPr>
              <a:t>(</a:t>
            </a:r>
            <a:r>
              <a:rPr sz="1400" b="1" dirty="0" err="1">
                <a:solidFill>
                  <a:schemeClr val="bg1">
                    <a:lumMod val="75000"/>
                  </a:schemeClr>
                </a:solidFill>
                <a:latin typeface="맑은 고딕"/>
              </a:rPr>
              <a:t>정적</a:t>
            </a:r>
            <a:r>
              <a:rPr sz="1400" b="1" dirty="0">
                <a:solidFill>
                  <a:schemeClr val="bg1">
                    <a:lumMod val="75000"/>
                  </a:schemeClr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chemeClr val="bg1">
                    <a:lumMod val="75000"/>
                  </a:schemeClr>
                </a:solidFill>
                <a:latin typeface="맑은 고딕"/>
              </a:rPr>
              <a:t>기준</a:t>
            </a:r>
            <a:r>
              <a:rPr sz="1400" b="1" dirty="0">
                <a:solidFill>
                  <a:schemeClr val="bg1">
                    <a:lumMod val="75000"/>
                  </a:schemeClr>
                </a:solidFill>
                <a:latin typeface="맑은 고딕"/>
              </a:rPr>
              <a:t>) 위 </a:t>
            </a:r>
            <a:r>
              <a:rPr sz="1400" b="1" dirty="0" err="1">
                <a:solidFill>
                  <a:schemeClr val="bg1">
                    <a:lumMod val="75000"/>
                  </a:schemeClr>
                </a:solidFill>
                <a:latin typeface="맑은 고딕"/>
              </a:rPr>
              <a:t>막대는</a:t>
            </a:r>
            <a:r>
              <a:rPr sz="1400" b="1" dirty="0">
                <a:solidFill>
                  <a:schemeClr val="bg1">
                    <a:lumMod val="75000"/>
                  </a:schemeClr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chemeClr val="bg1">
                    <a:lumMod val="75000"/>
                  </a:schemeClr>
                </a:solidFill>
                <a:latin typeface="맑은 고딕"/>
              </a:rPr>
              <a:t>전부</a:t>
            </a:r>
            <a:r>
              <a:rPr sz="1400" b="1" dirty="0">
                <a:solidFill>
                  <a:schemeClr val="bg1">
                    <a:lumMod val="75000"/>
                  </a:schemeClr>
                </a:solidFill>
                <a:latin typeface="맑은 고딕"/>
              </a:rPr>
              <a:t> 더 </a:t>
            </a:r>
            <a:r>
              <a:rPr sz="1400" b="1" dirty="0" err="1">
                <a:solidFill>
                  <a:schemeClr val="bg1">
                    <a:lumMod val="75000"/>
                  </a:schemeClr>
                </a:solidFill>
                <a:latin typeface="맑은 고딕"/>
              </a:rPr>
              <a:t>나쁨</a:t>
            </a:r>
            <a:r>
              <a:rPr sz="1400" b="1" dirty="0">
                <a:solidFill>
                  <a:schemeClr val="bg1">
                    <a:lumMod val="75000"/>
                  </a:schemeClr>
                </a:solidFill>
                <a:latin typeface="맑은 고딕"/>
              </a:rPr>
              <a:t> — 7가지 </a:t>
            </a:r>
            <a:r>
              <a:rPr sz="1400" b="1" dirty="0" err="1">
                <a:solidFill>
                  <a:schemeClr val="bg1">
                    <a:lumMod val="75000"/>
                  </a:schemeClr>
                </a:solidFill>
                <a:latin typeface="맑은 고딕"/>
              </a:rPr>
              <a:t>시도</a:t>
            </a:r>
            <a:r>
              <a:rPr sz="1400" b="1" dirty="0">
                <a:solidFill>
                  <a:schemeClr val="bg1">
                    <a:lumMod val="75000"/>
                  </a:schemeClr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chemeClr val="bg1">
                    <a:lumMod val="75000"/>
                  </a:schemeClr>
                </a:solidFill>
                <a:latin typeface="맑은 고딕"/>
              </a:rPr>
              <a:t>전부</a:t>
            </a:r>
            <a:r>
              <a:rPr sz="1400" b="1" dirty="0">
                <a:solidFill>
                  <a:schemeClr val="bg1">
                    <a:lumMod val="75000"/>
                  </a:schemeClr>
                </a:solidFill>
                <a:latin typeface="맑은 고딕"/>
              </a:rPr>
              <a:t> 선 위</a:t>
            </a:r>
          </a:p>
        </p:txBody>
      </p:sp>
      <p:sp>
        <p:nvSpPr>
          <p:cNvPr id="9" name="Rectangle 8"/>
          <p:cNvSpPr/>
          <p:nvPr/>
        </p:nvSpPr>
        <p:spPr>
          <a:xfrm>
            <a:off x="3349295" y="3304280"/>
            <a:ext cx="5493104" cy="30414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tem3_reject_v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5015" y="3350000"/>
            <a:ext cx="5401664" cy="295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72033"/>
                </a:solidFill>
                <a:latin typeface="맑은 고딕"/>
              </a:rPr>
              <a:t>전체 결론 &amp; 다음 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486400" cy="246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</a:rPr>
              <a:t>모델 선정 연구 흐름 (개정)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737360"/>
            <a:ext cx="10424160" cy="3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6F9692"/>
                </a:solidFill>
                <a:latin typeface="맑은 고딕"/>
              </a:rPr>
              <a:t>●  최종 선정: Auto-ARIMA(AIC) — 결합순위(Borda) 3자 동점(GP-Matern·회귀-OLS)을 교차검증·파시모니로 깸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6F9692"/>
                </a:solidFill>
                <a:latin typeface="맑은 고딕"/>
              </a:rPr>
              <a:t>●  GARCH/SV는 시계열 정식 후보로 완전히 편입해도 총 7가지 독립 시도 전부 기각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6F9692"/>
                </a:solidFill>
                <a:latin typeface="맑은 고딕"/>
              </a:rPr>
              <a:t>●  한계: 표본 25~40개 → CRPS·Likelihood 격차가 노이즈 수준(파워체크로 실증, 이번 3자 동점이 실제 사례) + 두 지표가 원래 분포의 다른 측면을 잰다는 구조적 차이도 존재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6F9692"/>
                </a:solidFill>
                <a:latin typeface="맑은 고딕"/>
              </a:rPr>
              <a:t>●  다음 단계: Auto-ARIMA(AIC)로 6개 변수 실제 4분기 예측·구간(편향보정 포함) 산출 → item_selection_v3.7.py의 forecast_quarters=4 반영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1017</Words>
  <Application>Microsoft Office PowerPoint</Application>
  <PresentationFormat>와이드스크린</PresentationFormat>
  <Paragraphs>200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Administrator</cp:lastModifiedBy>
  <cp:revision>20</cp:revision>
  <dcterms:created xsi:type="dcterms:W3CDTF">2013-01-27T09:14:16Z</dcterms:created>
  <dcterms:modified xsi:type="dcterms:W3CDTF">2026-09-11T06:27:02Z</dcterms:modified>
  <cp:category/>
</cp:coreProperties>
</file>