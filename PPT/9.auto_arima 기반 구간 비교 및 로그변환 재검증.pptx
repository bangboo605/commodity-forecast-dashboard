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7" r:id="rId4"/>
    <p:sldId id="258" r:id="rId5"/>
    <p:sldId id="278" r:id="rId6"/>
    <p:sldId id="259" r:id="rId7"/>
    <p:sldId id="260" r:id="rId8"/>
    <p:sldId id="261" r:id="rId9"/>
    <p:sldId id="262" r:id="rId10"/>
    <p:sldId id="274" r:id="rId11"/>
    <p:sldId id="263" r:id="rId12"/>
    <p:sldId id="264" r:id="rId13"/>
    <p:sldId id="265" r:id="rId14"/>
    <p:sldId id="267" r:id="rId15"/>
    <p:sldId id="276" r:id="rId16"/>
    <p:sldId id="269" r:id="rId17"/>
    <p:sldId id="272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97" r:id="rId47"/>
    <p:sldId id="298" r:id="rId48"/>
    <p:sldId id="273" r:id="rId29"/>
    <p:sldId id="275" r:id="rId30"/>
    <p:sldId id="266" r:id="rId31"/>
    <p:sldId id="268" r:id="rId32"/>
    <p:sldId id="270" r:id="rId33"/>
    <p:sldId id="271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1.xml"/><Relationship Id="rId41" Type="http://schemas.openxmlformats.org/officeDocument/2006/relationships/slide" Target="slides/slide42.xml"/><Relationship Id="rId42" Type="http://schemas.openxmlformats.org/officeDocument/2006/relationships/slide" Target="slides/slide43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openxmlformats.org/officeDocument/2006/relationships/slide" Target="slides/slide28.xml"/><Relationship Id="rId48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9509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맑은 고딕"/>
                <a:ea typeface="맑은 고딕"/>
              </a:rPr>
              <a:t>auto_arima 기반 예측구간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d 고정 · p,q 선택 · 리샘플링 vs 자체 7분위 구간 · 로그변환 · GARCH·SV 동시최적화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1864" y="5769864"/>
            <a:ext cx="9966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F9692"/>
                </a:solidFill>
                <a:latin typeface="맑은 고딕"/>
                <a:ea typeface="맑은 고딕"/>
              </a:rPr>
              <a:t>박민수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0.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auto_arima 기반 검증과 GARCH·SV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0. 전체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462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배경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기존엔 평가 22개 origin의 성능으로 (d,p)를 골라 선택 편향 가능성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origin마다 그 시점까지의 데이터만으로 고르는 auto_arima로 고정, 이후 GARCH·SV로 확장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1. d 고정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자동 선택의 문제(검정 불일치, AIC 비교 불가)와 데이터 특징 기반 결정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2. p,q 선택: AIC vs AICc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3·4. 원 / 로그 스케일: 리샘플링 vs 자체 구간 (auto_arima)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차이 분석은 부록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5. GARCH·SV 구현·검증, 구간 생성법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6·7. GARCH / SV: 원·로그 스케일 구간 비교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8. 종합 비교 (원끼리, 로그끼리, 초반 기준 대비)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공통 조건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CRPS는 7분위로 계산, 22개 origin x h=1~4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0.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사용한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0. 전체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52715"/>
              </p:ext>
            </p:extLst>
          </p:nvPr>
        </p:nvGraphicFramePr>
        <p:xfrm>
          <a:off x="841248" y="1371600"/>
          <a:ext cx="10497312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5920"/>
                <a:gridCol w="3017520"/>
                <a:gridCol w="3840480"/>
                <a:gridCol w="1993392"/>
              </a:tblGrid>
              <a:tr h="82296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 한글명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기간 / 크기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X3_l1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/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/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/>
                      </a:r>
                      <a:r>
                        <a:rPr sz="1300" b="0" dirty="0" err="1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/>
                      </a:r>
                      <a:r>
                        <a:rPr lang="en-US" sz="13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/>
                      </a:r>
                      <a:br>
                        <a:rPr lang="en-US" sz="13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3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1분기 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/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의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최근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4분기 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합계를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1</a:t>
                      </a:r>
                      <a:r>
                        <a:rPr sz="13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분기</a:t>
                      </a:r>
                      <a:r>
                        <a:rPr lang="en-US" sz="13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/>
                      </a:r>
                      <a:br>
                        <a:rPr lang="en-US" sz="13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300" b="0" dirty="0" err="1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지연한</a:t>
                      </a:r>
                      <a:r>
                        <a:rPr sz="13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값 (rolling(4).sum())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2011Q1 ~ 2025Q4, 분기 60개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3337560"/>
            <a:ext cx="10515600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주요변수 1개 사용: 금 수요 요인 6개 중 'X3'</a:t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lang="ko-KR" altLang="en-US"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lang="en-US"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lang="ko-KR" altLang="en-US"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전처리 없이 수준 y 사용 (로그 비교에서만 100 x log y)</a:t>
            </a:r>
            <a:r>
              <a:rPr lang="en-US" sz="130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lang="en-US" sz="130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4분기 합계라 자기상관이 기계적으로 높음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예측 대상: 이 변수의 h=1~4분기 후 값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이후 모든 결과는 이 변수(X3_l1)의 22개 origin 예측 결과다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0. 평가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walk-forward 평가와 모델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0. 전체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expanding window: 훈련 20분기에서 시작해 한 분기씩 확장, h=1~4 예측. 처음 15개는 리샘플링 캘리브레이션, 이후 22개 origin 채점 (22 x 4 = 88개)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자체 구간 = 모델 정규분포 구간 / 리샘플링 구간 = 과거 h단계 오차 500개 복원추출 + 점예측 (중심화, GARCH·SV는 σ_h로 표준화)</a:t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lang="en-US" sz="130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lang="en-US" sz="130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모델: auto_arima(d=1, p,q는 AICc)와 AR+GARCH, AR+SV 동시최적화(d=1, p는 AR단독이 선택)를 같은 평가로 비교</a:t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650093"/>
              </p:ext>
            </p:extLst>
          </p:nvPr>
        </p:nvGraphicFramePr>
        <p:xfrm>
          <a:off x="841248" y="3589716"/>
          <a:ext cx="10497312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3840480"/>
                <a:gridCol w="3913632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origin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훈련 기간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예측 기간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35 (첫 채점)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2011Q1 ~ 2019Q3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2019Q4 ~ 2020Q3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56 (마지막)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2011Q1 ~ 2024Q4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2025Q1 ~ 2025Q4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532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모든 비교는 같은 22개 origin(2019Q4~2025Q4), 같은 지표로 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0. 평가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평가 방법 -- CRPS(7분위), MSE, 커버리지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0. 전체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1. CRPS(7분위) --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분위수를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α로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나눠서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만든다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1783080"/>
          <a:ext cx="667512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210312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α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중앙 구간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하한 분위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상한 분위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80% 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60% 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40% 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점예측(중앙값)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3794760"/>
            <a:ext cx="6675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>
                <a:solidFill>
                  <a:srgbClr val="172033"/>
                </a:solidFill>
                <a:latin typeface="맑은 고딕"/>
                <a:ea typeface="맑은 고딕"/>
              </a:rPr>
              <a:t>α 구간 [하한, 상한]에서 분위수 7개(10·20·30·50·70·80·90%)를 얻음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>
                <a:solidFill>
                  <a:srgbClr val="172033"/>
                </a:solidFill>
                <a:latin typeface="맑은 고딕"/>
                <a:ea typeface="맑은 고딕"/>
              </a:rPr>
              <a:t>자체: auto_arima는 conf_int, GARCH·SV는 σ_h 정규 분위수 / 리샘플링: 표본 500개 분위수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>
                <a:solidFill>
                  <a:srgbClr val="172033"/>
                </a:solidFill>
                <a:latin typeface="맑은 고딕"/>
                <a:ea typeface="맑은 고딕"/>
              </a:rPr>
              <a:t>CRPS = 7개 분위수 pinball loss 평균 x 2, var_std로 정규화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>
                <a:solidFill>
                  <a:srgbClr val="172033"/>
                </a:solidFill>
                <a:latin typeface="맑은 고딕"/>
                <a:ea typeface="맑은 고딕"/>
              </a:rPr>
              <a:t>h=1~4 평균 -&gt; origin 평균 (낮을수록 좋음)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325880"/>
            <a:ext cx="402336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2. MSE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((실제 - 점예측) / var_std)²의 평균 (88개)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두 구간 방식은 점예측이 같아 MSE도 같음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200400"/>
            <a:ext cx="4023360" cy="13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3.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커버리지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(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목표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90%)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90% 구간에 실제값이 들어간 비율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conf_int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(alpha=0.10)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리샘플링: 표본 5~95% 분위수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들어가면 1, 아니면 0의 88개 평균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모든 지표는 22개 origin x h=1~4 = 88개의 평균, var_std로 정규화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(1/5)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d를 자동으로 정하면 안 되는 이유 -- 검정 결과가 일관되지 않다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d 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9876" y="1371600"/>
            <a:ext cx="3630169" cy="4480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auto_arima의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d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선택</a:t>
            </a:r>
            <a:endParaRPr sz="13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d는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단위근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검정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(KPSS/ADF),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p,q는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AIC</a:t>
            </a:r>
            <a:endParaRPr lang="en-US" sz="12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p-value 읽는 법 (유의수준 0.05)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KPSS</a:t>
            </a:r>
            <a:r>
              <a:rPr 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	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p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&lt; 0.05면 '정상' 기각 -&gt;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차분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필요</a:t>
            </a:r>
            <a:r>
              <a:rPr 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	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p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≥ 0.05면 증거 없음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ADF</a:t>
            </a:r>
            <a:r>
              <a:rPr 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	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p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&lt; 0.05면 '단위근' 기각 -&gt; </a:t>
            </a:r>
            <a:r>
              <a:rPr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정상</a:t>
            </a:r>
            <a:r>
              <a:rPr lang="en-US" sz="120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200" dirty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lang="en-US" sz="1200" dirty="0" smtClean="0">
                <a:solidFill>
                  <a:srgbClr val="172033"/>
                </a:solidFill>
                <a:latin typeface="맑은 고딕"/>
                <a:ea typeface="맑은 고딕"/>
              </a:rPr>
              <a:t>	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p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≥ 0.05면 기각 못함 -&gt; 차분 필요</a:t>
            </a:r>
            <a:endParaRPr lang="en-US" sz="12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origin별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결과</a:t>
            </a:r>
            <a:endParaRPr sz="13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KPSS</a:t>
            </a:r>
            <a:endParaRPr lang="en-US" sz="12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72033"/>
                </a:solidFill>
                <a:latin typeface="맑은 고딕"/>
                <a:ea typeface="맑은 고딕"/>
              </a:rPr>
              <a:t>	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22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개 중 20개가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상한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0.10, d=0이 21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개</a:t>
            </a:r>
            <a:r>
              <a:rPr 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	d </a:t>
            </a:r>
            <a:r>
              <a:rPr lang="ko-KR" alt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값과 </a:t>
            </a:r>
            <a:r>
              <a:rPr lang="en-US" altLang="ko-KR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p-value</a:t>
            </a:r>
            <a:r>
              <a:rPr lang="ko-KR" alt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가 </a:t>
            </a:r>
            <a:r>
              <a:rPr lang="ko-KR" altLang="en-US" sz="120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극단치로</a:t>
            </a:r>
            <a:r>
              <a:rPr lang="ko-KR" altLang="en-US" sz="1200" dirty="0" smtClean="0">
                <a:solidFill>
                  <a:srgbClr val="172033"/>
                </a:solidFill>
                <a:latin typeface="맑은 고딕"/>
                <a:ea typeface="맑은 고딕"/>
              </a:rPr>
              <a:t> 몰려있음</a:t>
            </a: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ADF</a:t>
            </a:r>
            <a:endParaRPr lang="en-US" sz="12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72033"/>
                </a:solidFill>
                <a:latin typeface="맑은 고딕"/>
                <a:ea typeface="맑은 고딕"/>
              </a:rPr>
              <a:t>	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d=2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12개, d=1 7개, d=0 3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개</a:t>
            </a:r>
            <a:endParaRPr lang="en-US" sz="12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72033"/>
                </a:solidFill>
                <a:latin typeface="맑은 고딕"/>
                <a:ea typeface="맑은 고딕"/>
              </a:rPr>
              <a:t>	</a:t>
            </a:r>
            <a:r>
              <a:rPr lang="en-US" altLang="ko-KR" sz="1200" dirty="0">
                <a:solidFill>
                  <a:srgbClr val="172033"/>
                </a:solidFill>
                <a:latin typeface="맑은 고딕"/>
                <a:ea typeface="맑은 고딕"/>
              </a:rPr>
              <a:t> d </a:t>
            </a:r>
            <a:r>
              <a:rPr lang="ko-KR" altLang="en-US" sz="1200" dirty="0">
                <a:solidFill>
                  <a:srgbClr val="172033"/>
                </a:solidFill>
                <a:latin typeface="맑은 고딕"/>
                <a:ea typeface="맑은 고딕"/>
              </a:rPr>
              <a:t>값과 </a:t>
            </a:r>
            <a:r>
              <a:rPr lang="en-US" altLang="ko-KR" sz="1200" dirty="0" smtClean="0">
                <a:solidFill>
                  <a:srgbClr val="172033"/>
                </a:solidFill>
                <a:latin typeface="맑은 고딕"/>
                <a:ea typeface="맑은 고딕"/>
              </a:rPr>
              <a:t>p-value</a:t>
            </a:r>
            <a:r>
              <a:rPr lang="ko-KR" altLang="en-US" sz="1200" dirty="0" smtClean="0">
                <a:solidFill>
                  <a:srgbClr val="172033"/>
                </a:solidFill>
                <a:latin typeface="맑은 고딕"/>
                <a:ea typeface="맑은 고딕"/>
              </a:rPr>
              <a:t>의 변동이 </a:t>
            </a:r>
            <a:r>
              <a:rPr lang="ko-KR" altLang="en-US" sz="120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너무큼</a:t>
            </a:r>
            <a:endParaRPr lang="en-US" sz="1200" b="1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두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검정이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다른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d를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고른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origin 18/22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origin마다 d가 달라지고 성능도 d=1 고정보다 나빠 d를 고정한다 (9쪽)</a:t>
            </a:r>
          </a:p>
        </p:txBody>
      </p:sp>
      <p:pic>
        <p:nvPicPr>
          <p:cNvPr id="11" name="Picture 10" descr="p91_p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1308360"/>
            <a:ext cx="6412230" cy="4526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(2/5)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AIC·AICc로는 d를 비교할 수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d 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AIC·AICc는 같은 데이터의 우도끼리만 비교 가능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d=0은 y, d=1은 Δy를 설명해 관측 수·크기가 달라 비교가 무의미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d를 고정하면 p,q 후보가 같은 데이터의 우도라 AIC·AICc 비교가 유효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예측 성능(MSE, CRPS)은 수준 y로 환산해 비교하므로 d가 달라도 비교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d는 데이터 특징으로 정해 고정한다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41248" y="3017520"/>
          <a:ext cx="10497312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  <a:gridCol w="1828800"/>
                <a:gridCol w="1719072"/>
              </a:tblGrid>
              <a:tr h="384048">
                <a:tc rowSpan="2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origin (훈련 기간)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AIC</a:t>
                      </a:r>
                    </a:p>
                  </a:txBody>
                  <a:tcPr anchor="ctr">
                    <a:solidFill>
                      <a:srgbClr val="E69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E69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AICc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</a:tr>
              <a:tr h="384048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d=0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d=1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d=0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d=1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35 (2011Q1~2019Q3)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394.8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367.7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395.6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368.1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46 (2011Q1~2022Q2)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528.1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503.9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528.7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504.2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56 (2011Q1~2024Q4)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685.6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654.1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686.0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654.3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41248" y="5029200"/>
            <a:ext cx="10515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697386"/>
                </a:solidFill>
                <a:latin typeface="맑은 고딕"/>
                <a:ea typeface="맑은 고딕"/>
              </a:rPr>
              <a:t>※ </a:t>
            </a:r>
            <a:r>
              <a:rPr sz="1100" b="0" dirty="0" smtClean="0">
                <a:solidFill>
                  <a:srgbClr val="697386"/>
                </a:solidFill>
                <a:latin typeface="맑은 고딕"/>
                <a:ea typeface="맑은 고딕"/>
              </a:rPr>
              <a:t>각 </a:t>
            </a:r>
            <a:r>
              <a:rPr sz="1100" b="0" dirty="0">
                <a:solidFill>
                  <a:srgbClr val="697386"/>
                </a:solidFill>
                <a:latin typeface="맑은 고딕"/>
                <a:ea typeface="맑은 고딕"/>
              </a:rPr>
              <a:t>쌍(d=0 vs d=1)</a:t>
            </a:r>
            <a:r>
              <a:rPr sz="1100" b="0" dirty="0" err="1">
                <a:solidFill>
                  <a:srgbClr val="697386"/>
                </a:solidFill>
                <a:latin typeface="맑은 고딕"/>
                <a:ea typeface="맑은 고딕"/>
              </a:rPr>
              <a:t>에서</a:t>
            </a:r>
            <a:r>
              <a:rPr sz="1100" b="0" dirty="0">
                <a:solidFill>
                  <a:srgbClr val="69738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697386"/>
                </a:solidFill>
                <a:latin typeface="맑은 고딕"/>
                <a:ea typeface="맑은 고딕"/>
              </a:rPr>
              <a:t>값이</a:t>
            </a:r>
            <a:r>
              <a:rPr sz="1100" b="0" dirty="0">
                <a:solidFill>
                  <a:srgbClr val="697386"/>
                </a:solidFill>
                <a:latin typeface="맑은 고딕"/>
                <a:ea typeface="맑은 고딕"/>
              </a:rPr>
              <a:t> 더 </a:t>
            </a:r>
            <a:r>
              <a:rPr sz="1100" b="0" dirty="0" err="1">
                <a:solidFill>
                  <a:srgbClr val="697386"/>
                </a:solidFill>
                <a:latin typeface="맑은 고딕"/>
                <a:ea typeface="맑은 고딕"/>
              </a:rPr>
              <a:t>낮은</a:t>
            </a:r>
            <a:r>
              <a:rPr sz="1100" b="0" dirty="0">
                <a:solidFill>
                  <a:srgbClr val="697386"/>
                </a:solidFill>
                <a:latin typeface="맑은 고딕"/>
                <a:ea typeface="맑은 고딕"/>
              </a:rPr>
              <a:t> 쪽 (</a:t>
            </a:r>
            <a:r>
              <a:rPr sz="1100" b="0" dirty="0" err="1">
                <a:solidFill>
                  <a:srgbClr val="697386"/>
                </a:solidFill>
                <a:latin typeface="맑은 고딕"/>
                <a:ea typeface="맑은 고딕"/>
              </a:rPr>
              <a:t>낮을수록</a:t>
            </a:r>
            <a:r>
              <a:rPr sz="1100" b="0" dirty="0">
                <a:solidFill>
                  <a:srgbClr val="69738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697386"/>
                </a:solidFill>
                <a:latin typeface="맑은 고딕"/>
                <a:ea typeface="맑은 고딕"/>
              </a:rPr>
              <a:t>좋음</a:t>
            </a:r>
            <a:r>
              <a:rPr sz="1100" b="0" dirty="0" smtClean="0">
                <a:solidFill>
                  <a:srgbClr val="697386"/>
                </a:solidFill>
                <a:latin typeface="맑은 고딕"/>
                <a:ea typeface="맑은 고딕"/>
              </a:rPr>
              <a:t>).</a:t>
            </a:r>
            <a:endParaRPr sz="1100" b="0" dirty="0">
              <a:solidFill>
                <a:srgbClr val="697386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(3/5)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데이터 특징으로 d=1 설정 (전체 60개 기준)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d 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8</a:t>
            </a:r>
          </a:p>
        </p:txBody>
      </p:sp>
      <p:pic>
        <p:nvPicPr>
          <p:cNvPr id="8" name="Picture 7" descr="p91_c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80160"/>
            <a:ext cx="5394960" cy="2901491"/>
          </a:xfrm>
          <a:prstGeom prst="rect">
            <a:avLst/>
          </a:prstGeom>
        </p:spPr>
      </p:pic>
      <p:pic>
        <p:nvPicPr>
          <p:cNvPr id="9" name="Picture 8" descr="p91_c10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251960"/>
            <a:ext cx="5394960" cy="1677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1371600"/>
            <a:ext cx="5303520" cy="5006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50" b="1" dirty="0" err="1">
                <a:solidFill>
                  <a:srgbClr val="6F9692"/>
                </a:solidFill>
                <a:latin typeface="맑은 고딕"/>
                <a:ea typeface="맑은 고딕"/>
              </a:rPr>
              <a:t>그림</a:t>
            </a:r>
            <a:endParaRPr sz="125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수준이 수년 단위로 크게 출렁이며 평균 주위에 머물지 않음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15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lang="en-US" sz="115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15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5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50" b="1" dirty="0" err="1">
                <a:solidFill>
                  <a:srgbClr val="6F9692"/>
                </a:solidFill>
                <a:latin typeface="맑은 고딕"/>
                <a:ea typeface="맑은 고딕"/>
              </a:rPr>
              <a:t>수준의</a:t>
            </a:r>
            <a:r>
              <a:rPr sz="125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25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ACF</a:t>
            </a:r>
            <a:r>
              <a:rPr lang="en-US" sz="125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(</a:t>
            </a:r>
            <a:r>
              <a:rPr lang="ko-KR" altLang="en-US" sz="125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자기상관함수</a:t>
            </a:r>
            <a:r>
              <a:rPr lang="en-US" altLang="ko-KR" sz="125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)</a:t>
            </a:r>
            <a:endParaRPr sz="125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lag-1 0.89,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이후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0.74·0.57·0.43·0.33으로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천천히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감소</a:t>
            </a:r>
            <a:endParaRPr lang="en-US" sz="115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15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50" b="1" dirty="0">
                <a:solidFill>
                  <a:srgbClr val="6F9692"/>
                </a:solidFill>
                <a:latin typeface="맑은 고딕"/>
                <a:ea typeface="맑은 고딕"/>
              </a:rPr>
              <a:t>●  1차 </a:t>
            </a:r>
            <a:r>
              <a:rPr sz="1250" b="1" dirty="0" err="1">
                <a:solidFill>
                  <a:srgbClr val="6F9692"/>
                </a:solidFill>
                <a:latin typeface="맑은 고딕"/>
                <a:ea typeface="맑은 고딕"/>
              </a:rPr>
              <a:t>차분</a:t>
            </a:r>
            <a:r>
              <a:rPr sz="1250" b="1" dirty="0">
                <a:solidFill>
                  <a:srgbClr val="6F9692"/>
                </a:solidFill>
                <a:latin typeface="맑은 고딕"/>
                <a:ea typeface="맑은 고딕"/>
              </a:rPr>
              <a:t> 후</a:t>
            </a: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lag-1만 0.40,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나머지는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대부분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범위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안</a:t>
            </a:r>
            <a:endParaRPr lang="en-US" sz="115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72033"/>
                </a:solidFill>
                <a:latin typeface="맑은 고딕"/>
                <a:ea typeface="맑은 고딕"/>
              </a:rPr>
              <a:t>	</a:t>
            </a:r>
            <a:r>
              <a:rPr sz="115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-&gt; </a:t>
            </a:r>
            <a:r>
              <a:rPr lang="ko-KR" altLang="en-US" sz="115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차분으로 </a:t>
            </a:r>
            <a:r>
              <a:rPr lang="ko-KR" altLang="en-US" sz="115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시계열</a:t>
            </a:r>
            <a:r>
              <a:rPr lang="ko-KR" altLang="en-US" sz="115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을</a:t>
            </a:r>
            <a:r>
              <a:rPr lang="ko-KR" altLang="en-US" sz="1150" dirty="0" smtClean="0">
                <a:solidFill>
                  <a:srgbClr val="172033"/>
                </a:solidFill>
                <a:latin typeface="맑은 고딕"/>
                <a:ea typeface="맑은 고딕"/>
              </a:rPr>
              <a:t> 정상으로 만들어줌</a:t>
            </a:r>
            <a:endParaRPr sz="115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5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50" b="1" dirty="0" err="1">
                <a:solidFill>
                  <a:srgbClr val="6F9692"/>
                </a:solidFill>
                <a:latin typeface="맑은 고딕"/>
                <a:ea typeface="맑은 고딕"/>
              </a:rPr>
              <a:t>검정</a:t>
            </a:r>
            <a:r>
              <a:rPr sz="1250" b="1" dirty="0">
                <a:solidFill>
                  <a:srgbClr val="6F9692"/>
                </a:solidFill>
                <a:latin typeface="맑은 고딕"/>
                <a:ea typeface="맑은 고딕"/>
              </a:rPr>
              <a:t> (</a:t>
            </a:r>
            <a:r>
              <a:rPr sz="1250" b="1" dirty="0" err="1">
                <a:solidFill>
                  <a:srgbClr val="6F9692"/>
                </a:solidFill>
                <a:latin typeface="맑은 고딕"/>
                <a:ea typeface="맑은 고딕"/>
              </a:rPr>
              <a:t>전체</a:t>
            </a:r>
            <a:r>
              <a:rPr sz="1250" b="1" dirty="0">
                <a:solidFill>
                  <a:srgbClr val="6F9692"/>
                </a:solidFill>
                <a:latin typeface="맑은 고딕"/>
                <a:ea typeface="맑은 고딕"/>
              </a:rPr>
              <a:t> 60개)</a:t>
            </a: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수준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: KPSS p=0.02(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차분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필요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), ADF p=0.18</a:t>
            </a: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차분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: KPSS p=0.10, ADF p=0.002(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정상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) -&gt;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모두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d=1</a:t>
            </a:r>
            <a:endParaRPr lang="en-US" sz="115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15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5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50" b="1" dirty="0" err="1">
                <a:solidFill>
                  <a:srgbClr val="6F9692"/>
                </a:solidFill>
                <a:latin typeface="맑은 고딕"/>
                <a:ea typeface="맑은 고딕"/>
              </a:rPr>
              <a:t>주의</a:t>
            </a:r>
            <a:endParaRPr sz="125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d=1은 '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계속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오른다'가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아님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드리프트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없음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). 4분기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합이라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자기상관이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기계적으로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높음</a:t>
            </a:r>
            <a:endParaRPr sz="115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25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50" b="1" dirty="0" err="1">
                <a:solidFill>
                  <a:srgbClr val="6F9692"/>
                </a:solidFill>
                <a:latin typeface="맑은 고딕"/>
                <a:ea typeface="맑은 고딕"/>
              </a:rPr>
              <a:t>왜 차분(정상화)하나</a:t>
            </a:r>
            <a:endParaRPr sz="125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목표는 자기상관 제거가 아닌 정상화</a:t>
            </a: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정상이 아니면 AR 가정이 깨짐 (d=0은 평균으로 끌려감)</a:t>
            </a: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차분 후 lag-1 0.40은 AR(1)이 모델링, 과차분은 노이즈만 키움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큰 변동이 오래 지속되고 평균으로 돌아오지 않으므로 d=1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(4/5)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확인: d 고정 vs 자동 선택 성능 비교 (결정 용도 아님)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d 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d를 고정하고 p,q는 auto_arima(AICc)가 고른 성능 (확인용)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lang="en-US"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lang="ko-KR" altLang="en-US"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lang="en-US" altLang="ko-KR"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1920240"/>
          <a:ext cx="5120640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1280160"/>
                <a:gridCol w="1097280"/>
                <a:gridCol w="128016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커버리지(%)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MSE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CRPS(7분위)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 고정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d=1 고정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61.4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1.164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0.621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d=2 고정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2.495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0.948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auto(KPSS)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1.205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auto(ADF)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45.5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0.888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d=1 고정 (d=1이 세 지표 모두 최선, 22개 중 17개가 (1,1,0) 선택)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572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d=1이 커버리지·MSE·CRPS 모두 최선 (d=2는 최악)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d=1에서 22개 중 17개가 (1,1,0)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자동 선택은 d=1 고정보다 나쁨: KPSS는 d=0 21개(CRPS 0.653), ADF는 d=2 12개(MSE 2.269)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결과와 무관하게 d=1 결정은 바꾸지 않음</a:t>
            </a:r>
          </a:p>
        </p:txBody>
      </p:sp>
      <p:pic>
        <p:nvPicPr>
          <p:cNvPr id="15" name="Picture 14" descr="p91_auto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760720" cy="17820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(5/5)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한계 -- 표본에 따라 검정이 달라진다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d 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92240" y="1371600"/>
          <a:ext cx="5029200" cy="1234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914400"/>
                <a:gridCol w="91440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표본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KPSS p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ADF p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KPSS d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ADF d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전체 60개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첫 35개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324612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한계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전체 데이터(평가 구간 포함)로 정함. 첫 35개만 쓰면 검정이 갈려, 2020년 이후 큰 수준 이동(800-&gt;230-&gt;1,300)에 판단이 의존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d=1의 평가 결과를 이미 본 상태였고, 22개 origin이 겹쳐 유의성 미검증</a:t>
            </a:r>
          </a:p>
        </p:txBody>
      </p:sp>
      <p:pic>
        <p:nvPicPr>
          <p:cNvPr id="12" name="Picture 11" descr="p91_c1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80160"/>
            <a:ext cx="5394960" cy="29014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8" y="429768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6F9692"/>
                </a:solidFill>
                <a:latin typeface="맑은 고딕"/>
                <a:ea typeface="맑은 고딕"/>
              </a:rPr>
              <a:t>●  왜 달라지나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>
                <a:solidFill>
                  <a:srgbClr val="172033"/>
                </a:solidFill>
                <a:latin typeface="맑은 고딕"/>
                <a:ea typeface="맑은 고딕"/>
              </a:rPr>
              <a:t>표본이 작아 검정력이 낮음: 첫 35개는 KPSS(p=0.10 상한), ADF(p=0.41) 모두 기각 못함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>
                <a:solidFill>
                  <a:srgbClr val="172033"/>
                </a:solidFill>
                <a:latin typeface="맑은 고딕"/>
                <a:ea typeface="맑은 고딕"/>
              </a:rPr>
              <a:t>점선 오른쪽(평가 구간)에서 수준이 약 800 -&gt; 230대 -&gt; 1,300으로 크게 이동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94360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결론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: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판단이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평가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구간의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큰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수준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이동에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의존한다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-&gt; </a:t>
            </a:r>
            <a:r>
              <a:rPr sz="1300" b="1" dirty="0" err="1" smtClean="0">
                <a:solidFill>
                  <a:srgbClr val="D62728"/>
                </a:solidFill>
                <a:latin typeface="맑은 고딕"/>
                <a:ea typeface="맑은 고딕"/>
              </a:rPr>
              <a:t>한계</a:t>
            </a:r>
            <a:endParaRPr sz="1300" b="1" dirty="0">
              <a:solidFill>
                <a:srgbClr val="D6272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2번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auto_arima의 p,q 선택 -- 설정과 선택된 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2. p,q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11</a:t>
            </a:r>
          </a:p>
        </p:txBody>
      </p:sp>
      <p:pic>
        <p:nvPicPr>
          <p:cNvPr id="8" name="Picture 7" descr="p92_c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80160"/>
            <a:ext cx="5577840" cy="46403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371600"/>
            <a:ext cx="5120640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설정</a:t>
            </a:r>
            <a:endParaRPr sz="13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d=1만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고정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나머지는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auto_arima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기본값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max_p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/q 5, stepwise,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절편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자동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비교 대상은 AIC vs AICc 하나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lang="en-US" sz="12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선택된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차수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(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AICc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(1,1,0) 17개, (0,1,1) 2개, (2,1,0) 2개, (2,1,1) 1개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origin 35~48은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모두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(1,1,0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2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차수가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바뀌는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때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훈련에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2022~23년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급등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Δy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+366, +347)이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들어간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49~56부터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최근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8분기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Δy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표준편차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: (1,1,0) 102 vs 그 외 164~191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조용하면 (1,1,0), 큰 변동이 들어오면 차수가 바뀜 (5개 origin의 서술적 관찰)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2번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AIC와 AICc는 거의 같은 모델을 고른다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2. p,q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71600"/>
          <a:ext cx="6766560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5920"/>
                <a:gridCol w="1737360"/>
                <a:gridCol w="155448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정보기준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커버리지(%)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MSE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CRPS(7분위)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AICc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27432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22개 중 21개가 같은 (p,d,q). 다른 곳은 origin 52 하나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표본이 35개 이상이라 AICc의 추가 벌점이 작음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절편이 든 모델은 44개 중 origin 35의 AIC 하나뿐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성능 차이는 거의 origin 35 한 곳(AIC가 절편 모델 선택, MSE 차 -0.284)에서 나옴 -&gt; AICc 우월의 근거 아님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이후 AICc 사용 (소표본에 적절, 결과는 AIC와 같음)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3번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원 스케일: 리샘플링 vs 자체 7분위 구간 -- 차이는 크지 않다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3. 원 스케일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리샘플링이 커버리지·CRPS가 약간 높지만 구간이 31% 더 넓고 차이는 크지 않다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같은 auto_arima(d=1, AICc) 점예측에서 구간 생성법만 다름 (오차 중심화)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7548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정확도와 커버리지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MSE는 같은 점예측을 공유해 동일(1.164)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커버리지 +8.0%p, CRPS 0.598 vs 0.621(-3.7%)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7548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구간 폭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리샘플링 2.23 vs 자체 1.71 (1.3배)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이전(8-1, d=0 위주) 커버리지 격차 22.8%p -&gt; 8.0%p</a:t>
            </a:r>
          </a:p>
        </p:txBody>
      </p:sp>
      <p:pic>
        <p:nvPicPr>
          <p:cNvPr id="16" name="Picture 15" descr="93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83080"/>
            <a:ext cx="10241280" cy="28180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3번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같은 폭(90%)으로 맞추면 차이가 작아진다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3. 원 스케일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구간 점수(α=0.10) = 폭 + (2/α) x 벗어난 거리 (낮을수록 좋음) -- 넓어서 오른 커버리지는 폭 항으로 벌점 (Gneiting &amp; Raftery, 2007)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90% 도달 배율 k = 구간을 k배 늘려 88개 커버리지가 90%가 되는 최소 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2651760"/>
          <a:ext cx="10497312" cy="1508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1737360"/>
                <a:gridCol w="1737360"/>
                <a:gridCol w="1737360"/>
                <a:gridCol w="1737360"/>
                <a:gridCol w="17190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방식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원래 커버리지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원래 구간점수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90% 도달 k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그때의 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그때의 구간점수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4.71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4179452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원래 구간 점수는 리샘플링이 낮지만(5.50 vs 6.33), 90%로 맞추면 차이가 작고(4.71 vs 4.91) 리샘플링 폭이 더 넓음(3.75 vs 3.18)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 모양이 더 낫다고 보기 어려움 (이점 상당 부분은 넓은 폭에서 옴)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원 스케일에서 두 방식은 차이가 작고 일관되지 않다 (유의성 검정은 하지 않음)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4번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로그 스케일: 리샘플링 vs 자체 7분위 구간 -- 자체가 더 낫다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4. 로그 스케일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로그 스케일(100 x log y)에서 같은 auto_arima(d=1, AICc) 모델, 구간만 다름 (오차 중심화)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7548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정확도와 커버리지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MSE는 동일(1.80), 자체가 CRPS 앞섬(0.767 vs 0.841)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커버리지 리샘플링 77.3% vs 자체 75.0% (차이 작음)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7548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구간 폭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리샘플링 6.16 vs 자체 4.07 (1.5배)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같은 90%로 맞추면 자체가 훨씬 좁음(7.12 vs 13.20, 부록 A3)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로그 스케일에서는 자체 구간이 리샘플링보다 일관되게 더 낫다</a:t>
            </a:r>
          </a:p>
        </p:txBody>
      </p:sp>
      <p:pic>
        <p:nvPicPr>
          <p:cNvPr id="13" name="Picture 12" descr="94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83080"/>
            <a:ext cx="10241280" cy="28180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4번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로그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스케일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vs 원 </a:t>
            </a:r>
            <a:r>
              <a:rPr sz="2300" b="1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스케일</a:t>
            </a:r>
            <a:r>
              <a:rPr lang="en-US" sz="23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 :</a:t>
            </a:r>
            <a:r>
              <a:rPr sz="23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커버리지는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오르지만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정확도는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2300" b="1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나빠</a:t>
            </a:r>
            <a:r>
              <a:rPr lang="ko-KR" altLang="en-US" sz="23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짐</a:t>
            </a:r>
            <a:endParaRPr sz="2300" b="1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4. 로그 스케일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100 x log(y)에 auto_arima(d=1, AICc) 적용 -&gt; exp로 되돌려 원 스케일에서 채점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754880"/>
            <a:ext cx="512064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lang="ko-KR" altLang="en-US" sz="125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나머지는 성능 하락</a:t>
            </a:r>
            <a:r>
              <a:rPr lang="en-US" altLang="ko-KR" sz="125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/>
            </a:r>
            <a:br>
              <a:rPr lang="en-US" altLang="ko-KR" sz="1250" b="1" dirty="0" smtClean="0">
                <a:solidFill>
                  <a:srgbClr val="6F9692"/>
                </a:solidFill>
                <a:latin typeface="맑은 고딕"/>
                <a:ea typeface="맑은 고딕"/>
              </a:rPr>
            </a:br>
            <a:r>
              <a:rPr sz="115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폭 2.4~2.8배</a:t>
            </a: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CRPS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+41%,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+24%</a:t>
            </a: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MSE도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악화</a:t>
            </a:r>
            <a:endParaRPr sz="115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841248" y="4754880"/>
            <a:ext cx="5212080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50" b="1" dirty="0" err="1" smtClean="0">
                <a:solidFill>
                  <a:srgbClr val="6F9692"/>
                </a:solidFill>
                <a:latin typeface="맑은 고딕"/>
                <a:ea typeface="맑은 고딕"/>
              </a:rPr>
              <a:t>커버리지</a:t>
            </a:r>
            <a:r>
              <a:rPr lang="en-US" sz="125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lang="ko-KR" altLang="en-US" sz="125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성능 상승</a:t>
            </a:r>
            <a:endParaRPr sz="125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61.4 -&gt; </a:t>
            </a:r>
            <a:r>
              <a:rPr sz="115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75.0</a:t>
            </a:r>
            <a:r>
              <a:rPr lang="en-US" sz="1150" b="1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150" b="1" dirty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lang="en-US" sz="115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-</a:t>
            </a:r>
            <a:r>
              <a:rPr lang="en-US" sz="1150" dirty="0" smtClean="0">
                <a:solidFill>
                  <a:srgbClr val="172033"/>
                </a:solidFill>
                <a:latin typeface="맑은 고딕"/>
                <a:ea typeface="맑은 고딕"/>
              </a:rPr>
              <a:t>  </a:t>
            </a:r>
            <a:r>
              <a:rPr sz="115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리샘플링</a:t>
            </a:r>
            <a:r>
              <a:rPr sz="115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69.3</a:t>
            </a:r>
            <a:r>
              <a:rPr lang="en-US" sz="115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5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-&gt; 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77.3 (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여전히</a:t>
            </a:r>
            <a:r>
              <a:rPr sz="1150" b="0" dirty="0">
                <a:solidFill>
                  <a:srgbClr val="172033"/>
                </a:solidFill>
                <a:latin typeface="맑은 고딕"/>
                <a:ea typeface="맑은 고딕"/>
              </a:rPr>
              <a:t> 90% </a:t>
            </a:r>
            <a:r>
              <a:rPr sz="1150" b="0" dirty="0" err="1">
                <a:solidFill>
                  <a:srgbClr val="172033"/>
                </a:solidFill>
                <a:latin typeface="맑은 고딕"/>
                <a:ea typeface="맑은 고딕"/>
              </a:rPr>
              <a:t>미달</a:t>
            </a:r>
            <a:r>
              <a:rPr sz="115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15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커버리지 상승은 구간이 넓어진 대가이고 정확도는 크게 나빠진다</a:t>
            </a:r>
          </a:p>
        </p:txBody>
      </p:sp>
      <p:pic>
        <p:nvPicPr>
          <p:cNvPr id="13" name="Picture 12" descr="94_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37360"/>
            <a:ext cx="10241280" cy="28180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4번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로그변환이 항상 좋은 것은 아니다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4. 로그 스케일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2980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근거 (auto_arima 결과)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커버리지 +8~14%p 상승, 구간 폭 2.4~2.8배, CRPS +24~41%, MSE 악화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로그에서는 자체가 리샘플링보다 낫다 (같은 90% 폭 7.12 vs 13.20, 부록 A3), 원 스케일은 차이 작음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변환 효과만의 결과는 아님 -- 선택된 차수가 달라짐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로그 시계열: (1,1,0) 10개, (2,1,0) 6개, (3,1,2) 3개 등 / 원 스케일: (1,1,0) 17개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수준이 낮은 구간에서 AR(2)가 추세를 이어받아 크게 빗나감 (origin 35, h=4: 예측 약 1,098 vs 실제 436)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AR(1) 고정(8-5)에서도 로그 CRPS가 나빠짐 (0.593 -&gt; 0.668)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해석과 다음 단계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auto_arima 결과에 한정: 로그변환이 무조건 좋거나 나쁘다고 결론내리지 않음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GARCH·SV에서도 로그를 따로 확인 (6·7번). 변환 효과 분리 불가, 유의성 미검증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auto_arima에서는 로그변환이 CRPS·MSE를 개선하지 못함 -&gt; 무조건 좋지는 않으니 GARCH·SV에서도 확인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5번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AR+GARCH, AR+SV 동시최적화 -- 모델 설정과 p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5. GARCH·SV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비교 모델 3개 (평균식을 AR로 통일)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AR단독(기준선): auto_arima(d=1, AR만, AICc, p≤3, 절편 없음), 변동성 모형 없음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AR+GARCH: AR과 GARCH(1,1)를 한 우도로 추정 (arch, 상수항 없음)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AR+SV: AR과 SV(1)를 한 우도로 추정 (직접 구현한 QML + 칼만필터, phi 상한 0.97)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auto_arima는 MA(q) 허용으로 평균식이 달라 참고용, AR단독을 기준선으로 써서 차이가 변동성 모형에서만 오게 함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AR 차수 p 선택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조건부우도의 AIC는 p마다 표본 수가 달라 p 선택에 쓸 수 없음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origin마다 AR단독 auto_arima(AICc)가 고른 p를 사용 (그 시점까지 데이터만 -&gt; 누설 없음)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공통 설정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d=1 고정, 드리프트 없음, 22개 origin 동일 평가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수준 σ 전파: σ_h = sqrt(Σ ψ²(h-i) x v_i), ψ는 AR 충격반응의 d번 누적합, v_i는 i단계 오차분산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평균식을 AR로 통일하고 변동성 모형만 바꿔 동시최적화 효과를 본다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5번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구현 검증 -- σ 전파, 적합 성공, 점예측 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5. GARCH·SV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19</a:t>
            </a:r>
          </a:p>
        </p:txBody>
      </p:sp>
      <p:pic>
        <p:nvPicPr>
          <p:cNvPr id="8" name="Picture 7" descr="9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80160"/>
            <a:ext cx="4937760" cy="45228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3258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σ 전파 검증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level_sigma가 pmdarima σ와 상대 차이 5e-15로 일치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p 선택과 적합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p=1이 22개 중 18개, 급등이 포함된 마지막 4개(origin 53~56)는 p=2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세 모델 모두 22/22 적합 성공, SV phi 0.70~0.92 (코너해 0/22)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GARCH α+β≥0.99가 11/22 -- origin 48~56은 거의 1.0 (분산이 평균으로 돌아오지 않음)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점예측은 세 모델이 서로 다름 (동일 0%)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평균 정규화 차이: AR-GARCH 0.080, AR-SV 0.316, GARCH-SV 0.241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AR 첫 계수 0.513 / 0.425 / -0.051 -&gt; SV 점예측은 랜덤워크에 가까움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점예측 MSE: AR단독 1.127, GARCH 1.067, SV 1.053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22개 origin 모두 안정적으로 적합되며, SV 점예측은 랜덤워크에 가깝다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5번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구간 생성법 -- auto_arima와 GARCH·SV의 리샘플링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5. GARCH·SV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공통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점예측은 모델 값 하나로 고정(로그는 exp(μ)), 오차 표본은 중앙값을 빼 중심화 -&gt; 중심과 MSE가 같아 구간 방식만 비교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중심화하지 않으면 오차 치우침만큼 구간이 이동해 점예측 보정이 섞임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자체 구간: 점예측 ± z x σ_h (정규분포)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3017520"/>
          <a:ext cx="10497312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4754880"/>
                <a:gridCol w="3364992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리샘플링에 쓰는 오차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리샘플링 구간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auto_arima · AR단독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과거 h단계 원 오차 e (중앙값으로 중심화)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점예측 + (e - 중앙값)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 · 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과거 h단계 표준화 오차 z = e / σ_h (중앙값으로 중심화)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점예측 + 현재 σ_h x (z - 중앙값)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4572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왜 다르게 하나 (필터링된 과거 시뮬레이션)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auto_arima는 분산이 일정해 표준화가 의미 없어 원 오차를 그대로 사용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GARCH·SV는 σ_h가 시점마다 달라 원 오차로는 현재 σ_h가 반영 안 됨 -&gt; σ_h로 표준화한 오차에 현재 σ_h를 곱함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모델의 분산 구조에 맞는 리샘플링을 쓰고 구간 중심은 통일한다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6번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GARCH 원 스케일: 자체 구간이 더 낫다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6. GARCH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같은 AR+GARCH(1,1) 점예측에서 구간만 비교 (리샘플링은 표준화 오차)</a:t>
            </a:r>
          </a:p>
        </p:txBody>
      </p:sp>
      <p:pic>
        <p:nvPicPr>
          <p:cNvPr id="9" name="Picture 8" descr="96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83080"/>
            <a:ext cx="10241280" cy="28180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47548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정확도와 커버리지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MSE는 같은 점예측이라 동일(1.067)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커버리지 자체 75.0% vs 리샘플링 84.1%, CRPS 0.589 vs 0.646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7548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구간 폭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리샘플링 5.05 vs 자체 2.46 (2.1배 넓음)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같은 90%로 맞추면 폭 6.24 vs 5.78, 구간점수 7.00 vs 6.76 (부록 A5)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리샘플링은 커버리지만 올리고 구간이 2배로 넓어 CRPS는 나쁘다. 자체 구간이 낫다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6번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GARCH 로그 스케일: 리샘플링 구간이 지나치게 넓다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6. GARCH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로그 스케일(100 x log y)의 AR+GARCH(1,1) 구간 비교 (exp로 되돌려 원 스케일 채점)</a:t>
            </a:r>
          </a:p>
        </p:txBody>
      </p:sp>
      <p:pic>
        <p:nvPicPr>
          <p:cNvPr id="9" name="Picture 8" descr="97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83080"/>
            <a:ext cx="10241280" cy="28180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47548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정확도와 커버리지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MSE 동일(1.057), 커버리지 자체 73.9% vs 리샘플링 89.8%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자체 0.730 vs 리샘플링 1.066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7548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구간 폭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리샘플링 15.55 vs 자체 5.43 (2.9배), 같은 90%로 맞춰도 19.99 vs 15.40 (부록 A7)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원 대비 폭: 자체 2.2배, 리샘플링 3.1배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로그에서는 리샘플링 구간이 매우 넓어 자체 구간이 훨씬 낫다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7번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SV 원 스케일: CRPS는 비슷하고 폭은 리샘플링이 넓다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7. SV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같은 AR+SV(1) 점예측에서 구간만 비교 (리샘플링은 표준화 오차)</a:t>
            </a:r>
          </a:p>
        </p:txBody>
      </p:sp>
      <p:pic>
        <p:nvPicPr>
          <p:cNvPr id="9" name="Picture 8" descr="98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83080"/>
            <a:ext cx="10241280" cy="28180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47548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정확도와 커버리지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MSE는 같은 점예측이라 동일(1.053)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커버리지 자체 64.8% vs 리샘플링 81.8%, CRPS 0.589 vs 0.604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7548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구간 폭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리샘플링 3.48 vs 자체 1.80 (1.9배 넓음)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같은 90%로 맞추면 구간점수가 같음 (5.25 vs 5.25, 부록 A9)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리샘플링은 커버리지를 크게 올리지만 폭이 넓어 점수 이득은 없다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7번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SV 로그 스케일: 자체 구간이 더 낫다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7. SV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로그 스케일(100 x log y)의 AR+SV(1) 구간 비교 (exp로 되돌려 원 스케일 채점)</a:t>
            </a:r>
          </a:p>
        </p:txBody>
      </p:sp>
      <p:pic>
        <p:nvPicPr>
          <p:cNvPr id="9" name="Picture 8" descr="99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83080"/>
            <a:ext cx="10241280" cy="28180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47548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정확도와 커버리지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MSE 동일(1.053), 커버리지 자체 72.7% vs 리샘플링 85.2%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자체 0.616 vs 리샘플링 0.753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7548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구간 폭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리샘플링 7.85 vs 자체 3.00 (2.6배), 같은 90%로 맞춰도 11.13 vs 6.31 (부록 A11)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원 대비 폭: 자체 1.67배, 리샘플링 2.25배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자체 구간이 일관되게 낫고, 로그 자체 구간이 전체 최선(CRPS 0.616)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8번 (1/5)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원 스케일 종합: 모델 차이는 작다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8. 종합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3566160"/>
          <a:ext cx="10497312" cy="22219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1371600"/>
                <a:gridCol w="1371600"/>
                <a:gridCol w="1463040"/>
                <a:gridCol w="1463040"/>
                <a:gridCol w="1097280"/>
                <a:gridCol w="1993392"/>
              </a:tblGrid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커버리지(%)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CRPS(7분위)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90% 구간 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MSE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같은 폭 구간점수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auto_arima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auto_arima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69.3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4.71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65.9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69.3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0.589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64.8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0.589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1.053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1.053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852160"/>
            <a:ext cx="10515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7386"/>
                </a:solidFill>
                <a:latin typeface="맑은 고딕"/>
                <a:ea typeface="맑은 고딕"/>
              </a:rPr>
              <a:t>※ 분홍 = 열 최선값 (CRPS·MSE·구간점수는 낮을수록 좋음). 구간점수는 같은 90%로 맞춘 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108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CRPS 0.589~0.646으로 차이가 작고, GARCH·SV는 자체, auto_arima는 리샘플링이 약간 낫다</a:t>
            </a:r>
          </a:p>
        </p:txBody>
      </p:sp>
      <p:pic>
        <p:nvPicPr>
          <p:cNvPr id="12" name="Picture 11" descr="910_or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1143000"/>
            <a:ext cx="9144000" cy="23923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8번 (2/5)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로그 스케일 종합: SV 자체 구간이 가장 낫다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8. 종합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3566160"/>
          <a:ext cx="10497312" cy="22219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1371600"/>
                <a:gridCol w="1371600"/>
                <a:gridCol w="1463040"/>
                <a:gridCol w="1463040"/>
                <a:gridCol w="1097280"/>
                <a:gridCol w="1993392"/>
              </a:tblGrid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커버리지(%)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CRPS(7분위)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90% 구간 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MSE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같은 폭 구간점수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auto_arima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1.802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auto_arima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77.3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0.841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1.802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13.83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76.1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78.4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13.53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15.99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89.8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15.55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72.7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0.616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1.053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6.86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1.053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11.42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852160"/>
            <a:ext cx="10515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7386"/>
                </a:solidFill>
                <a:latin typeface="맑은 고딕"/>
                <a:ea typeface="맑은 고딕"/>
              </a:rPr>
              <a:t>※ 분홍 = 열 최선값. 폭·구간점수는 exp로 되돌려 원 스케일에서 측정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108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SV 자체(CRPS 0.616)가 최선, 동시최적화가 AR단독·auto_arima보다 MSE도 크게 낫다</a:t>
            </a:r>
          </a:p>
        </p:txBody>
      </p:sp>
      <p:pic>
        <p:nvPicPr>
          <p:cNvPr id="12" name="Picture 11" descr="910_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1143000"/>
            <a:ext cx="9144000" cy="23923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8번 (3/5)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원 스케일 vs 로그 스케일 -- 모든 모델에서 원이 낫다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8. 종합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6766560" cy="3785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1005840"/>
                <a:gridCol w="914400"/>
                <a:gridCol w="1005840"/>
                <a:gridCol w="822960"/>
                <a:gridCol w="822960"/>
                <a:gridCol w="1005840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 원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 로그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폭 원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폭 로그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로그/원 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auto_arima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x2.39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auto_arima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0.841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x2.77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x2.61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x2.21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15.55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x1.67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132588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원 vs 로그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모든 모델·구간에서 원 스케일의 CRPS가 더 낮다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로그 구간 폭은 원의 1.7~3.1배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로그에서는 MSE가 SV 1.053, GARCH 1.057인데 AR단독 1.345, auto_arima 1.802 -&gt; 동시최적화 효과가 커짐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주의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SV의 AR 계수가 0 근처(랜덤워크 점예측): 우위가 변동성 모형 효과인지 분리 불가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22개 origin이 겹치고 유의성 검정은 하지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이 데이터에서는 모든 모델에서 로그가 원보다 나빴다. 로그를 쓴다면 SV 자체가 최선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8번 (4/5)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초반 기준 대비 -- 더 좋은 조합이 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8. 종합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28</a:t>
            </a:r>
          </a:p>
        </p:txBody>
      </p:sp>
      <p:pic>
        <p:nvPicPr>
          <p:cNvPr id="8" name="Picture 7" descr="910_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80160"/>
            <a:ext cx="6035040" cy="3596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6600" y="12801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기준: auto_arima · 원 · 리샘플링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0.598, 같은 폭 구간점수 4.71, MSE 1.164, 커버리지 69.3%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CRPS가 기준보다 낮은 조합은 2개뿐, 차이 작음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SV 자체(원), GARCH 자체(원) 0.589 (-1.5%), 낮은 origin 12/7개, 평균 차이 -0.009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AR단독 리샘플링(원)은 0.597로 사실상 같음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구간점수와 MSE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같은 90% 구간점수는 기준이 최저 (SV 자체 5.25, GARCH 자체 6.76)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점예측 MSE는 SV 1.053, GARCH 1.067로 약 9% 낮음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로그 스케일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모두 기준보다 나쁨 (가장 좋은 SV 자체 +3.0%, 나머지 +17.5%~+78.1%)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669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기준보다 뚜렷하게 나은 조합은 없다 (CRPS -1.5%는 구분 안 되는 수준)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8번 (5/5)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원 스케일: AR단독 리샘플링보다 CRPS가 낮은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8. 종합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AR단독 리샘플링(CRPS 0.597)보다 CRPS가 낮은 조합은 SV 자체, GARCH 자체뿐 -- 3개를 기준 지표로 비교</a:t>
            </a:r>
          </a:p>
        </p:txBody>
      </p:sp>
      <p:pic>
        <p:nvPicPr>
          <p:cNvPr id="9" name="Picture 8" descr="910_to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83080"/>
            <a:ext cx="6949440" cy="22087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0" y="178308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CRPS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SV 자체·GARCH 자체 0.589 vs 0.597 (-1.3%)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더 낮은 origin: SV 14개, GARCH 10개 (22개 중)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MSE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SV 1.053(-6.6%), GARCH 1.067(-5.3%) vs AR단독 1.127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커버리지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GARCH 자체 75.0%(+5.7%p), SV 자체 64.8%(-4.5%p) vs 69.3%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669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CRPS 개선은 -1.3%로 작고 MSE만 뚜렷하게 낫다. 커버리지는 GARCH 자체만 높다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결론과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9. 종합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정리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d=1 고정, p,q는 auto_arima(AICc)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auto_arima: 원 스케일은 리샘플링·자체 차이 작음, 로그변환은 커버리지만 오르고 정확도 악화 -&gt; 로그가 항상 좋지는 않음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GARCH·SV 동시최적화: 구현·검증 통과, 점예측 MSE SV 1.053 &lt; GARCH 1.067 &lt; AR단독 1.127 &lt; auto_arima 1.164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GARCH·SV 표준화 오차 리샘플링: 커버리지 82~90%로 올리나 구간이 1.9~3배 넓어 CRPS 악화 -&gt; 자체 구간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종합: 로그는 SV 자체가 최선(0.616), 원은 GARCH·SV 자체 0.589로 차이 작음, 모든 모델에서 원이 로그보다 낫다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초반 기준 대비 CRPS가 더 낮은 조합은 SV·GARCH 자체(원)뿐이고 -1.5%로 작음</a:t>
            </a: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남은 문제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모든 조합에서 커버리지 90% 미달(자체 61~76%) -&gt; σ 수준 과소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SV 점예측이 랜덤워크에 가까워 우위의 원인 분리 불가, 22개 origin 중복·유의성 미검증</a:t>
            </a: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다음 단계 (후보)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σ 과소 원인 진단, 랜덤워크 점예측과 직접 비교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보정 계수는 진단용으로만 사용 (8-1 피드백)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차이 분석 상세 (리샘플링 vs 자체 구간)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부록 -- 차이 분석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  <a:ea typeface="맑은 고딕"/>
              </a:rPr>
              <a:t>본문 결론을 뒷받침하는 세부 분석 (22개 origin, 기술적 비교)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A1~A4. auto_arima: 원/로그 스케일의 짝지은 차이, 리샘플링 구간이 넓은 이유와 h별 특징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A5. GARCH 원: 짝지은 origin별 차이   /   A6. GARCH 원: 넓은 이유와 h별 특징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A7. GARCH 로그: 짝지은 origin별 차이   /   A8. GARCH 로그: 넓은 이유와 h별 특징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A9. SV 원: 짝지은 origin별 차이   /   A10. SV 원: 넓은 이유와 h별 특징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A11. SV 로그: 짝지은 origin별 차이   /   A12. SV 로그: 넓은 이유와 h별 특징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원 스케일 차이 분석 -- 짝지은 origin별 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부록 -- 차이 분석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371600"/>
            <a:ext cx="60350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차이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=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리샘플링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-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자체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(22개 origin)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CRPS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평균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-0.023,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중앙값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-0.029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앞선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origin 12개 vs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뒤진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origin 10개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점수도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모양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앞선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9개 vs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뒤진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13개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2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커버리지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차이</a:t>
            </a:r>
            <a:endParaRPr sz="13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14개 origin은 같고 7개에서 리샘플링이 높음 -&gt; 평균 +8.0%p는 이 7개 때문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endParaRPr lang="en-US" sz="12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구간별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CRPS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차이</a:t>
            </a:r>
            <a:endParaRPr sz="13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origin 35~46: -0.033 (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조금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낫다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), 47~56: -0.010 (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거의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같다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2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그림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읽는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법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주황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=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앞선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origin,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파랑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=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앞선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origin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11862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결론: 평균적으로 리샘플링이 약간 낫지만 일관되지는 않다 (앞선 12개 vs 뒤진 10개)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50292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97386"/>
                </a:solidFill>
                <a:latin typeface="맑은 고딕"/>
                <a:ea typeface="맑은 고딕"/>
              </a:rPr>
              <a:t>※ 구간 점수 = 폭 + (2/α) x (실제값이 구간 밖으로 벗어난 거리), α=0.10 (벗어난 거리에 20배 벌점), var_std로 나눈 값. 낮을수록 좋음 (출처: Gneiting &amp; Raftery, 2007)</a:t>
            </a:r>
          </a:p>
        </p:txBody>
      </p:sp>
      <p:pic>
        <p:nvPicPr>
          <p:cNvPr id="12" name="Picture 11" descr="93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67" y="1097279"/>
            <a:ext cx="4615411" cy="50032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리샘플링 구간이 넓은 이유와 h별 특징 (원 스케일)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부록 -- 차이 분석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3657600"/>
          <a:ext cx="6766560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463040"/>
                <a:gridCol w="1554480"/>
                <a:gridCol w="1371600"/>
                <a:gridCol w="146304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h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오차÷σ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오차 증가율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σ 증가율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k_h (진단)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63840" y="1371600"/>
            <a:ext cx="4023360" cy="293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넓은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이유</a:t>
            </a:r>
            <a:endParaRPr sz="13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과거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오차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표본의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std가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σ의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1.29배,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폭이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자체의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1.31배 -&gt;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거의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일치</a:t>
            </a: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급등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전후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비율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1.25 / 1.34로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뚜렷한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차이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없음</a:t>
            </a:r>
            <a:endParaRPr lang="en-US" sz="12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둘 다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실제보다</a:t>
            </a: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좁다</a:t>
            </a:r>
            <a:endParaRPr sz="13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평가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실제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오차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std는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σ의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2.07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배</a:t>
            </a:r>
            <a:endParaRPr lang="en-US" sz="12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1" dirty="0" err="1">
                <a:solidFill>
                  <a:srgbClr val="6F9692"/>
                </a:solidFill>
                <a:latin typeface="맑은 고딕"/>
                <a:ea typeface="맑은 고딕"/>
              </a:rPr>
              <a:t>h별</a:t>
            </a:r>
            <a:endParaRPr sz="13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σ는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h=1부터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오차의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절반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수준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수준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과소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오히려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σ가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오차보다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빨리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커짐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(h=4: 3.08배 vs 2.75배)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94360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결론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: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문제는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h에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따른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lang="ko-KR" altLang="en-US" sz="1300" b="1" dirty="0" smtClean="0">
                <a:solidFill>
                  <a:srgbClr val="D62728"/>
                </a:solidFill>
                <a:latin typeface="맑은 고딕"/>
                <a:ea typeface="맑은 고딕"/>
              </a:rPr>
              <a:t>오차 </a:t>
            </a:r>
            <a:r>
              <a:rPr sz="1300" b="1" dirty="0" err="1" smtClean="0">
                <a:solidFill>
                  <a:srgbClr val="D62728"/>
                </a:solidFill>
                <a:latin typeface="맑은 고딕"/>
                <a:ea typeface="맑은 고딕"/>
              </a:rPr>
              <a:t>증가율이</a:t>
            </a:r>
            <a:r>
              <a:rPr sz="1300" b="1" dirty="0" smtClean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아니라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σ의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수준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(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특히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1단계 σ)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과소</a:t>
            </a:r>
            <a:endParaRPr sz="1300" b="1" dirty="0">
              <a:solidFill>
                <a:srgbClr val="D62728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" y="5623559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※ k_h = 그 h에서 90% 구간을 맞추는 데 필요한 구간 배율(|z|의 90분위 ÷ 1.645). 진단용이며 평가에는 쓰지 않음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6766560" cy="23313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로그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스케일의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차이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분석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lang="en-US" altLang="ko-KR" sz="23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–</a:t>
            </a:r>
            <a:r>
              <a:rPr sz="23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lang="ko-KR" altLang="en-US" sz="23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원 데이터가</a:t>
            </a:r>
            <a:r>
              <a:rPr sz="23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가 </a:t>
            </a:r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일관되게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lang="ko-KR" altLang="en-US" sz="23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좋음</a:t>
            </a:r>
            <a:endParaRPr sz="2300" b="1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부록 -- 차이 분석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371600"/>
            <a:ext cx="6035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짝지은 차이 (리샘플링 - 자체)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평균 +0.074, 앞선 7개 vs 뒤진 15개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origin 35~46: -0.016(비슷), 47~56: +0.182 (폭 차이 4.07)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커버리지 차이는 작음(+2.3%p, 16개 origin 동일)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0" y="3840480"/>
          <a:ext cx="6035040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1280160"/>
                <a:gridCol w="1188720"/>
                <a:gridCol w="1097280"/>
                <a:gridCol w="11887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방식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원래 커버리지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90% 도달 k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그때의 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그때의 점수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13.20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13.75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0" y="56692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같은 90%로 맞춰도 자체 구간의 폭이 훨씬 좁고 구간 점수도 낮다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원 스케일과 달리 로그 스케일에서는 자체 구간이 더 낫다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5230368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97386"/>
                </a:solidFill>
                <a:latin typeface="맑은 고딕"/>
                <a:ea typeface="맑은 고딕"/>
              </a:rPr>
              <a:t>※ 구간 점수 = 폭 + (2/α) x (실제값이 구간 밖으로 벗어난 거리), α=0.10 (벗어난 거리에 20배 벌점), var_std로 나눈 값. 낮을수록 좋음 (출처: Gneiting &amp; Raftery, 2007)</a:t>
            </a:r>
          </a:p>
        </p:txBody>
      </p:sp>
      <p:pic>
        <p:nvPicPr>
          <p:cNvPr id="14" name="Picture 13" descr="94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170431"/>
            <a:ext cx="4439920" cy="48130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로그 스케일의 리샘플링 구간이 넓은 이유와 h별 특징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부록 -- 차이 분석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37160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급등 이후 과거 오차 표본이 모델 σ보다 커짐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오차 표본 std ÷ σ: 급등 전(35~46) 1.01 -&gt; 이후(47~56) 1.21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리샘플링 ÷ 자체 폭: 1.06 -&gt; 1.21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전체 평균 1.10(원 스케일 1.29): 로그에서는 σ가 과거 오차와 더 가까움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평가 구간 실제 오차는 σ의 1.54배(원 스케일 2.07배)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89320" y="4206240"/>
          <a:ext cx="603504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1280160"/>
                <a:gridCol w="146304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h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오차÷σ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오차 증가율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σ 증가율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k_h (진단)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41248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급등 이후 오차 표본이 커져 리샘플링 구간이 넓어진다 (일치하는 정황, 검증은 아님)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822191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※ k_h = 그 h에서 90% 구간을 맞추는 데 필요한 구간 배율(|z|의 90분위 ÷ 1.645). 진단용이며 평가에는 쓰지 않음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80160"/>
            <a:ext cx="4891621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GARCH 원 스케일 차이 분석 -- 짝지은 origin별 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부록 -- 차이 분석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36</a:t>
            </a:r>
          </a:p>
        </p:txBody>
      </p:sp>
      <p:pic>
        <p:nvPicPr>
          <p:cNvPr id="8" name="Picture 7" descr="96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097280"/>
            <a:ext cx="4617720" cy="50057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132588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짝지은 차이 (리샘플링 - 자체, 22개 origin)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평균 +0.057, 중앙값 +0.097, 앞선 7개 vs 뒤진 15개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구간 점수도 같은 방향 (앞선 6개 vs 뒤진 16개)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origin 35~46: +0.020, 47~56: +0.102 (폭 차이 1.83 -&gt; 3.51)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커버리지: 16개 origin은 같고 6개에서 리샘플링이 높음 (평균 +9.1%p)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0" y="3931920"/>
          <a:ext cx="6035040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1371600"/>
                <a:gridCol w="118872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방식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원래 커버리지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90% 도달 k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그때의 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그때의 점수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0" y="50749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같은 90%로 맞춰도 자체 구간의 점수가 약간 낮다 (7.00 vs 6.76)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44068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386"/>
                </a:solidFill>
                <a:latin typeface="맑은 고딕"/>
                <a:ea typeface="맑은 고딕"/>
              </a:rPr>
              <a:t>※ 구간 점수 = 폭 + (2/α) x (실제값이 구간 밖으로 벗어난 거리), α=0.10 (벗어난 거리에 20배 벌점), var_std로 나눈 값. 낮을수록 좋음 (출처: Gneiting &amp; Raftery, 2007)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173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표준화 오차 리샘플링은 커버리지만 높이고 CRPS는 일관되게 나쁘다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리샘플링 구간이 넓은 이유와 h별 특징 (GARCH 원 스케일)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부록 -- 차이 분석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37</a:t>
            </a:r>
          </a:p>
        </p:txBody>
      </p:sp>
      <p:pic>
        <p:nvPicPr>
          <p:cNvPr id="8" name="Picture 7" descr="96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6766560" cy="2331336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3749039"/>
          <a:ext cx="676656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1463040"/>
                <a:gridCol w="164592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h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오차÷σ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오차 증가율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σ 증가율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k_h (진단)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63840" y="13258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넓은 이유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과거 표준화 오차의 std가 1.82 (1보다 큼), 리샘플링 폭이 자체의 2.01배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구간별 1.73 (origin 35~46) -&gt; 1.94 (47~56)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평가 구간 실제 오차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실제 오차 std는 σ의 1.38배 -&gt; 과거 표준화 오차(1.82)보다 작아 리샘플링이 과하게 넓음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h별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σ 증가율(h=4: 2.93배)이 오차 증가율(2.80배)과 거의 일치 -&gt; σ의 h 확장은 맞음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57784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386"/>
                </a:solidFill>
                <a:latin typeface="맑은 고딕"/>
                <a:ea typeface="맑은 고딕"/>
              </a:rPr>
              <a:t>※ k_h = 그 h에서 90% 구간을 맞추는 데 필요한 구간 배율(|z|의 90분위 ÷ 1.645). 진단용이며 평가에는 쓰지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GARCH의 σ_h는 실제 오차에 가깝지만, 과거 표준화 오차가 커서 리샘플링 구간이 약 2배로 넓어진다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GARCH 로그 스케일 차이 분석 -- 짝지은 origin별 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부록 -- 차이 분석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38</a:t>
            </a:r>
          </a:p>
        </p:txBody>
      </p:sp>
      <p:pic>
        <p:nvPicPr>
          <p:cNvPr id="8" name="Picture 7" descr="97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097280"/>
            <a:ext cx="4617720" cy="50057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132588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짝지은 차이 (리샘플링 - 자체, 22개 origin)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평균 +0.336, 중앙값 +0.183, 앞선 8개 vs 뒤진 14개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구간 점수도 같은 방향 (앞선 7개 vs 뒤진 15개)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origin 35~46: +0.035, 47~56: +0.698 (폭 차이 4.12 -&gt; 17.34)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커버리지: 16개 origin은 같고 6개에서 리샘플링이 높음 (평균 +15.9%p)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0" y="3931920"/>
          <a:ext cx="6035040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1371600"/>
                <a:gridCol w="118872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방식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원래 커버리지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90% 도달 k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그때의 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그때의 점수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15.40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15.90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0" y="50749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같은 90%로 맞춰도 자체 구간의 폭이 좁고 점수도 낮다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44068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386"/>
                </a:solidFill>
                <a:latin typeface="맑은 고딕"/>
                <a:ea typeface="맑은 고딕"/>
              </a:rPr>
              <a:t>※ 구간 점수 = 폭 + (2/α) x (실제값이 구간 밖으로 벗어난 거리), α=0.10 (벗어난 거리에 20배 벌점), var_std로 나눈 값. 낮을수록 좋음 (출처: Gneiting &amp; Raftery, 2007)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173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로그에서는 표준화 오차를 exp로 되돌린 구간이 매우 넓어 자체 구간이 훨씬 낫다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리샘플링 구간이 넓은 이유와 h별 특징 (GARCH 로그 스케일)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부록 -- 차이 분석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39</a:t>
            </a:r>
          </a:p>
        </p:txBody>
      </p:sp>
      <p:pic>
        <p:nvPicPr>
          <p:cNvPr id="8" name="Picture 7" descr="97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6766560" cy="2331336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3749039"/>
          <a:ext cx="676656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1463040"/>
                <a:gridCol w="164592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h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오차÷σ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오차 증가율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σ 증가율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k_h (진단)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63840" y="13258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넓은 이유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과거 표준화 오차의 std가 1.79, 리샘플링 폭이 자체의 1.96배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급등 전후 1.80 / 1.78로 비슷 -&gt; 표준화 오차가 전반적으로 큼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평가 구간 실제 오차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실제 오차 std는 σ의 1.10배로 σ가 오차에 거의 맞음 -&gt; 과거 표준화 오차(1.79)가 과하게 큼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h별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σ가 h에 따라 오차보다 약간 빨리 커짐 (h=4: 3.05배 vs 2.73배)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57784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386"/>
                </a:solidFill>
                <a:latin typeface="맑은 고딕"/>
                <a:ea typeface="맑은 고딕"/>
              </a:rPr>
              <a:t>※ k_h = 그 h에서 90% 구간을 맞추는 데 필요한 구간 배율(|z|의 90분위 ÷ 1.645). 진단용이며 평가에는 쓰지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과거 표준화 오차(1.79)가 평가 구간 오차÷σ(1.10)보다 훨씬 커서 리샘플링이 과하게 넓다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SV 원 스케일 차이 분석 -- 짝지은 origin별 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부록 -- 차이 분석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40</a:t>
            </a:r>
          </a:p>
        </p:txBody>
      </p:sp>
      <p:pic>
        <p:nvPicPr>
          <p:cNvPr id="8" name="Picture 7" descr="98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097280"/>
            <a:ext cx="4617720" cy="50057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132588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짝지은 차이 (리샘플링 - 자체, 22개 origin)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평균 +0.014, 중앙값 +0.052, 앞선 10개 vs 뒤진 12개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구간 점수: 앞선 9개 vs 뒤진 13개 (평균 -1.39, 중앙값 +1.28)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origin 35~46: -0.018, 47~56: +0.053 (폭 차이 1.14 -&gt; 2.35)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커버리지: 15개 origin은 같고 7개에서 리샘플링이 높음 (평균 +17.0%p)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0" y="3931920"/>
          <a:ext cx="6035040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1371600"/>
                <a:gridCol w="118872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방식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원래 커버리지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90% 도달 k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그때의 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그때의 점수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64.8%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0" y="50749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같은 90%로 맞추면 구간 점수가 같다 (5.25 vs 5.25)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44068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386"/>
                </a:solidFill>
                <a:latin typeface="맑은 고딕"/>
                <a:ea typeface="맑은 고딕"/>
              </a:rPr>
              <a:t>※ 구간 점수 = 폭 + (2/α) x (실제값이 구간 밖으로 벗어난 거리), α=0.10 (벗어난 거리에 20배 벌점), var_std로 나눈 값. 낮을수록 좋음 (출처: Gneiting &amp; Raftery, 2007)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173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커버리지는 크게 오르지만 폭이 넓어 CRPS는 비슷하거나 약간 나쁘다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 A10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리샘플링 구간이 넓은 이유와 h별 특징 (SV 원 스케일)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부록 -- 차이 분석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41</a:t>
            </a:r>
          </a:p>
        </p:txBody>
      </p:sp>
      <p:pic>
        <p:nvPicPr>
          <p:cNvPr id="8" name="Picture 7" descr="98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6766560" cy="2331336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3749039"/>
          <a:ext cx="676656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1463040"/>
                <a:gridCol w="164592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h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오차÷σ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오차 증가율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σ 증가율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k_h (진단)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63840" y="13258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넓은 이유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과거 표준화 오차의 std가 1.86, 리샘플링 폭이 자체의 1.84배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구간별 1.74 (origin 35~46) -&gt; 2.02 (47~56)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평가 구간 실제 오차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실제 오차 std는 σ의 1.87배 -&gt; 과거 표준화 오차(1.86)와 거의 일치: 리샘플링이 σ 부족을 그대로 반영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h별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오차는 2.45배, σ는 1.86배로 σ가 느리게 커짐 (h가 길수록 σ 부족)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57784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386"/>
                </a:solidFill>
                <a:latin typeface="맑은 고딕"/>
                <a:ea typeface="맑은 고딕"/>
              </a:rPr>
              <a:t>※ k_h = 그 h에서 90% 구간을 맞추는 데 필요한 구간 배율(|z|의 90분위 ÷ 1.645). 진단용이며 평가에는 쓰지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SV의 σ는 실제 오차보다 작고 h에 따라 느리게 커져서, 리샘플링이 이를 보정하며 넓어진다 (점수 이득은 없음)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 A11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SV 로그 스케일 차이 분석 -- 짝지은 origin별 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부록 -- 차이 분석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42</a:t>
            </a:r>
          </a:p>
        </p:txBody>
      </p:sp>
      <p:pic>
        <p:nvPicPr>
          <p:cNvPr id="8" name="Picture 7" descr="99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097280"/>
            <a:ext cx="4617720" cy="5001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132588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짝지은 차이 (리샘플링 - 자체, 22개 origin)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평균 +0.137, 중앙값 +0.060, 앞선 6개 vs 뒤진 16개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구간 점수도 같은 방향 (앞선 5개 vs 뒤진 17개)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origin 35~46: +0.003, 47~56: +0.298 (폭 차이 2.40 -&gt; 7.79)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커버리지: 15개 origin은 같고 7개에서 리샘플링이 높음 (평균 +12.5%p)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0" y="3931920"/>
          <a:ext cx="6035040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1371600"/>
                <a:gridCol w="118872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방식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원래 커버리지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90% 도달 k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그때의 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그때의 점수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11.13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11.42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0" y="50749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같은 90%로 맞춰도 자체 구간의 폭이 좁고 점수도 낮다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44068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386"/>
                </a:solidFill>
                <a:latin typeface="맑은 고딕"/>
                <a:ea typeface="맑은 고딕"/>
              </a:rPr>
              <a:t>※ 구간 점수 = 폭 + (2/α) x (실제값이 구간 밖으로 벗어난 거리), α=0.10 (벗어난 거리에 20배 벌점), var_std로 나눈 값. 낮을수록 좋음 (출처: Gneiting &amp; Raftery, 2007)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173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급등 이후 격차가 커지며 자체 구간이 일관되게 낫다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 A12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리샘플링 구간이 넓은 이유와 h별 특징 (SV 로그 스케일)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부록 -- 차이 분석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43</a:t>
            </a:r>
          </a:p>
        </p:txBody>
      </p:sp>
      <p:pic>
        <p:nvPicPr>
          <p:cNvPr id="8" name="Picture 7" descr="99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6766560" cy="2331336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3749039"/>
          <a:ext cx="676656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1463040"/>
                <a:gridCol w="164592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h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오차÷σ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오차 증가율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σ 증가율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k_h (진단)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63840" y="13258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넓은 이유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과거 표준화 오차의 std가 1.74, 리샘플링 폭이 자체의 1.84배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급등 전후 1.74 / 1.74로 같음 -&gt; 급등 시기 때문이 아니라 표준화 오차가 전반적으로 큼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평가 구간 실제 오차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실제 오차 std는 σ의 1.44배 -&gt; 과거 표준화 오차(1.74)보다 작아 리샘플링이 과하게 넓음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h별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오차는 2.31배, σ는 1.89배로 σ가 느리게 커짐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57784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386"/>
                </a:solidFill>
                <a:latin typeface="맑은 고딕"/>
                <a:ea typeface="맑은 고딕"/>
              </a:rPr>
              <a:t>※ k_h = 그 h에서 90% 구간을 맞추는 데 필요한 구간 배율(|z|의 90분위 ÷ 1.645). 진단용이며 평가에는 쓰지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과거 표준화 오차(1.74)가 평가 구간(1.44)보다 커서 구간이 넓고, σ는 h에 따라 오차보다 느리게 커진다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6327</Words>
  <Application>Microsoft Office PowerPoint</Application>
  <PresentationFormat>와이드스크린</PresentationFormat>
  <Paragraphs>1066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34</cp:revision>
  <dcterms:created xsi:type="dcterms:W3CDTF">2013-01-27T09:14:16Z</dcterms:created>
  <dcterms:modified xsi:type="dcterms:W3CDTF">2026-10-02T06:25:45Z</dcterms:modified>
  <cp:category/>
</cp:coreProperties>
</file>