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66" r:id="rId6"/>
    <p:sldId id="267" r:id="rId7"/>
    <p:sldId id="268" r:id="rId8"/>
    <p:sldId id="269" r:id="rId9"/>
    <p:sldId id="272" r:id="rId10"/>
    <p:sldId id="263" r:id="rId11"/>
    <p:sldId id="275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9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6CC48-BA73-437F-A2AE-4C917052BF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AF1B4-D5FF-4F7E-A88F-3197DB987D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3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AF1B4-D5FF-4F7E-A88F-3197DB987D5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0170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100584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4000" b="1" dirty="0" smtClean="0">
                <a:latin typeface="맑은 고딕"/>
                <a:ea typeface="맑은 고딕"/>
              </a:rPr>
              <a:t>가격 시뮬레이터 </a:t>
            </a:r>
            <a:r>
              <a:rPr lang="en-US" altLang="ko-KR" sz="4000" b="1" dirty="0" smtClean="0">
                <a:latin typeface="맑은 고딕"/>
                <a:ea typeface="맑은 고딕"/>
              </a:rPr>
              <a:t>UI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 err="1">
                <a:latin typeface="맑은 고딕"/>
                <a:ea typeface="맑은 고딕"/>
              </a:rPr>
              <a:t>제작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과정</a:t>
            </a:r>
            <a:r>
              <a:rPr sz="1800" b="0" dirty="0">
                <a:latin typeface="맑은 고딕"/>
                <a:ea typeface="맑은 고딕"/>
              </a:rPr>
              <a:t>  —  </a:t>
            </a:r>
            <a:r>
              <a:rPr sz="1800" b="0" dirty="0" err="1">
                <a:latin typeface="맑은 고딕"/>
                <a:ea typeface="맑은 고딕"/>
              </a:rPr>
              <a:t>품목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선택부터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실시간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시변계수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가격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예측까지</a:t>
            </a:r>
            <a:endParaRPr sz="1800" b="0" dirty="0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Streamlit  ·  v1.0 → v3.7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3720" y="5574268"/>
            <a:ext cx="883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800" b="0" smtClean="0">
                <a:latin typeface="맑은 고딕"/>
                <a:ea typeface="맑은 고딕"/>
              </a:rPr>
              <a:t>박민수</a:t>
            </a:r>
            <a:endParaRPr sz="1800" b="0" dirty="0">
              <a:latin typeface="맑은 고딕"/>
              <a:ea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499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lang="ko-KR" alt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lang="ko-KR" altLang="en-US" dirty="0" smtClean="0">
                <a:latin typeface="맑은 고딕"/>
                <a:ea typeface="맑은 고딕"/>
              </a:rPr>
              <a:t>개발 </a:t>
            </a:r>
            <a:r>
              <a:rPr lang="ko-KR" altLang="en-US" dirty="0" smtClean="0">
                <a:latin typeface="맑은 고딕"/>
                <a:ea typeface="맑은 고딕"/>
              </a:rPr>
              <a:t>기간</a:t>
            </a:r>
          </a:p>
          <a:p>
            <a:pPr>
              <a:spcAft>
                <a:spcPts val="2000"/>
              </a:spcAft>
            </a:pPr>
            <a:r>
              <a:rPr lang="ko-KR" altLang="en-US" sz="1450" dirty="0" smtClean="0">
                <a:solidFill>
                  <a:srgbClr val="0070C0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2026.07.27 ~</a:t>
            </a:r>
            <a:endParaRPr lang="en-US" sz="1450" b="1" dirty="0" smtClean="0">
              <a:solidFill>
                <a:schemeClr val="tx2">
                  <a:lumMod val="60000"/>
                  <a:lumOff val="40000"/>
                </a:schemeClr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ko-KR" altLang="en-US" dirty="0" smtClean="0">
                <a:solidFill>
                  <a:srgbClr val="172033"/>
                </a:solidFill>
                <a:latin typeface="맑은 고딕"/>
                <a:ea typeface="맑은 고딕"/>
              </a:rPr>
              <a:t>개발 목적</a:t>
            </a:r>
            <a:endParaRPr sz="18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r>
              <a:rPr sz="1450" b="0" dirty="0">
                <a:solidFill>
                  <a:srgbClr val="0070C0"/>
                </a:solidFill>
                <a:latin typeface="맑은 고딕"/>
                <a:ea typeface="맑은 고딕"/>
              </a:rPr>
              <a:t>    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품목별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주요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변수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시나리오를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바탕으로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가격을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실시간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예측하는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Streamlit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대시보드</a:t>
            </a:r>
            <a:r>
              <a:rPr lang="en-US"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lang="en-US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UI)</a:t>
            </a:r>
            <a:r>
              <a:rPr lang="en-US"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45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→</a:t>
            </a:r>
            <a:r>
              <a:rPr lang="en-US"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450" b="0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사내 활용도 향상</a:t>
            </a:r>
            <a:endParaRPr lang="en-US" altLang="ko-KR" sz="1450" b="0" u="sng" dirty="0" smtClean="0">
              <a:solidFill>
                <a:schemeClr val="tx2">
                  <a:lumMod val="60000"/>
                  <a:lumOff val="40000"/>
                </a:schemeClr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r>
              <a:rPr lang="en-US" altLang="ko-KR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    </a:t>
            </a:r>
            <a:r>
              <a:rPr lang="ko-KR" altLang="en-US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추후 대화형 인터프리터 </a:t>
            </a:r>
            <a:r>
              <a:rPr lang="en-US" altLang="ko-KR" sz="145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SimEcon</a:t>
            </a:r>
            <a:r>
              <a:rPr lang="en-US" altLang="ko-KR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en-US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에 사용될 </a:t>
            </a:r>
            <a:r>
              <a:rPr lang="en-US" altLang="ko-KR" sz="145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core model </a:t>
            </a:r>
            <a:r>
              <a:rPr lang="ko-KR" altLang="en-US" sz="1450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안정성 확인 용도</a:t>
            </a:r>
            <a:endParaRPr lang="en-US" altLang="ko-KR" sz="1450" u="sng" dirty="0" smtClean="0">
              <a:solidFill>
                <a:schemeClr val="tx2">
                  <a:lumMod val="60000"/>
                  <a:lumOff val="40000"/>
                </a:schemeClr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r>
              <a:rPr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sz="1800" b="0" dirty="0" err="1">
                <a:solidFill>
                  <a:srgbClr val="172033"/>
                </a:solidFill>
                <a:latin typeface="맑은 고딕"/>
                <a:ea typeface="맑은 고딕"/>
              </a:rPr>
              <a:t>핵심</a:t>
            </a:r>
            <a:r>
              <a:rPr sz="18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</a:t>
            </a:r>
            <a:r>
              <a:rPr sz="18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맑은 고딕"/>
                <a:ea typeface="맑은 고딕"/>
              </a:rPr>
              <a:t>흐름</a:t>
            </a:r>
            <a:endParaRPr sz="18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r>
              <a:rPr sz="1450" b="0" dirty="0">
                <a:solidFill>
                  <a:srgbClr val="0070C0"/>
                </a:solidFill>
                <a:latin typeface="맑은 고딕"/>
                <a:ea typeface="맑은 고딕"/>
              </a:rPr>
              <a:t>    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품목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선택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→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주요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변수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시나리오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high·base·low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) </a:t>
            </a:r>
            <a:r>
              <a:rPr sz="1450" b="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선택</a:t>
            </a:r>
            <a:r>
              <a:rPr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→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가격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예측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→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결과</a:t>
            </a:r>
            <a:r>
              <a:rPr sz="1450" b="0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비교</a:t>
            </a:r>
            <a:endParaRPr sz="1450" b="0" dirty="0">
              <a:solidFill>
                <a:schemeClr val="tx2">
                  <a:lumMod val="60000"/>
                  <a:lumOff val="40000"/>
                </a:schemeClr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sz="18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대상</a:t>
            </a:r>
            <a:r>
              <a:rPr sz="18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8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품목</a:t>
            </a:r>
            <a:endParaRPr sz="18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r>
              <a:rPr sz="1450" b="0" dirty="0" smtClean="0">
                <a:solidFill>
                  <a:srgbClr val="0070C0"/>
                </a:solidFill>
                <a:latin typeface="맑은 고딕"/>
                <a:ea typeface="맑은 고딕"/>
              </a:rPr>
              <a:t>     </a:t>
            </a:r>
            <a:r>
              <a:rPr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금 · 은 · </a:t>
            </a:r>
            <a:r>
              <a:rPr sz="1450" b="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전기동</a:t>
            </a:r>
            <a:r>
              <a:rPr sz="1450" b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 · </a:t>
            </a:r>
            <a:r>
              <a:rPr sz="1450" b="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맑은 고딕"/>
                <a:ea typeface="맑은 고딕"/>
              </a:rPr>
              <a:t>알루미늄</a:t>
            </a:r>
            <a:endParaRPr lang="en-US" sz="1450" b="0" dirty="0" smtClean="0">
              <a:solidFill>
                <a:schemeClr val="tx2">
                  <a:lumMod val="60000"/>
                  <a:lumOff val="40000"/>
                </a:schemeClr>
              </a:solidFill>
              <a:latin typeface="맑은 고딕"/>
              <a:ea typeface="맑은 고딕"/>
            </a:endParaRPr>
          </a:p>
          <a:p>
            <a:pPr>
              <a:spcAft>
                <a:spcPts val="2000"/>
              </a:spcAft>
            </a:pPr>
            <a:endParaRPr lang="ko-KR" altLang="en-US" sz="1600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v1.0 – v1.9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172033"/>
                </a:solidFill>
                <a:latin typeface="맑은 고딕"/>
                <a:ea typeface="맑은 고딕"/>
              </a:rPr>
              <a:t>1단계 · </a:t>
            </a:r>
            <a:r>
              <a:rPr 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UI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 제작</a:t>
            </a:r>
            <a:endParaRPr sz="26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365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700" b="0" dirty="0" err="1">
                <a:solidFill>
                  <a:srgbClr val="172033"/>
                </a:solidFill>
                <a:latin typeface="맑은 고딕"/>
                <a:ea typeface="맑은 고딕"/>
              </a:rPr>
              <a:t>품목</a:t>
            </a:r>
            <a:r>
              <a:rPr sz="17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7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</a:t>
            </a:r>
            <a:r>
              <a:rPr sz="17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7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화면</a:t>
            </a:r>
            <a:endParaRPr lang="en-US" sz="17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648364" y="1828800"/>
            <a:ext cx="7786254" cy="246610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344" y="1931785"/>
            <a:ext cx="7637504" cy="2297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v1.0 – v1.9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rgbClr val="172033"/>
                </a:solidFill>
                <a:latin typeface="맑은 고딕"/>
                <a:ea typeface="맑은 고딕"/>
              </a:rPr>
              <a:t>1단계 · </a:t>
            </a:r>
            <a:r>
              <a:rPr 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UI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 제작</a:t>
            </a:r>
            <a:endParaRPr sz="26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14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6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sz="17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예측시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점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선택</a:t>
            </a:r>
            <a:endParaRPr lang="en-US" altLang="ko-KR" sz="170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6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주요 변수 설정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가능</a:t>
            </a:r>
            <a:endParaRPr lang="en-US" altLang="ko-KR" sz="17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6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7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시나리오</a:t>
            </a:r>
            <a:r>
              <a:rPr sz="17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700" b="0" dirty="0" err="1">
                <a:solidFill>
                  <a:srgbClr val="172033"/>
                </a:solidFill>
                <a:latin typeface="맑은 고딕"/>
                <a:ea typeface="맑은 고딕"/>
              </a:rPr>
              <a:t>데이터</a:t>
            </a:r>
            <a:r>
              <a:rPr sz="1700" b="0" dirty="0">
                <a:solidFill>
                  <a:srgbClr val="172033"/>
                </a:solidFill>
                <a:latin typeface="맑은 고딕"/>
                <a:ea typeface="맑은 고딕"/>
              </a:rPr>
              <a:t> 표 </a:t>
            </a:r>
            <a:r>
              <a:rPr sz="17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구축</a:t>
            </a:r>
            <a:endParaRPr sz="17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64000" y="1625599"/>
            <a:ext cx="7693892" cy="439303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2" y="1754357"/>
            <a:ext cx="7523701" cy="41913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148222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v1.0 – v1.9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dirty="0">
                <a:solidFill>
                  <a:srgbClr val="172033"/>
                </a:solidFill>
                <a:latin typeface="맑은 고딕"/>
                <a:ea typeface="맑은 고딕"/>
              </a:rPr>
              <a:t>1단계 · 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UI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191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7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en-US" altLang="ko-KR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high </a:t>
            </a:r>
            <a:r>
              <a:rPr lang="en-US" altLang="ko-KR" sz="1700" dirty="0">
                <a:solidFill>
                  <a:srgbClr val="172033"/>
                </a:solidFill>
                <a:latin typeface="맑은 고딕"/>
                <a:ea typeface="맑은 고딕"/>
              </a:rPr>
              <a:t>· base · low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선택 가능</a:t>
            </a:r>
            <a:endParaRPr lang="ko-KR" altLang="en-US" sz="17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7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en-US" altLang="ko-KR" sz="1700" dirty="0">
                <a:solidFill>
                  <a:srgbClr val="172033"/>
                </a:solidFill>
                <a:latin typeface="맑은 고딕"/>
                <a:ea typeface="맑은 고딕"/>
              </a:rPr>
              <a:t>commit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시 </a:t>
            </a:r>
            <a:r>
              <a:rPr lang="en-US" altLang="ko-KR" sz="1700" dirty="0">
                <a:solidFill>
                  <a:srgbClr val="172033"/>
                </a:solidFill>
                <a:latin typeface="맑은 고딕"/>
                <a:ea typeface="맑은 고딕"/>
              </a:rPr>
              <a:t>final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반영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7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en-US" altLang="ko-KR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final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값을 수동 변경 가능</a:t>
            </a:r>
            <a:endParaRPr lang="en-US" altLang="ko-KR" sz="17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7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예측시점 강조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064000" y="1625599"/>
            <a:ext cx="7693892" cy="439303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472" y="1729288"/>
            <a:ext cx="7533420" cy="42225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193309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200" b="1" dirty="0">
                <a:solidFill>
                  <a:srgbClr val="697386"/>
                </a:solidFill>
                <a:latin typeface="맑은 고딕"/>
                <a:ea typeface="맑은 고딕"/>
              </a:rPr>
              <a:t>v2.0 – v2.2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2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단계 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lang="en-US" altLang="ko-KR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비교 </a:t>
            </a:r>
            <a:r>
              <a:rPr lang="en-US" altLang="ko-KR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UI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제작</a:t>
            </a:r>
            <a:endParaRPr lang="ko-KR" altLang="en-US" sz="26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92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주요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변수 </a:t>
            </a:r>
            <a:r>
              <a:rPr lang="en-US" altLang="ko-KR" sz="1700" dirty="0">
                <a:solidFill>
                  <a:srgbClr val="172033"/>
                </a:solidFill>
                <a:latin typeface="맑은 고딕"/>
                <a:ea typeface="맑은 고딕"/>
              </a:rPr>
              <a:t>/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가격 비교</a:t>
            </a:r>
            <a:endParaRPr lang="ko-KR" altLang="en-US" sz="17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ko-KR" alt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ko-KR" altLang="en-US" sz="1700" dirty="0" err="1">
                <a:solidFill>
                  <a:srgbClr val="172033"/>
                </a:solidFill>
                <a:latin typeface="맑은 고딕"/>
                <a:ea typeface="맑은 고딕"/>
              </a:rPr>
              <a:t>데이터셋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 별 비교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064000" y="1625599"/>
            <a:ext cx="7693892" cy="439303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340" y="1717964"/>
            <a:ext cx="7515577" cy="42347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374636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200" b="1" dirty="0">
                <a:solidFill>
                  <a:srgbClr val="697386"/>
                </a:solidFill>
                <a:latin typeface="맑은 고딕"/>
                <a:ea typeface="맑은 고딕"/>
              </a:rPr>
              <a:t>v2.0 – v2.2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2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단계 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비교 </a:t>
            </a:r>
            <a:r>
              <a:rPr lang="en-US" altLang="ko-KR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UI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365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ko-KR" altLang="en-US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ko-KR" altLang="en-US" sz="170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데이터셋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 저장 </a:t>
            </a:r>
            <a:r>
              <a:rPr lang="en-US" altLang="ko-KR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이름변경 </a:t>
            </a:r>
            <a:r>
              <a:rPr lang="en-US" altLang="ko-KR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305965" y="1159999"/>
            <a:ext cx="2454780" cy="537011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14" y="1277851"/>
            <a:ext cx="2251847" cy="5168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200432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200" b="1" dirty="0">
                <a:solidFill>
                  <a:srgbClr val="697386"/>
                </a:solidFill>
                <a:latin typeface="맑은 고딕"/>
                <a:ea typeface="맑은 고딕"/>
              </a:rPr>
              <a:t>v3.0 – 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v3.4</a:t>
            </a:r>
            <a:endParaRPr lang="en-US" altLang="ko-KR"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3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단계 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실제 데이터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365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700" b="1" dirty="0">
                <a:solidFill>
                  <a:srgbClr val="6F9692"/>
                </a:solidFill>
                <a:latin typeface="맑은 고딕"/>
                <a:ea typeface="맑은 고딕"/>
              </a:rPr>
              <a:t> 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실제 변수 </a:t>
            </a:r>
            <a:r>
              <a:rPr lang="ko-KR" altLang="en-US" sz="1700" dirty="0">
                <a:solidFill>
                  <a:srgbClr val="172033"/>
                </a:solidFill>
                <a:latin typeface="맑은 고딕"/>
                <a:ea typeface="맑은 고딕"/>
              </a:rPr>
              <a:t>데이터 </a:t>
            </a:r>
            <a:r>
              <a:rPr lang="ko-KR" altLang="en-US" sz="1700" dirty="0" smtClean="0">
                <a:solidFill>
                  <a:srgbClr val="172033"/>
                </a:solidFill>
                <a:latin typeface="맑은 고딕"/>
                <a:ea typeface="맑은 고딕"/>
              </a:rPr>
              <a:t>연결</a:t>
            </a:r>
            <a:endParaRPr lang="ko-KR" altLang="en-US" sz="170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64000" y="1625599"/>
            <a:ext cx="7693892" cy="439303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71" y="1717963"/>
            <a:ext cx="7537577" cy="42066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38662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v3.5 </a:t>
            </a:r>
            <a:r>
              <a:rPr lang="en-US" altLang="ko-KR" sz="1200" b="1" dirty="0">
                <a:solidFill>
                  <a:srgbClr val="697386"/>
                </a:solidFill>
                <a:latin typeface="맑은 고딕"/>
                <a:ea typeface="맑은 고딕"/>
              </a:rPr>
              <a:t>– 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v3.7</a:t>
            </a:r>
            <a:endParaRPr lang="en-US" altLang="ko-KR"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3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단계 </a:t>
            </a:r>
            <a:r>
              <a:rPr lang="en-US" altLang="ko-KR" sz="2600" b="1" dirty="0">
                <a:solidFill>
                  <a:srgbClr val="172033"/>
                </a:solidFill>
                <a:latin typeface="맑은 고딕"/>
                <a:ea typeface="맑은 고딕"/>
              </a:rPr>
              <a:t>·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실제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예측 모델 </a:t>
            </a:r>
            <a:r>
              <a:rPr lang="ko-KR" altLang="en-US" sz="2600" b="1" dirty="0">
                <a:solidFill>
                  <a:srgbClr val="172033"/>
                </a:solidFill>
                <a:latin typeface="맑은 고딕"/>
                <a:ea typeface="맑은 고딕"/>
              </a:rPr>
              <a:t>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68" y="1931785"/>
            <a:ext cx="4303684" cy="145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altLang="ko-KR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en-US" altLang="ko-KR" sz="1400" b="1" dirty="0" smtClean="0">
                <a:latin typeface="맑은 고딕"/>
                <a:ea typeface="맑은 고딕"/>
              </a:rPr>
              <a:t>  </a:t>
            </a:r>
            <a:r>
              <a:rPr lang="en-US" altLang="ko-KR" sz="1700" dirty="0">
                <a:latin typeface="맑은 고딕"/>
                <a:ea typeface="맑은 고딕"/>
              </a:rPr>
              <a:t>TVP SARIMAX </a:t>
            </a:r>
            <a:r>
              <a:rPr lang="ko-KR" altLang="en-US" sz="1700" dirty="0">
                <a:latin typeface="맑은 고딕"/>
                <a:ea typeface="맑은 고딕"/>
              </a:rPr>
              <a:t>모델 </a:t>
            </a:r>
            <a:r>
              <a:rPr lang="ko-KR" altLang="en-US" sz="1700" dirty="0" smtClean="0">
                <a:latin typeface="맑은 고딕"/>
                <a:ea typeface="맑은 고딕"/>
              </a:rPr>
              <a:t>도입</a:t>
            </a:r>
            <a:endParaRPr lang="en-US" altLang="ko-KR" sz="1700" dirty="0" smtClean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altLang="ko-KR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en-US" altLang="ko-KR" sz="1400" b="1" dirty="0">
                <a:latin typeface="맑은 고딕"/>
                <a:ea typeface="맑은 고딕"/>
              </a:rPr>
              <a:t>  </a:t>
            </a:r>
            <a:r>
              <a:rPr lang="ko-KR" altLang="en-US" sz="1700" dirty="0" smtClean="0">
                <a:latin typeface="맑은 고딕"/>
                <a:ea typeface="맑은 고딕"/>
              </a:rPr>
              <a:t>실시간 </a:t>
            </a:r>
            <a:r>
              <a:rPr lang="ko-KR" altLang="en-US" sz="1700" dirty="0" err="1" smtClean="0">
                <a:latin typeface="맑은 고딕"/>
                <a:ea typeface="맑은 고딕"/>
              </a:rPr>
              <a:t>금가격</a:t>
            </a:r>
            <a:r>
              <a:rPr lang="ko-KR" altLang="en-US" sz="1700" dirty="0" smtClean="0">
                <a:latin typeface="맑은 고딕"/>
                <a:ea typeface="맑은 고딕"/>
              </a:rPr>
              <a:t> 예측</a:t>
            </a:r>
            <a:endParaRPr lang="ko-KR" altLang="en-US" sz="1700" dirty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ko-KR" altLang="en-US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ko-KR" altLang="en-US" sz="1400" b="1" dirty="0">
                <a:latin typeface="맑은 고딕"/>
                <a:ea typeface="맑은 고딕"/>
              </a:rPr>
              <a:t>  </a:t>
            </a:r>
            <a:r>
              <a:rPr lang="ko-KR" altLang="en-US" sz="1700" dirty="0" err="1">
                <a:latin typeface="맑은 고딕"/>
                <a:ea typeface="맑은 고딕"/>
              </a:rPr>
              <a:t>백테스트</a:t>
            </a:r>
            <a:r>
              <a:rPr lang="ko-KR" altLang="en-US" sz="1700" dirty="0">
                <a:latin typeface="맑은 고딕"/>
                <a:ea typeface="맑은 고딕"/>
              </a:rPr>
              <a:t> </a:t>
            </a:r>
            <a:r>
              <a:rPr lang="ko-KR" altLang="en-US" sz="1700" dirty="0" smtClean="0">
                <a:latin typeface="맑은 고딕"/>
                <a:ea typeface="맑은 고딕"/>
              </a:rPr>
              <a:t>지원</a:t>
            </a:r>
            <a:endParaRPr lang="ko-KR" altLang="en-US" sz="1700" dirty="0"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064000" y="1625599"/>
            <a:ext cx="7693892" cy="398087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30" y="1727200"/>
            <a:ext cx="7552880" cy="37991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391795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1294228"/>
            <a:ext cx="109728" cy="82296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57068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err="1">
                <a:latin typeface="맑은 고딕"/>
                <a:ea typeface="맑은 고딕"/>
              </a:rPr>
              <a:t>요약</a:t>
            </a:r>
            <a:endParaRPr sz="2800" b="1" dirty="0"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071468"/>
            <a:ext cx="9601200" cy="3104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>
                <a:latin typeface="맑은 고딕"/>
                <a:ea typeface="맑은 고딕"/>
              </a:rPr>
              <a:t>  </a:t>
            </a:r>
            <a:r>
              <a:rPr sz="1800" b="0" dirty="0" smtClean="0">
                <a:latin typeface="맑은 고딕"/>
                <a:ea typeface="맑은 고딕"/>
              </a:rPr>
              <a:t>v1.0 → v3.7, 20개 </a:t>
            </a:r>
            <a:r>
              <a:rPr sz="1800" b="0" dirty="0" err="1">
                <a:latin typeface="맑은 고딕"/>
                <a:ea typeface="맑은 고딕"/>
              </a:rPr>
              <a:t>버전을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거쳐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완성된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lang="ko-KR" altLang="en-US" sz="1800" b="0" dirty="0" smtClean="0">
                <a:latin typeface="맑은 고딕"/>
                <a:ea typeface="맑은 고딕"/>
              </a:rPr>
              <a:t>가격 시뮬레이터</a:t>
            </a:r>
            <a:endParaRPr sz="1800" b="0" dirty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endParaRPr lang="en-US" sz="1500" b="1" dirty="0" smtClean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 smtClean="0">
                <a:latin typeface="맑은 고딕"/>
                <a:ea typeface="맑은 고딕"/>
              </a:rPr>
              <a:t>  </a:t>
            </a:r>
            <a:r>
              <a:rPr sz="1800" b="0" dirty="0">
                <a:latin typeface="맑은 고딕"/>
                <a:ea typeface="맑은 고딕"/>
              </a:rPr>
              <a:t>4개 </a:t>
            </a:r>
            <a:r>
              <a:rPr sz="1800" b="0" dirty="0" err="1">
                <a:latin typeface="맑은 고딕"/>
                <a:ea typeface="맑은 고딕"/>
              </a:rPr>
              <a:t>품목</a:t>
            </a:r>
            <a:r>
              <a:rPr sz="1800" b="0" dirty="0">
                <a:latin typeface="맑은 고딕"/>
                <a:ea typeface="맑은 고딕"/>
              </a:rPr>
              <a:t>(</a:t>
            </a:r>
            <a:r>
              <a:rPr sz="1800" b="0" dirty="0" err="1">
                <a:latin typeface="맑은 고딕"/>
                <a:ea typeface="맑은 고딕"/>
              </a:rPr>
              <a:t>금·은·전기동·알루미늄</a:t>
            </a:r>
            <a:r>
              <a:rPr sz="1800" b="0" dirty="0">
                <a:latin typeface="맑은 고딕"/>
                <a:ea typeface="맑은 고딕"/>
              </a:rPr>
              <a:t>), </a:t>
            </a:r>
            <a:r>
              <a:rPr sz="1800" b="0" dirty="0" err="1">
                <a:latin typeface="맑은 고딕"/>
                <a:ea typeface="맑은 고딕"/>
              </a:rPr>
              <a:t>실시간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시변계수</a:t>
            </a:r>
            <a:r>
              <a:rPr sz="1800" b="0" dirty="0">
                <a:latin typeface="맑은 고딕"/>
                <a:ea typeface="맑은 고딕"/>
              </a:rPr>
              <a:t>(TVP) </a:t>
            </a:r>
            <a:r>
              <a:rPr sz="1800" b="0" dirty="0" err="1">
                <a:latin typeface="맑은 고딕"/>
                <a:ea typeface="맑은 고딕"/>
              </a:rPr>
              <a:t>가격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예측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 smtClean="0">
                <a:latin typeface="맑은 고딕"/>
                <a:ea typeface="맑은 고딕"/>
              </a:rPr>
              <a:t>모델</a:t>
            </a:r>
            <a:r>
              <a:rPr lang="en-US" sz="1800" b="0" dirty="0" smtClean="0">
                <a:latin typeface="맑은 고딕"/>
                <a:ea typeface="맑은 고딕"/>
              </a:rPr>
              <a:t> </a:t>
            </a:r>
            <a:r>
              <a:rPr lang="ko-KR" altLang="en-US" sz="1800" b="0" dirty="0" smtClean="0">
                <a:latin typeface="맑은 고딕"/>
                <a:ea typeface="맑은 고딕"/>
              </a:rPr>
              <a:t>구상</a:t>
            </a:r>
            <a:endParaRPr lang="en-US" altLang="ko-KR" sz="1800" b="0" dirty="0" smtClean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dirty="0" smtClean="0">
                <a:latin typeface="맑은 고딕"/>
                <a:ea typeface="맑은 고딕"/>
              </a:rPr>
              <a:t>(</a:t>
            </a:r>
            <a:r>
              <a:rPr lang="ko-KR" altLang="en-US" dirty="0" smtClean="0">
                <a:latin typeface="맑은 고딕"/>
                <a:ea typeface="맑은 고딕"/>
              </a:rPr>
              <a:t>현재 </a:t>
            </a:r>
            <a:r>
              <a:rPr lang="en-US" altLang="ko-KR" dirty="0" smtClean="0">
                <a:latin typeface="맑은 고딕"/>
                <a:ea typeface="맑은 고딕"/>
              </a:rPr>
              <a:t>“</a:t>
            </a:r>
            <a:r>
              <a:rPr lang="ko-KR" altLang="en-US" dirty="0" smtClean="0">
                <a:latin typeface="맑은 고딕"/>
                <a:ea typeface="맑은 고딕"/>
              </a:rPr>
              <a:t>금</a:t>
            </a:r>
            <a:r>
              <a:rPr lang="en-US" altLang="ko-KR" dirty="0" smtClean="0">
                <a:latin typeface="맑은 고딕"/>
                <a:ea typeface="맑은 고딕"/>
              </a:rPr>
              <a:t>“ </a:t>
            </a:r>
            <a:r>
              <a:rPr lang="ko-KR" altLang="en-US" dirty="0" smtClean="0">
                <a:latin typeface="맑은 고딕"/>
                <a:ea typeface="맑은 고딕"/>
              </a:rPr>
              <a:t>품목만 완성된 상황</a:t>
            </a:r>
            <a:r>
              <a:rPr lang="en-US" altLang="ko-KR" dirty="0" smtClean="0">
                <a:latin typeface="맑은 고딕"/>
                <a:ea typeface="맑은 고딕"/>
              </a:rPr>
              <a:t>)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sz="1800" b="0" dirty="0" smtClean="0">
                <a:latin typeface="맑은 고딕"/>
                <a:ea typeface="맑은 고딕"/>
              </a:rPr>
              <a:t> </a:t>
            </a:r>
            <a:endParaRPr sz="1800" b="0" dirty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sz="1500" b="1" dirty="0">
                <a:latin typeface="맑은 고딕"/>
                <a:ea typeface="맑은 고딕"/>
              </a:rPr>
              <a:t>  </a:t>
            </a:r>
            <a:r>
              <a:rPr sz="1800" b="0" dirty="0" err="1">
                <a:latin typeface="맑은 고딕"/>
                <a:ea typeface="맑은 고딕"/>
              </a:rPr>
              <a:t>품목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선택부터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시나리오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확정</a:t>
            </a:r>
            <a:r>
              <a:rPr sz="1800" b="0" dirty="0">
                <a:latin typeface="맑은 고딕"/>
                <a:ea typeface="맑은 고딕"/>
              </a:rPr>
              <a:t>, </a:t>
            </a:r>
            <a:r>
              <a:rPr sz="1800" b="0" dirty="0" err="1">
                <a:latin typeface="맑은 고딕"/>
                <a:ea typeface="맑은 고딕"/>
              </a:rPr>
              <a:t>가격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예측</a:t>
            </a:r>
            <a:r>
              <a:rPr sz="1800" b="0" dirty="0">
                <a:latin typeface="맑은 고딕"/>
                <a:ea typeface="맑은 고딕"/>
              </a:rPr>
              <a:t>, </a:t>
            </a:r>
            <a:r>
              <a:rPr sz="1800" b="0" dirty="0" err="1">
                <a:latin typeface="맑은 고딕"/>
                <a:ea typeface="맑은 고딕"/>
              </a:rPr>
              <a:t>결과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비교까지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이어지는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하나의</a:t>
            </a:r>
            <a:r>
              <a:rPr sz="1800" b="0" dirty="0">
                <a:latin typeface="맑은 고딕"/>
                <a:ea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</a:rPr>
              <a:t>흐름</a:t>
            </a:r>
            <a:endParaRPr sz="1800" b="0" dirty="0">
              <a:latin typeface="맑은 고딕"/>
              <a:ea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331720"/>
            <a:ext cx="109728" cy="82296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5617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800" b="1" dirty="0" smtClean="0">
                <a:latin typeface="맑은 고딕"/>
                <a:ea typeface="맑은 고딕"/>
              </a:rPr>
              <a:t>시연</a:t>
            </a:r>
            <a:endParaRPr sz="28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956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  <a:ea typeface="맑은 고딕"/>
              </a:rPr>
              <a:t>v4.0 ~</a:t>
            </a:r>
            <a:endParaRPr lang="en-US" altLang="ko-KR" sz="1200" b="1" dirty="0">
              <a:solidFill>
                <a:srgbClr val="69738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추가 예정 작업 </a:t>
            </a:r>
            <a:r>
              <a:rPr lang="en-US" altLang="ko-KR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lang="ko-KR" altLang="en-US" sz="2600" b="1" smtClean="0">
                <a:solidFill>
                  <a:srgbClr val="172033"/>
                </a:solidFill>
                <a:latin typeface="맑은 고딕"/>
                <a:ea typeface="맑은 고딕"/>
              </a:rPr>
              <a:t>수습기간</a:t>
            </a:r>
            <a:r>
              <a:rPr lang="en-US" altLang="ko-KR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) : </a:t>
            </a:r>
            <a:r>
              <a:rPr lang="ko-KR" altLang="en-US" sz="26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주요변수 예측 모델 개발</a:t>
            </a:r>
            <a:endParaRPr lang="ko-KR" altLang="en-US" sz="26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067" y="1931785"/>
            <a:ext cx="7055844" cy="197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altLang="ko-KR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en-US" altLang="ko-KR" sz="1400" b="1" dirty="0" smtClean="0">
                <a:latin typeface="맑은 고딕"/>
                <a:ea typeface="맑은 고딕"/>
              </a:rPr>
              <a:t>  </a:t>
            </a:r>
            <a:r>
              <a:rPr lang="ko-KR" altLang="en-US" sz="1700" dirty="0" smtClean="0">
                <a:latin typeface="맑은 고딕"/>
                <a:ea typeface="맑은 고딕"/>
              </a:rPr>
              <a:t>현재 주요 변수의 </a:t>
            </a:r>
            <a:r>
              <a:rPr lang="ko-KR" altLang="en-US" sz="1700" dirty="0" err="1" smtClean="0">
                <a:latin typeface="맑은 고딕"/>
                <a:ea typeface="맑은 고딕"/>
              </a:rPr>
              <a:t>미래값은</a:t>
            </a:r>
            <a:r>
              <a:rPr lang="ko-KR" altLang="en-US" sz="1700" dirty="0" smtClean="0">
                <a:latin typeface="맑은 고딕"/>
                <a:ea typeface="맑은 고딕"/>
              </a:rPr>
              <a:t> 임의의 값으로 </a:t>
            </a:r>
            <a:r>
              <a:rPr lang="ko-KR" altLang="en-US" sz="1700" dirty="0" err="1" smtClean="0">
                <a:latin typeface="맑은 고딕"/>
                <a:ea typeface="맑은 고딕"/>
              </a:rPr>
              <a:t>사용중</a:t>
            </a:r>
            <a:endParaRPr lang="en-US" altLang="ko-KR" sz="1700" dirty="0" smtClean="0">
              <a:latin typeface="맑은 고딕"/>
              <a:ea typeface="맑은 고딕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altLang="ko-KR" sz="14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en-US" altLang="ko-KR" sz="1400" b="1" dirty="0" smtClean="0">
                <a:latin typeface="맑은 고딕"/>
                <a:ea typeface="맑은 고딕"/>
              </a:rPr>
              <a:t>  </a:t>
            </a:r>
            <a:r>
              <a:rPr lang="ko-KR" altLang="en-US" sz="1700" dirty="0" smtClean="0">
                <a:latin typeface="맑은 고딕"/>
                <a:ea typeface="맑은 고딕"/>
              </a:rPr>
              <a:t>주요변수의 미래궤적 예측 방법론 연구 필요</a:t>
            </a:r>
            <a:endParaRPr lang="en-US" altLang="ko-KR" sz="1700" dirty="0" smtClean="0">
              <a:latin typeface="맑은 고딕"/>
              <a:ea typeface="맑은 고딕"/>
            </a:endParaRPr>
          </a:p>
          <a:p>
            <a:r>
              <a:rPr lang="en-US" altLang="ko-KR" sz="1400" b="1" dirty="0">
                <a:solidFill>
                  <a:srgbClr val="6F9692"/>
                </a:solidFill>
                <a:latin typeface="맑은 고딕"/>
                <a:ea typeface="맑은 고딕"/>
              </a:rPr>
              <a:t>●</a:t>
            </a:r>
            <a:r>
              <a:rPr lang="en-US" altLang="ko-KR" sz="1400" b="1" dirty="0">
                <a:latin typeface="맑은 고딕"/>
                <a:ea typeface="맑은 고딕"/>
              </a:rPr>
              <a:t>  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통계적 합리성을 보장하는 예측 구간 구하는 연구 </a:t>
            </a:r>
            <a:r>
              <a:rPr lang="ko-KR" altLang="en-US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예정</a:t>
            </a:r>
            <a:endParaRPr lang="en-US" altLang="ko-KR" sz="1700" dirty="0" smtClean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(ex. </a:t>
            </a:r>
            <a:r>
              <a:rPr lang="ko-KR" altLang="en-US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실제로 구간 안에 </a:t>
            </a:r>
            <a:r>
              <a:rPr lang="en-US" altLang="ko-KR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100</a:t>
            </a:r>
            <a:r>
              <a:rPr lang="ko-KR" altLang="en-US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번 중 </a:t>
            </a:r>
            <a:r>
              <a:rPr lang="en-US" altLang="ko-KR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90</a:t>
            </a:r>
            <a:r>
              <a:rPr lang="ko-KR" altLang="en-US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번 들어오는지 등 확인</a:t>
            </a:r>
            <a:r>
              <a:rPr lang="en-US" altLang="ko-KR" sz="17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</a:t>
            </a:r>
            <a:endParaRPr lang="ko-KR" altLang="en-US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endParaRPr lang="ko-KR" altLang="en-US" sz="1700" dirty="0"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오른쪽 화살표 11"/>
          <p:cNvSpPr/>
          <p:nvPr/>
        </p:nvSpPr>
        <p:spPr>
          <a:xfrm>
            <a:off x="5496374" y="4446233"/>
            <a:ext cx="858982" cy="65578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6F9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94" y="3681529"/>
            <a:ext cx="3516661" cy="242364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30" y="3685532"/>
            <a:ext cx="4361841" cy="241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가격 시뮬레이터 </a:t>
            </a:r>
            <a:r>
              <a:rPr lang="en-US" altLang="ko-KR" sz="10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UI </a:t>
            </a:r>
          </a:p>
        </p:txBody>
      </p:sp>
    </p:spTree>
    <p:extLst>
      <p:ext uri="{BB962C8B-B14F-4D97-AF65-F5344CB8AC3E}">
        <p14:creationId xmlns:p14="http://schemas.microsoft.com/office/powerpoint/2010/main" val="361282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331720"/>
            <a:ext cx="109728" cy="82296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5617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800" b="1" dirty="0" smtClean="0">
                <a:latin typeface="맑은 고딕"/>
                <a:ea typeface="맑은 고딕"/>
              </a:rPr>
              <a:t>감사합니다</a:t>
            </a:r>
            <a:endParaRPr sz="28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638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382</Words>
  <Application>Microsoft Office PowerPoint</Application>
  <PresentationFormat>와이드스크린</PresentationFormat>
  <Paragraphs>78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30</cp:revision>
  <dcterms:created xsi:type="dcterms:W3CDTF">2013-01-27T09:14:16Z</dcterms:created>
  <dcterms:modified xsi:type="dcterms:W3CDTF">2026-09-03T04:33:24Z</dcterms:modified>
  <cp:category/>
</cp:coreProperties>
</file>