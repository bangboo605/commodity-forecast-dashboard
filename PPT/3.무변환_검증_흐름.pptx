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96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835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514600"/>
            <a:ext cx="109728" cy="822960"/>
          </a:xfrm>
          <a:prstGeom prst="rect">
            <a:avLst/>
          </a:prstGeom>
          <a:solidFill>
            <a:srgbClr val="EF6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맑은 고딕"/>
              </a:rPr>
              <a:t>예측구간 커버리지 이상 진단과 무변환 재검증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5468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solidFill>
                  <a:srgbClr val="172033"/>
                </a:solidFill>
                <a:latin typeface="맑은 고딕"/>
              </a:rPr>
              <a:t>연구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흐름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요약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 —  </a:t>
            </a:r>
            <a:r>
              <a:rPr sz="1500" b="0" dirty="0" err="1" smtClean="0">
                <a:solidFill>
                  <a:srgbClr val="172033"/>
                </a:solidFill>
                <a:latin typeface="맑은 고딕"/>
              </a:rPr>
              <a:t>앙상블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→ </a:t>
            </a:r>
            <a:r>
              <a:rPr sz="1500" b="0" dirty="0" err="1" smtClean="0">
                <a:solidFill>
                  <a:srgbClr val="172033"/>
                </a:solidFill>
                <a:latin typeface="맑은 고딕"/>
              </a:rPr>
              <a:t>커버리지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이상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발견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→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원인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분석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→ </a:t>
            </a:r>
            <a:r>
              <a:rPr sz="1500" b="0" dirty="0" err="1" smtClean="0">
                <a:solidFill>
                  <a:srgbClr val="172033"/>
                </a:solidFill>
                <a:latin typeface="맑은 고딕"/>
              </a:rPr>
              <a:t>무변환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재검증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→</a:t>
            </a:r>
            <a:r>
              <a:rPr lang="en-US" sz="1500" b="0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 smtClean="0">
                <a:solidFill>
                  <a:srgbClr val="172033"/>
                </a:solidFill>
                <a:latin typeface="맑은 고딕"/>
              </a:rPr>
              <a:t>해결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확인</a:t>
            </a:r>
            <a:endParaRPr sz="1500" b="0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80073" y="5767185"/>
            <a:ext cx="875607" cy="350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6F9692"/>
                </a:solidFill>
                <a:latin typeface="맑은 고딕"/>
              </a:rPr>
              <a:t>박민수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앙상블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 err="1" smtClean="0">
                <a:solidFill>
                  <a:srgbClr val="172033"/>
                </a:solidFill>
                <a:latin typeface="맑은 고딕"/>
              </a:rPr>
              <a:t>앙상블이</a:t>
            </a:r>
            <a:r>
              <a:rPr sz="26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개별</a:t>
            </a:r>
            <a:r>
              <a:rPr sz="2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모델</a:t>
            </a:r>
            <a:r>
              <a:rPr sz="2600" b="1" dirty="0">
                <a:solidFill>
                  <a:srgbClr val="172033"/>
                </a:solidFill>
                <a:latin typeface="맑은 고딕"/>
              </a:rPr>
              <a:t> 3개를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전부</a:t>
            </a:r>
            <a:r>
              <a:rPr sz="2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앞선다</a:t>
            </a:r>
            <a:endParaRPr sz="26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무변환 검증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5250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결합순위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3자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동점</a:t>
            </a:r>
            <a:r>
              <a:rPr lang="ko-KR" altLang="en-US"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lang="ko-KR" altLang="en-US" sz="1500" b="1" dirty="0" smtClean="0">
                <a:solidFill>
                  <a:srgbClr val="6F9692"/>
                </a:solidFill>
                <a:latin typeface="맑은 고딕"/>
              </a:rPr>
              <a:t>앙상블</a:t>
            </a:r>
            <a:r>
              <a:rPr lang="en-US" altLang="ko-KR" sz="1500" b="1" dirty="0" smtClean="0">
                <a:solidFill>
                  <a:srgbClr val="6F9692"/>
                </a:solidFill>
                <a:latin typeface="맑은 고딕"/>
              </a:rPr>
              <a:t/>
            </a:r>
            <a:br>
              <a:rPr lang="en-US" altLang="ko-KR" sz="1500" b="1" dirty="0" smtClean="0">
                <a:solidFill>
                  <a:srgbClr val="6F9692"/>
                </a:solidFill>
                <a:latin typeface="맑은 고딕"/>
              </a:rPr>
            </a:br>
            <a:r>
              <a:rPr lang="en-US" altLang="ko-KR" sz="15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(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GP-Matern·Auto-ARIMA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(AIC)·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회귀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-OLS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)</a:t>
            </a: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> </a:t>
            </a:r>
            <a:r>
              <a:rPr lang="ko-KR" altLang="en-US" sz="1500" b="1" dirty="0" smtClean="0">
                <a:solidFill>
                  <a:srgbClr val="6F9692"/>
                </a:solidFill>
                <a:latin typeface="맑은 고딕"/>
              </a:rPr>
              <a:t>앙상블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결과</a:t>
            </a: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500" b="1" dirty="0" smtClean="0">
                <a:solidFill>
                  <a:srgbClr val="6F9692"/>
                </a:solidFill>
                <a:latin typeface="맑은 고딕"/>
              </a:rPr>
            </a:b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: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앙상블</a:t>
            </a:r>
            <a:r>
              <a:rPr lang="ko-KR" altLang="en-US" sz="1500" b="1" dirty="0" smtClean="0">
                <a:solidFill>
                  <a:srgbClr val="6F9692"/>
                </a:solidFill>
                <a:latin typeface="맑은 고딕"/>
              </a:rPr>
              <a:t>이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전부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앞섬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block bootstrap 1위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비율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86.2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%</a:t>
            </a:r>
            <a:endParaRPr lang="en-US" sz="1500" b="1" dirty="0" smtClean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최종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선정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: E3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앙상블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권장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)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15784" y="1976584"/>
            <a:ext cx="5812341" cy="35662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nb41_cell2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327" y="2021101"/>
            <a:ext cx="5707618" cy="34630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예측구간 커버리지 확인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 smtClean="0">
                <a:solidFill>
                  <a:srgbClr val="172033"/>
                </a:solidFill>
                <a:latin typeface="맑은 고딕"/>
              </a:rPr>
              <a:t>E3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앙상블</a:t>
            </a:r>
            <a:r>
              <a:rPr sz="2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예측구간의</a:t>
            </a:r>
            <a:r>
              <a:rPr sz="2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실제</a:t>
            </a:r>
            <a:r>
              <a:rPr sz="2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커버리지는</a:t>
            </a:r>
            <a:r>
              <a:rPr sz="2600" b="1" dirty="0">
                <a:solidFill>
                  <a:srgbClr val="172033"/>
                </a:solidFill>
                <a:latin typeface="맑은 고딕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무변환 검증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04848"/>
            <a:ext cx="1042416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목표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90%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예측구간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,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튜닝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없이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그대로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쓰면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전체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커버리지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81.2%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safety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배율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중심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기준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폭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확대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)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탐색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→ scale=1.36에서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정확히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90.0%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도달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08885" y="2190965"/>
            <a:ext cx="7773923" cy="40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799" y="2262233"/>
            <a:ext cx="7542985" cy="39319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문제 발생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 smtClean="0">
                <a:solidFill>
                  <a:srgbClr val="172033"/>
                </a:solidFill>
                <a:latin typeface="맑은 고딕"/>
              </a:rPr>
              <a:t>'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X3</a:t>
            </a:r>
            <a:r>
              <a:rPr sz="2600" b="1" dirty="0">
                <a:solidFill>
                  <a:srgbClr val="172033"/>
                </a:solidFill>
                <a:latin typeface="맑은 고딕"/>
              </a:rPr>
              <a:t/>
            </a:r>
            <a:r>
              <a:rPr sz="2600" b="1" dirty="0" smtClean="0">
                <a:solidFill>
                  <a:srgbClr val="172033"/>
                </a:solidFill>
                <a:latin typeface="맑은 고딕"/>
              </a:rPr>
              <a:t>'</a:t>
            </a:r>
            <a:r>
              <a:rPr lang="en-US" sz="26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lang="ko-KR" altLang="en-US" sz="2600" b="1" dirty="0" smtClean="0">
                <a:solidFill>
                  <a:srgbClr val="172033"/>
                </a:solidFill>
                <a:latin typeface="맑은 고딕"/>
              </a:rPr>
              <a:t>스케일 이슈 발생</a:t>
            </a:r>
            <a:endParaRPr sz="26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무변환 검증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52500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h=4(4분기 뒤) 90%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구간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: [317, 4,408] — 폭 4,090.5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다른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5개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변수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대비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압도적으로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 smtClean="0">
                <a:solidFill>
                  <a:srgbClr val="172033"/>
                </a:solidFill>
                <a:latin typeface="맑은 고딕"/>
              </a:rPr>
              <a:t>넓음</a:t>
            </a:r>
            <a:endParaRPr lang="en-US" sz="1500" b="1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lang="en-US" sz="1500" b="1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이대로면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실제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서비스에서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쓸모없는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구간</a:t>
            </a:r>
            <a:r>
              <a:rPr lang="en-US" sz="1500" b="1" dirty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500" b="1" dirty="0">
                <a:solidFill>
                  <a:srgbClr val="6F9692"/>
                </a:solidFill>
                <a:latin typeface="맑은 고딕"/>
              </a:rPr>
            </a:b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→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원인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파악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필요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55000" y="2751067"/>
            <a:ext cx="5190000" cy="28978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nb51_cell1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2796067"/>
            <a:ext cx="5100000" cy="2807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원인 분석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맑은 고딕"/>
              </a:rPr>
              <a:t>원인 분석: 정규화 부재? 아니면 로그변환의 부작용?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무변환 검증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10424160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가설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1: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정규화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(z-score)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부재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→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검증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결과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기각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-  GP-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Matern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이미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정규화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,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normalize_y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=True)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std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0.5957</a:t>
            </a: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500" b="1" dirty="0" smtClean="0">
                <a:solidFill>
                  <a:srgbClr val="6F9692"/>
                </a:solidFill>
                <a:latin typeface="맑은 고딕"/>
              </a:rPr>
            </a:b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>- 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회귀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-OLS(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정규화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불필요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)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std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 0.4851</a:t>
            </a: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500" b="1" dirty="0" smtClean="0">
                <a:solidFill>
                  <a:srgbClr val="6F9692"/>
                </a:solidFill>
                <a:latin typeface="맑은 고딕"/>
              </a:rPr>
            </a:b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>-  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Auto-ARIMA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개념無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)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std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0.6191</a:t>
            </a:r>
          </a:p>
          <a:p>
            <a:pPr>
              <a:spcAft>
                <a:spcPts val="800"/>
              </a:spcAft>
            </a:pPr>
            <a:r>
              <a:rPr lang="en-US" altLang="ko-KR" sz="15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lang="ko-KR" altLang="en-US" sz="1500" b="1" dirty="0" smtClean="0">
                <a:latin typeface="맑은 고딕"/>
              </a:rPr>
              <a:t>→</a:t>
            </a:r>
            <a:r>
              <a:rPr sz="1500" b="1" dirty="0" smtClean="0">
                <a:latin typeface="맑은 고딕"/>
              </a:rPr>
              <a:t> 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정규화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여부와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무관하게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셋 다 큼 →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정규화가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원인이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아니다</a:t>
            </a:r>
            <a:endParaRPr sz="1500" b="1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진짜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원인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①</a:t>
            </a: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500" b="1" dirty="0" smtClean="0">
                <a:solidFill>
                  <a:srgbClr val="6F9692"/>
                </a:solidFill>
                <a:latin typeface="맑은 고딕"/>
              </a:rPr>
            </a:b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: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로그공간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h=4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잔차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std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(0.5~0.6)가 이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변수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로그값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자체의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역대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std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(0.511)와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맞먹음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—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예측력이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거의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없는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수준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진짜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원인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②</a:t>
            </a: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500" b="1" dirty="0" smtClean="0">
                <a:solidFill>
                  <a:srgbClr val="6F9692"/>
                </a:solidFill>
                <a:latin typeface="맑은 고딕"/>
              </a:rPr>
            </a:b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: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exp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() </a:t>
            </a:r>
            <a:r>
              <a:rPr lang="ko-KR" altLang="en-US" sz="1500" b="1" dirty="0" err="1" smtClean="0">
                <a:solidFill>
                  <a:srgbClr val="6F9692"/>
                </a:solidFill>
                <a:latin typeface="맑은 고딕"/>
              </a:rPr>
              <a:t>를</a:t>
            </a:r>
            <a:r>
              <a:rPr lang="ko-KR" altLang="en-US" sz="1500" b="1" dirty="0" smtClean="0">
                <a:solidFill>
                  <a:srgbClr val="6F9692"/>
                </a:solidFill>
                <a:latin typeface="맑은 고딕"/>
              </a:rPr>
              <a:t> 사용해 스케일이 복리로 커짐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결과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: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로그변환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없이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계산하면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h=4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폭이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4,090.5 → 1,437.7로 2.8배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감소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무변환 검증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 err="1" smtClean="0">
                <a:solidFill>
                  <a:srgbClr val="172033"/>
                </a:solidFill>
                <a:latin typeface="맑은 고딕"/>
              </a:rPr>
              <a:t>변환</a:t>
            </a:r>
            <a:r>
              <a:rPr sz="26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 err="1" smtClean="0">
                <a:solidFill>
                  <a:srgbClr val="172033"/>
                </a:solidFill>
                <a:latin typeface="맑은 고딕"/>
              </a:rPr>
              <a:t>없이</a:t>
            </a:r>
            <a:r>
              <a:rPr sz="26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처음부터</a:t>
            </a:r>
            <a:r>
              <a:rPr sz="2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재검증</a:t>
            </a:r>
            <a:endParaRPr sz="26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무변환 검증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1042416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모델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·지표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CRPS+Likelihood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,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Borda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)를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쓰되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6개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변수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전부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무변환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회귀의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CRPS 1위(0.5793)가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사라짐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—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로그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/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로짓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변환의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인위적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이점이었음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Auto-</a:t>
            </a:r>
            <a:r>
              <a:rPr sz="1500" b="1" dirty="0" err="1" smtClean="0">
                <a:solidFill>
                  <a:srgbClr val="172033"/>
                </a:solidFill>
                <a:latin typeface="맑은 고딕"/>
              </a:rPr>
              <a:t>ARIMA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가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결합순위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1.0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단독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1위(3-1은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근소한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동점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1.5·2.0·2.5)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앙상블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구성원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교체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: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회귀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-OLS → GP-RBF (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상위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3개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구성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자체가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바뀜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)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Auto-ARIMA(AIC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)가 1.5로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근소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1위(4-1은 3자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완전동점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3.0=3.0=3.0)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GP-</a:t>
            </a:r>
            <a:r>
              <a:rPr sz="1500" b="1" dirty="0" err="1" smtClean="0">
                <a:solidFill>
                  <a:srgbClr val="172033"/>
                </a:solidFill>
                <a:latin typeface="맑은 고딕"/>
              </a:rPr>
              <a:t>Matern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우위가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변수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1개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편중이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아니라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변수마다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고르게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분산됨</a:t>
            </a:r>
            <a:endParaRPr sz="1500" b="1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GARCH/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SV는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무변환에서도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동일하게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기각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—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앙상블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(E3)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권장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결론도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그대로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유지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재검증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 smtClean="0">
                <a:solidFill>
                  <a:srgbClr val="172033"/>
                </a:solidFill>
                <a:latin typeface="맑은 고딕"/>
              </a:rPr>
              <a:t>결합순위가</a:t>
            </a:r>
            <a:r>
              <a:rPr sz="24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72033"/>
                </a:solidFill>
                <a:latin typeface="맑은 고딕"/>
              </a:rPr>
              <a:t>어떻게</a:t>
            </a:r>
            <a:r>
              <a:rPr sz="24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72033"/>
                </a:solidFill>
                <a:latin typeface="맑은 고딕"/>
              </a:rPr>
              <a:t>달라졌나</a:t>
            </a:r>
            <a:endParaRPr sz="24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무변환 검증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118587"/>
              </p:ext>
            </p:extLst>
          </p:nvPr>
        </p:nvGraphicFramePr>
        <p:xfrm>
          <a:off x="1095847" y="1850000"/>
          <a:ext cx="100000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0000"/>
                <a:gridCol w="3300000"/>
                <a:gridCol w="3300000"/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80000" marR="80000" marT="30000" marB="3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 smtClean="0">
                          <a:solidFill>
                            <a:srgbClr val="FFFFFF"/>
                          </a:solidFill>
                          <a:latin typeface="맑은 고딕"/>
                        </a:rPr>
                        <a:t>변환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80000" marR="80000" marT="30000" marB="3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 smtClean="0">
                          <a:solidFill>
                            <a:srgbClr val="FFFFFF"/>
                          </a:solidFill>
                          <a:latin typeface="맑은 고딕"/>
                        </a:rPr>
                        <a:t>무변환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80000" marR="80000" marT="30000" marB="30000">
                    <a:solidFill>
                      <a:srgbClr val="172033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CRPS 1위</a:t>
                      </a:r>
                    </a:p>
                  </a:txBody>
                  <a:tcPr marL="80000" marR="80000" marT="30000" marB="3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회귀 (0.5793)</a:t>
                      </a:r>
                    </a:p>
                  </a:txBody>
                  <a:tcPr marL="80000" marR="80000" marT="30000" marB="3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Auto-ARIMA (0.5719)</a:t>
                      </a:r>
                    </a:p>
                  </a:txBody>
                  <a:tcPr marL="80000" marR="80000" marT="30000" marB="30000">
                    <a:solidFill>
                      <a:srgbClr val="FFECEB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Likelihood 1위</a:t>
                      </a:r>
                    </a:p>
                  </a:txBody>
                  <a:tcPr marL="8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Auto-ARIMA (-0.755)</a:t>
                      </a:r>
                    </a:p>
                  </a:txBody>
                  <a:tcPr marL="8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Auto-ARIMA (-0.756)</a:t>
                      </a:r>
                    </a:p>
                  </a:txBody>
                  <a:tcPr marL="80000" marR="80000" marT="30000" marB="3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결합순위(Borda) 1위</a:t>
                      </a:r>
                    </a:p>
                  </a:txBody>
                  <a:tcPr marL="80000" marR="80000" marT="30000" marB="3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Auto-ARIMA 1.5 (근소)</a:t>
                      </a:r>
                    </a:p>
                  </a:txBody>
                  <a:tcPr marL="80000" marR="80000" marT="30000" marB="3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Auto-ARIMA 1.0 (단독)</a:t>
                      </a:r>
                    </a:p>
                  </a:txBody>
                  <a:tcPr marL="80000" marR="80000" marT="30000" marB="30000">
                    <a:solidFill>
                      <a:srgbClr val="FFECEB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bootstrap 1위 비율</a:t>
                      </a:r>
                    </a:p>
                  </a:txBody>
                  <a:tcPr marL="80000" marR="80000" marT="30000" marB="3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회귀 56.8%</a:t>
                      </a:r>
                    </a:p>
                  </a:txBody>
                  <a:tcPr marL="80000" marR="80000" marT="30000" marB="3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Auto-ARIMA 45.2%</a:t>
                      </a:r>
                    </a:p>
                  </a:txBody>
                  <a:tcPr marL="80000" marR="80000" marT="30000" marB="30000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750000"/>
            <a:ext cx="1042416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F9692"/>
                </a:solidFill>
                <a:latin typeface="맑은 고딕"/>
              </a:rPr>
              <a:t>회귀의 CRPS 우위가 사라지고 Auto-ARIMA가 두 지표 모두에서 단독 1위가 됐다 — 근소한 동점이 뚜렷한 승자로 바뀜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재검증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smtClean="0">
                <a:solidFill>
                  <a:srgbClr val="172033"/>
                </a:solidFill>
                <a:latin typeface="맑은 고딕"/>
              </a:rPr>
              <a:t>3</a:t>
            </a:r>
            <a:r>
              <a:rPr sz="2400" b="1" dirty="0">
                <a:solidFill>
                  <a:srgbClr val="172033"/>
                </a:solidFill>
                <a:latin typeface="맑은 고딕"/>
              </a:rPr>
              <a:t>자 </a:t>
            </a:r>
            <a:r>
              <a:rPr sz="2400" b="1" dirty="0" err="1">
                <a:solidFill>
                  <a:srgbClr val="172033"/>
                </a:solidFill>
                <a:latin typeface="맑은 고딕"/>
              </a:rPr>
              <a:t>동점이</a:t>
            </a:r>
            <a:r>
              <a:rPr sz="24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72033"/>
                </a:solidFill>
                <a:latin typeface="맑은 고딕"/>
              </a:rPr>
              <a:t>어떻게</a:t>
            </a:r>
            <a:r>
              <a:rPr sz="24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72033"/>
                </a:solidFill>
                <a:latin typeface="맑은 고딕"/>
              </a:rPr>
              <a:t>달라졌나</a:t>
            </a:r>
            <a:endParaRPr sz="24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무변환 검증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265711"/>
              </p:ext>
            </p:extLst>
          </p:nvPr>
        </p:nvGraphicFramePr>
        <p:xfrm>
          <a:off x="1095847" y="1850000"/>
          <a:ext cx="100000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0000"/>
                <a:gridCol w="3300000"/>
                <a:gridCol w="3300000"/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marL="80000" marR="80000" marT="30000" marB="3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 smtClean="0">
                          <a:solidFill>
                            <a:srgbClr val="FFFFFF"/>
                          </a:solidFill>
                          <a:latin typeface="맑은 고딕"/>
                        </a:rPr>
                        <a:t>변환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80000" marR="80000" marT="30000" marB="3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 smtClean="0">
                          <a:solidFill>
                            <a:srgbClr val="FFFFFF"/>
                          </a:solidFill>
                          <a:latin typeface="맑은 고딕"/>
                        </a:rPr>
                        <a:t>무변환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80000" marR="80000" marT="30000" marB="30000">
                    <a:solidFill>
                      <a:srgbClr val="172033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CRPS 1위</a:t>
                      </a:r>
                    </a:p>
                  </a:txBody>
                  <a:tcPr marL="8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GP-Matern (0.5759)</a:t>
                      </a:r>
                    </a:p>
                  </a:txBody>
                  <a:tcPr marL="8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GP-Matern (0.5640)</a:t>
                      </a:r>
                    </a:p>
                  </a:txBody>
                  <a:tcPr marL="80000" marR="80000" marT="30000" marB="3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Likelihood 1위</a:t>
                      </a:r>
                    </a:p>
                  </a:txBody>
                  <a:tcPr marL="8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Auto-ARIMA (-0.755)</a:t>
                      </a:r>
                    </a:p>
                  </a:txBody>
                  <a:tcPr marL="8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Auto-ARIMA (-0.756)</a:t>
                      </a:r>
                    </a:p>
                  </a:txBody>
                  <a:tcPr marL="80000" marR="80000" marT="30000" marB="3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결합순위(Borda)</a:t>
                      </a:r>
                    </a:p>
                  </a:txBody>
                  <a:tcPr marL="80000" marR="80000" marT="30000" marB="3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3자 완전동점 (3.0=3.0=3.0)</a:t>
                      </a:r>
                    </a:p>
                  </a:txBody>
                  <a:tcPr marL="80000" marR="80000" marT="30000" marB="3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Auto-ARIMA 1.5 근소 1위</a:t>
                      </a:r>
                    </a:p>
                  </a:txBody>
                  <a:tcPr marL="80000" marR="80000" marT="30000" marB="30000">
                    <a:solidFill>
                      <a:srgbClr val="FFECEB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앙상블(E3) 구성</a:t>
                      </a:r>
                    </a:p>
                  </a:txBody>
                  <a:tcPr marL="80000" marR="80000" marT="30000" marB="3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ARIMA+GP-Matern+회귀-OLS</a:t>
                      </a:r>
                    </a:p>
                  </a:txBody>
                  <a:tcPr marL="80000" marR="80000" marT="30000" marB="3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D62728"/>
                          </a:solidFill>
                          <a:latin typeface="맑은 고딕"/>
                        </a:rPr>
                        <a:t>ARIMA+GP-Matern+GP-RBF</a:t>
                      </a:r>
                      <a:endParaRPr sz="1300" b="1" dirty="0">
                        <a:solidFill>
                          <a:srgbClr val="D62728"/>
                        </a:solidFill>
                        <a:latin typeface="맑은 고딕"/>
                      </a:endParaRPr>
                    </a:p>
                  </a:txBody>
                  <a:tcPr marL="80000" marR="80000" marT="30000" marB="30000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750000"/>
            <a:ext cx="1042416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F9692"/>
                </a:solidFill>
                <a:latin typeface="맑은 고딕"/>
              </a:rPr>
              <a:t>완전동점이 근소한 단독 1위로 좁혀지고, 앙상블 구성원이 회귀-OLS에서 GP-RBF로 교체됐다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예측구간 커버리지 확인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 err="1" smtClean="0">
                <a:solidFill>
                  <a:srgbClr val="172033"/>
                </a:solidFill>
                <a:latin typeface="맑은 고딕"/>
              </a:rPr>
              <a:t>무변환</a:t>
            </a:r>
            <a:r>
              <a:rPr sz="26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>
                <a:solidFill>
                  <a:srgbClr val="172033"/>
                </a:solidFill>
                <a:latin typeface="맑은 고딕"/>
              </a:rPr>
              <a:t>E3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앙상블로</a:t>
            </a:r>
            <a:r>
              <a:rPr sz="2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예측구간</a:t>
            </a:r>
            <a:r>
              <a:rPr sz="2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커버리지</a:t>
            </a:r>
            <a:r>
              <a:rPr sz="2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재튜닝</a:t>
            </a:r>
            <a:endParaRPr sz="26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무변환 검증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1042416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새 E3 구성: Auto-ARIMA(AIC) + GP-Matern + GP-RBF (4-2 결합순위 상위 3개)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튜닝 없는 원래 커버리지: 80.3% (5-1의 81.2%와 비슷한 수준)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safety 배율 탐색 → scale=1.42에서 정확히 90.0% 도달(5-1은 1.36)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변수별 편차도 11.0%p → 6.5%p로 축소(5-1의 8.0%p보다 더 잘 좁혀짐)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무변환이라 역변환 과정 자체가 불필요 — 모델 출력이 곧 원래 스케일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결과 확인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 err="1">
                <a:solidFill>
                  <a:srgbClr val="172033"/>
                </a:solidFill>
                <a:latin typeface="맑은 고딕"/>
              </a:rPr>
              <a:t>무변환</a:t>
            </a:r>
            <a:r>
              <a:rPr sz="2600" b="1" dirty="0">
                <a:solidFill>
                  <a:srgbClr val="172033"/>
                </a:solidFill>
                <a:latin typeface="맑은 고딕"/>
              </a:rPr>
              <a:t> 후: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X3</a:t>
            </a:r>
            <a:r>
              <a:rPr sz="2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 err="1" smtClean="0">
                <a:solidFill>
                  <a:srgbClr val="172033"/>
                </a:solidFill>
                <a:latin typeface="맑은 고딕"/>
              </a:rPr>
              <a:t>구간</a:t>
            </a:r>
            <a:r>
              <a:rPr sz="26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 err="1" smtClean="0">
                <a:solidFill>
                  <a:srgbClr val="172033"/>
                </a:solidFill>
                <a:latin typeface="맑은 고딕"/>
              </a:rPr>
              <a:t>정상화</a:t>
            </a:r>
            <a:endParaRPr sz="26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무변환 검증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746" y="1453712"/>
            <a:ext cx="11553768" cy="42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nb52_cell1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63" y="2135370"/>
            <a:ext cx="5456273" cy="29978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" y="5850000"/>
            <a:ext cx="1042416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F9692"/>
                </a:solidFill>
                <a:latin typeface="맑은 고딕"/>
              </a:rPr>
              <a:t>h=4 구간폭 4,090.5 → 약 1,438 수준으로 축소(2.8배) · 전체 커버리지 80.3%→90.0% 목표 정확히 도달 — 문제 해결 확인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636" y="2135370"/>
            <a:ext cx="5826470" cy="30372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583</Words>
  <Application>Microsoft Office PowerPoint</Application>
  <PresentationFormat>와이드스크린</PresentationFormat>
  <Paragraphs>100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10</cp:revision>
  <dcterms:created xsi:type="dcterms:W3CDTF">2013-01-27T09:14:16Z</dcterms:created>
  <dcterms:modified xsi:type="dcterms:W3CDTF">2026-09-14T06:16:14Z</dcterms:modified>
  <cp:category/>
</cp:coreProperties>
</file>